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Arial Bold" charset="1" panose="020B0704020202020204"/>
      <p:regular r:id="rId37"/>
    </p:embeddedFont>
    <p:embeddedFont>
      <p:font typeface="Arial Italics" charset="1" panose="020B0604020202090204"/>
      <p:regular r:id="rId38"/>
    </p:embeddedFont>
    <p:embeddedFont>
      <p:font typeface="Arial" charset="1" panose="020B0604020202020204"/>
      <p:regular r:id="rId41"/>
    </p:embeddedFont>
    <p:embeddedFont>
      <p:font typeface="Arial Bold Italics" charset="1" panose="020B0704020202090204"/>
      <p:regular r:id="rId46"/>
    </p:embeddedFont>
    <p:embeddedFont>
      <p:font typeface="Calibri (MS)" charset="1" panose="020F0502020204030204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notesMasters/notesMaster1.xml" Type="http://schemas.openxmlformats.org/officeDocument/2006/relationships/notesMaster"/><Relationship Id="rId35" Target="theme/theme2.xml" Type="http://schemas.openxmlformats.org/officeDocument/2006/relationships/theme"/><Relationship Id="rId36" Target="notesSlides/notesSlide1.xml" Type="http://schemas.openxmlformats.org/officeDocument/2006/relationships/notes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Slides/notesSlide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4.xml" Type="http://schemas.openxmlformats.org/officeDocument/2006/relationships/notesSlide"/><Relationship Id="rId43" Target="notesSlides/notesSlide5.xml" Type="http://schemas.openxmlformats.org/officeDocument/2006/relationships/notesSlide"/><Relationship Id="rId44" Target="notesSlides/notesSlide6.xml" Type="http://schemas.openxmlformats.org/officeDocument/2006/relationships/notesSlide"/><Relationship Id="rId45" Target="notesSlides/notesSlide7.xml" Type="http://schemas.openxmlformats.org/officeDocument/2006/relationships/notesSlide"/><Relationship Id="rId46" Target="fonts/font46.fntdata" Type="http://schemas.openxmlformats.org/officeDocument/2006/relationships/font"/><Relationship Id="rId47" Target="notesSlides/notesSlide8.xml" Type="http://schemas.openxmlformats.org/officeDocument/2006/relationships/notesSlide"/><Relationship Id="rId48" Target="notesSlides/notesSlide9.xml" Type="http://schemas.openxmlformats.org/officeDocument/2006/relationships/notesSlide"/><Relationship Id="rId49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notesSlides/notesSlide11.xml" Type="http://schemas.openxmlformats.org/officeDocument/2006/relationships/notesSlide"/><Relationship Id="rId52" Target="notesSlides/notesSlide12.xml" Type="http://schemas.openxmlformats.org/officeDocument/2006/relationships/notesSlide"/><Relationship Id="rId53" Target="notesSlides/notesSlide13.xml" Type="http://schemas.openxmlformats.org/officeDocument/2006/relationships/notesSlide"/><Relationship Id="rId54" Target="notesSlides/notesSlide14.xml" Type="http://schemas.openxmlformats.org/officeDocument/2006/relationships/notesSlide"/><Relationship Id="rId55" Target="notesSlides/notesSlide15.xml" Type="http://schemas.openxmlformats.org/officeDocument/2006/relationships/notesSlide"/><Relationship Id="rId56" Target="notesSlides/notesSlide16.xml" Type="http://schemas.openxmlformats.org/officeDocument/2006/relationships/notesSlide"/><Relationship Id="rId57" Target="notesSlides/notesSlide17.xml" Type="http://schemas.openxmlformats.org/officeDocument/2006/relationships/notesSlide"/><Relationship Id="rId58" Target="notesSlides/notesSlide18.xml" Type="http://schemas.openxmlformats.org/officeDocument/2006/relationships/notesSlide"/><Relationship Id="rId59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0.xml" Type="http://schemas.openxmlformats.org/officeDocument/2006/relationships/notesSlide"/><Relationship Id="rId61" Target="notesSlides/notesSlide21.xml" Type="http://schemas.openxmlformats.org/officeDocument/2006/relationships/notesSlide"/><Relationship Id="rId62" Target="notesSlides/notesSlide22.xml" Type="http://schemas.openxmlformats.org/officeDocument/2006/relationships/notesSlide"/><Relationship Id="rId63" Target="notesSlides/notesSlide23.xml" Type="http://schemas.openxmlformats.org/officeDocument/2006/relationships/notesSlide"/><Relationship Id="rId64" Target="notesSlides/notesSlide24.xml" Type="http://schemas.openxmlformats.org/officeDocument/2006/relationships/notesSlide"/><Relationship Id="rId65" Target="notesSlides/notesSlide25.xml" Type="http://schemas.openxmlformats.org/officeDocument/2006/relationships/notesSlide"/><Relationship Id="rId66" Target="notesSlides/notesSlide26.xml" Type="http://schemas.openxmlformats.org/officeDocument/2006/relationships/notesSlide"/><Relationship Id="rId67" Target="notesSlides/notesSlide27.xml" Type="http://schemas.openxmlformats.org/officeDocument/2006/relationships/notesSlide"/><Relationship Id="rId68" Target="notesSlides/notesSlide28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1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4503" y="-927097"/>
            <a:ext cx="10083803" cy="10083803"/>
            <a:chOff x="0" y="0"/>
            <a:chExt cx="13445071" cy="13445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3411199" cy="13411201"/>
            </a:xfrm>
            <a:custGeom>
              <a:avLst/>
              <a:gdLst/>
              <a:ahLst/>
              <a:cxnLst/>
              <a:rect r="r" b="b" t="t" l="l"/>
              <a:pathLst>
                <a:path h="13411201" w="13411199">
                  <a:moveTo>
                    <a:pt x="0" y="6705600"/>
                  </a:moveTo>
                  <a:cubicBezTo>
                    <a:pt x="0" y="3002153"/>
                    <a:pt x="3002153" y="0"/>
                    <a:pt x="6705600" y="0"/>
                  </a:cubicBezTo>
                  <a:cubicBezTo>
                    <a:pt x="10409047" y="0"/>
                    <a:pt x="13411199" y="3002153"/>
                    <a:pt x="13411199" y="6705600"/>
                  </a:cubicBezTo>
                  <a:cubicBezTo>
                    <a:pt x="13411199" y="10409047"/>
                    <a:pt x="10409047" y="13411201"/>
                    <a:pt x="6705600" y="13411201"/>
                  </a:cubicBezTo>
                  <a:cubicBezTo>
                    <a:pt x="3002153" y="13411201"/>
                    <a:pt x="0" y="10409047"/>
                    <a:pt x="0" y="6705600"/>
                  </a:cubicBezTo>
                  <a:close/>
                </a:path>
              </a:pathLst>
            </a:custGeom>
            <a:solidFill>
              <a:srgbClr val="A0522D">
                <a:alpha val="5882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44982" cy="13444982"/>
            </a:xfrm>
            <a:custGeom>
              <a:avLst/>
              <a:gdLst/>
              <a:ahLst/>
              <a:cxnLst/>
              <a:rect r="r" b="b" t="t" l="l"/>
              <a:pathLst>
                <a:path h="13444982" w="13444982">
                  <a:moveTo>
                    <a:pt x="0" y="6722491"/>
                  </a:moveTo>
                  <a:cubicBezTo>
                    <a:pt x="0" y="3009773"/>
                    <a:pt x="3009773" y="0"/>
                    <a:pt x="6722491" y="0"/>
                  </a:cubicBezTo>
                  <a:lnTo>
                    <a:pt x="6722491" y="16891"/>
                  </a:lnTo>
                  <a:lnTo>
                    <a:pt x="6722491" y="0"/>
                  </a:lnTo>
                  <a:cubicBezTo>
                    <a:pt x="10435210" y="0"/>
                    <a:pt x="13444982" y="3009773"/>
                    <a:pt x="13444982" y="6722491"/>
                  </a:cubicBezTo>
                  <a:cubicBezTo>
                    <a:pt x="13444982" y="10435210"/>
                    <a:pt x="10435210" y="13444982"/>
                    <a:pt x="6722491" y="13444982"/>
                  </a:cubicBezTo>
                  <a:lnTo>
                    <a:pt x="6722491" y="13428092"/>
                  </a:lnTo>
                  <a:lnTo>
                    <a:pt x="6722491" y="13444982"/>
                  </a:lnTo>
                  <a:cubicBezTo>
                    <a:pt x="3009773" y="13445110"/>
                    <a:pt x="0" y="10435336"/>
                    <a:pt x="0" y="6722491"/>
                  </a:cubicBezTo>
                  <a:lnTo>
                    <a:pt x="16891" y="6722491"/>
                  </a:lnTo>
                  <a:lnTo>
                    <a:pt x="31115" y="6731635"/>
                  </a:lnTo>
                  <a:cubicBezTo>
                    <a:pt x="27051" y="6737985"/>
                    <a:pt x="19304" y="6740779"/>
                    <a:pt x="12065" y="6738748"/>
                  </a:cubicBezTo>
                  <a:cubicBezTo>
                    <a:pt x="4826" y="6736715"/>
                    <a:pt x="0" y="6729984"/>
                    <a:pt x="0" y="6722491"/>
                  </a:cubicBezTo>
                  <a:moveTo>
                    <a:pt x="33909" y="6722491"/>
                  </a:moveTo>
                  <a:lnTo>
                    <a:pt x="16891" y="6722491"/>
                  </a:lnTo>
                  <a:lnTo>
                    <a:pt x="2667" y="6713348"/>
                  </a:lnTo>
                  <a:cubicBezTo>
                    <a:pt x="6731" y="6706998"/>
                    <a:pt x="14478" y="6704203"/>
                    <a:pt x="21717" y="6706235"/>
                  </a:cubicBezTo>
                  <a:cubicBezTo>
                    <a:pt x="28956" y="6708267"/>
                    <a:pt x="33909" y="6714998"/>
                    <a:pt x="33909" y="6722491"/>
                  </a:cubicBezTo>
                  <a:cubicBezTo>
                    <a:pt x="33909" y="10416540"/>
                    <a:pt x="3028442" y="13411200"/>
                    <a:pt x="6722491" y="13411200"/>
                  </a:cubicBezTo>
                  <a:cubicBezTo>
                    <a:pt x="10416540" y="13411200"/>
                    <a:pt x="13411200" y="10416540"/>
                    <a:pt x="13411200" y="6722491"/>
                  </a:cubicBezTo>
                  <a:lnTo>
                    <a:pt x="13428090" y="6722491"/>
                  </a:lnTo>
                  <a:lnTo>
                    <a:pt x="13411200" y="6722491"/>
                  </a:lnTo>
                  <a:cubicBezTo>
                    <a:pt x="13411200" y="3028442"/>
                    <a:pt x="10416540" y="33909"/>
                    <a:pt x="6722491" y="33909"/>
                  </a:cubicBezTo>
                  <a:lnTo>
                    <a:pt x="6722491" y="16891"/>
                  </a:lnTo>
                  <a:lnTo>
                    <a:pt x="6722491" y="33909"/>
                  </a:lnTo>
                  <a:cubicBezTo>
                    <a:pt x="3028442" y="33909"/>
                    <a:pt x="33909" y="3028442"/>
                    <a:pt x="33909" y="6722491"/>
                  </a:cubicBezTo>
                  <a:close/>
                </a:path>
              </a:pathLst>
            </a:custGeom>
            <a:solidFill>
              <a:srgbClr val="A0522D">
                <a:alpha val="5882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755897" y="6388103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8B4513">
                <a:alpha val="313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8B4513">
                <a:alpha val="313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617703" y="6388103"/>
            <a:ext cx="4597403" cy="4597403"/>
            <a:chOff x="0" y="0"/>
            <a:chExt cx="6129871" cy="6129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D4A017">
                <a:alpha val="3922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29909" cy="6129782"/>
            </a:xfrm>
            <a:custGeom>
              <a:avLst/>
              <a:gdLst/>
              <a:ahLst/>
              <a:cxnLst/>
              <a:rect r="r" b="b" t="t" l="l"/>
              <a:pathLst>
                <a:path h="6129782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D4A017">
                <a:alpha val="392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84583" y="1998983"/>
            <a:ext cx="244859" cy="5877563"/>
            <a:chOff x="0" y="0"/>
            <a:chExt cx="326479" cy="7836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92608" cy="7802881"/>
            </a:xfrm>
            <a:custGeom>
              <a:avLst/>
              <a:gdLst/>
              <a:ahLst/>
              <a:cxnLst/>
              <a:rect r="r" b="b" t="t" l="l"/>
              <a:pathLst>
                <a:path h="7802881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6390" cy="7836662"/>
            </a:xfrm>
            <a:custGeom>
              <a:avLst/>
              <a:gdLst/>
              <a:ahLst/>
              <a:cxnLst/>
              <a:rect r="r" b="b" t="t" l="l"/>
              <a:pathLst>
                <a:path h="783666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7819772"/>
                  </a:lnTo>
                  <a:cubicBezTo>
                    <a:pt x="326390" y="7829169"/>
                    <a:pt x="318770" y="7836662"/>
                    <a:pt x="309499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309499" y="7802880"/>
                  </a:lnTo>
                  <a:lnTo>
                    <a:pt x="309499" y="7819772"/>
                  </a:lnTo>
                  <a:lnTo>
                    <a:pt x="292608" y="7819772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5920" y="1828800"/>
            <a:ext cx="15544800" cy="1645920"/>
            <a:chOff x="0" y="0"/>
            <a:chExt cx="2072640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72640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b="true" sz="8000" spc="4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OVERCONFIDENCE BIAS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45920" y="3474720"/>
            <a:ext cx="15544800" cy="1280160"/>
            <a:chOff x="0" y="0"/>
            <a:chExt cx="20726400" cy="1706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26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07264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 spc="199">
                  <a:solidFill>
                    <a:srgbClr val="D4A01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 INVESTMENT DECISIONS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33223" y="5016503"/>
            <a:ext cx="9169403" cy="98555"/>
            <a:chOff x="0" y="0"/>
            <a:chExt cx="12225871" cy="1314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2192000" cy="97536"/>
            </a:xfrm>
            <a:custGeom>
              <a:avLst/>
              <a:gdLst/>
              <a:ahLst/>
              <a:cxnLst/>
              <a:rect r="r" b="b" t="t" l="l"/>
              <a:pathLst>
                <a:path h="97536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225782" cy="131320"/>
            </a:xfrm>
            <a:custGeom>
              <a:avLst/>
              <a:gdLst/>
              <a:ahLst/>
              <a:cxnLst/>
              <a:rect r="r" b="b" t="t" l="l"/>
              <a:pathLst>
                <a:path h="131320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14427"/>
                  </a:lnTo>
                  <a:cubicBezTo>
                    <a:pt x="12225782" y="123825"/>
                    <a:pt x="12218162" y="131318"/>
                    <a:pt x="122088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2208891" y="97536"/>
                  </a:lnTo>
                  <a:lnTo>
                    <a:pt x="12208891" y="114427"/>
                  </a:lnTo>
                  <a:lnTo>
                    <a:pt x="12192000" y="114427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45920" y="5303520"/>
            <a:ext cx="13716000" cy="822960"/>
            <a:chOff x="0" y="0"/>
            <a:chExt cx="1828800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8288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D4A8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How Cognitive Biases Derail Rational Investment Strategy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6576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AGENDA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1724663"/>
            <a:ext cx="8255003" cy="1634747"/>
            <a:chOff x="0" y="0"/>
            <a:chExt cx="11006671" cy="21796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162683"/>
                  </a:lnTo>
                  <a:cubicBezTo>
                    <a:pt x="11006582" y="2172081"/>
                    <a:pt x="10998962" y="2179574"/>
                    <a:pt x="1098969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0989691" y="2145792"/>
                  </a:lnTo>
                  <a:lnTo>
                    <a:pt x="10989691" y="2162683"/>
                  </a:lnTo>
                  <a:lnTo>
                    <a:pt x="10972800" y="21626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1724663"/>
            <a:ext cx="1031243" cy="1634747"/>
            <a:chOff x="0" y="0"/>
            <a:chExt cx="1374991" cy="21796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49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162683"/>
                  </a:lnTo>
                  <a:cubicBezTo>
                    <a:pt x="1374902" y="2172081"/>
                    <a:pt x="1367282" y="2179574"/>
                    <a:pt x="135801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358011" y="2145792"/>
                  </a:lnTo>
                  <a:lnTo>
                    <a:pt x="1358011" y="2162683"/>
                  </a:lnTo>
                  <a:lnTo>
                    <a:pt x="1341120" y="216268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737360"/>
            <a:ext cx="1005840" cy="1609344"/>
            <a:chOff x="0" y="0"/>
            <a:chExt cx="1341120" cy="2145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341120" cy="2164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20240" y="1828800"/>
            <a:ext cx="6858000" cy="768096"/>
            <a:chOff x="0" y="0"/>
            <a:chExt cx="9144000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144000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 to Overconfidence Bias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20240" y="2578608"/>
            <a:ext cx="6858000" cy="548640"/>
            <a:chOff x="0" y="0"/>
            <a:chExt cx="91440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9144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Origins and psychological foundations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8823" y="3644903"/>
            <a:ext cx="8255003" cy="1634747"/>
            <a:chOff x="0" y="0"/>
            <a:chExt cx="11006671" cy="21796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9728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0658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162683"/>
                  </a:lnTo>
                  <a:cubicBezTo>
                    <a:pt x="11006582" y="2172081"/>
                    <a:pt x="10998962" y="2179574"/>
                    <a:pt x="1098969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0989691" y="2145792"/>
                  </a:lnTo>
                  <a:lnTo>
                    <a:pt x="10989691" y="2162683"/>
                  </a:lnTo>
                  <a:lnTo>
                    <a:pt x="10972800" y="21626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18823" y="3644903"/>
            <a:ext cx="1031243" cy="1634747"/>
            <a:chOff x="0" y="0"/>
            <a:chExt cx="1374991" cy="21796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749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162683"/>
                  </a:lnTo>
                  <a:cubicBezTo>
                    <a:pt x="1374902" y="2172081"/>
                    <a:pt x="1367282" y="2179574"/>
                    <a:pt x="135801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358011" y="2145792"/>
                  </a:lnTo>
                  <a:lnTo>
                    <a:pt x="1358011" y="2162683"/>
                  </a:lnTo>
                  <a:lnTo>
                    <a:pt x="1341120" y="216268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31520" y="3657600"/>
            <a:ext cx="1005840" cy="1609344"/>
            <a:chOff x="0" y="0"/>
            <a:chExt cx="1341120" cy="21457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341120" cy="2164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20240" y="3749040"/>
            <a:ext cx="6858000" cy="768096"/>
            <a:chOff x="0" y="0"/>
            <a:chExt cx="914400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9144000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Definition &amp; Types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920240" y="4498848"/>
            <a:ext cx="6858000" cy="548640"/>
            <a:chOff x="0" y="0"/>
            <a:chExt cx="91440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9144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Overestimation, overplacement, overprecision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8823" y="5565143"/>
            <a:ext cx="8255003" cy="1634747"/>
            <a:chOff x="0" y="0"/>
            <a:chExt cx="11006671" cy="21796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9728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00658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162683"/>
                  </a:lnTo>
                  <a:cubicBezTo>
                    <a:pt x="11006582" y="2172081"/>
                    <a:pt x="10998962" y="2179574"/>
                    <a:pt x="1098969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0989691" y="2145792"/>
                  </a:lnTo>
                  <a:lnTo>
                    <a:pt x="10989691" y="2162683"/>
                  </a:lnTo>
                  <a:lnTo>
                    <a:pt x="10972800" y="21626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18823" y="5565143"/>
            <a:ext cx="1031243" cy="1634747"/>
            <a:chOff x="0" y="0"/>
            <a:chExt cx="1374991" cy="217966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749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162683"/>
                  </a:lnTo>
                  <a:cubicBezTo>
                    <a:pt x="1374902" y="2172081"/>
                    <a:pt x="1367282" y="2179574"/>
                    <a:pt x="135801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358011" y="2145792"/>
                  </a:lnTo>
                  <a:lnTo>
                    <a:pt x="1358011" y="2162683"/>
                  </a:lnTo>
                  <a:lnTo>
                    <a:pt x="1341120" y="216268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31520" y="5577840"/>
            <a:ext cx="1005840" cy="1609344"/>
            <a:chOff x="0" y="0"/>
            <a:chExt cx="1341120" cy="21457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341120" cy="2164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920240" y="5669280"/>
            <a:ext cx="6858000" cy="768096"/>
            <a:chOff x="0" y="0"/>
            <a:chExt cx="914400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9144000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 on Investment Decisions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920240" y="6419088"/>
            <a:ext cx="6858000" cy="548640"/>
            <a:chOff x="0" y="0"/>
            <a:chExt cx="91440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9144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Portfolio performance consequences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18823" y="7485383"/>
            <a:ext cx="8255003" cy="1634747"/>
            <a:chOff x="0" y="0"/>
            <a:chExt cx="11006671" cy="21796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09728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00658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162683"/>
                  </a:lnTo>
                  <a:cubicBezTo>
                    <a:pt x="11006582" y="2172081"/>
                    <a:pt x="10998962" y="2179574"/>
                    <a:pt x="1098969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0989691" y="2145792"/>
                  </a:lnTo>
                  <a:lnTo>
                    <a:pt x="10989691" y="2162683"/>
                  </a:lnTo>
                  <a:lnTo>
                    <a:pt x="10972800" y="21626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18823" y="7485383"/>
            <a:ext cx="1031243" cy="1634747"/>
            <a:chOff x="0" y="0"/>
            <a:chExt cx="1374991" cy="21796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749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162683"/>
                  </a:lnTo>
                  <a:cubicBezTo>
                    <a:pt x="1374902" y="2172081"/>
                    <a:pt x="1367282" y="2179574"/>
                    <a:pt x="135801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358011" y="2145792"/>
                  </a:lnTo>
                  <a:lnTo>
                    <a:pt x="1358011" y="2162683"/>
                  </a:lnTo>
                  <a:lnTo>
                    <a:pt x="1341120" y="216268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31520" y="7498080"/>
            <a:ext cx="1005840" cy="1609344"/>
            <a:chOff x="0" y="0"/>
            <a:chExt cx="1341120" cy="21457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1341120" cy="2164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920240" y="7589520"/>
            <a:ext cx="6858000" cy="768096"/>
            <a:chOff x="0" y="0"/>
            <a:chExt cx="9144000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9144000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Real-World Case Studies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920240" y="8339328"/>
            <a:ext cx="6858000" cy="548640"/>
            <a:chOff x="0" y="0"/>
            <a:chExt cx="91440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9144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Famous failures driven by overconfidence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679943" y="1724663"/>
            <a:ext cx="8255003" cy="1634747"/>
            <a:chOff x="0" y="0"/>
            <a:chExt cx="11006671" cy="217966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9728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00658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162683"/>
                  </a:lnTo>
                  <a:cubicBezTo>
                    <a:pt x="11006582" y="2172081"/>
                    <a:pt x="10998962" y="2179574"/>
                    <a:pt x="1098969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0989691" y="2145792"/>
                  </a:lnTo>
                  <a:lnTo>
                    <a:pt x="10989691" y="2162683"/>
                  </a:lnTo>
                  <a:lnTo>
                    <a:pt x="10972800" y="21626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79943" y="1724663"/>
            <a:ext cx="1031243" cy="1634747"/>
            <a:chOff x="0" y="0"/>
            <a:chExt cx="1374991" cy="217966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749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162683"/>
                  </a:lnTo>
                  <a:cubicBezTo>
                    <a:pt x="1374902" y="2172081"/>
                    <a:pt x="1367282" y="2179574"/>
                    <a:pt x="135801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358011" y="2145792"/>
                  </a:lnTo>
                  <a:lnTo>
                    <a:pt x="1358011" y="2162683"/>
                  </a:lnTo>
                  <a:lnTo>
                    <a:pt x="1341120" y="216268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92640" y="1737360"/>
            <a:ext cx="1005840" cy="1609344"/>
            <a:chOff x="0" y="0"/>
            <a:chExt cx="1341120" cy="21457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1341120" cy="2164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881360" y="1828800"/>
            <a:ext cx="6858000" cy="768096"/>
            <a:chOff x="0" y="0"/>
            <a:chExt cx="9144000" cy="102412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4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9144000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Analysis &amp; Evidence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881360" y="2578608"/>
            <a:ext cx="6858000" cy="548640"/>
            <a:chOff x="0" y="0"/>
            <a:chExt cx="914400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9144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Quantitative research and market data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679943" y="3644903"/>
            <a:ext cx="8255003" cy="1634747"/>
            <a:chOff x="0" y="0"/>
            <a:chExt cx="11006671" cy="217966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09728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00658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162683"/>
                  </a:lnTo>
                  <a:cubicBezTo>
                    <a:pt x="11006582" y="2172081"/>
                    <a:pt x="10998962" y="2179574"/>
                    <a:pt x="1098969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0989691" y="2145792"/>
                  </a:lnTo>
                  <a:lnTo>
                    <a:pt x="10989691" y="2162683"/>
                  </a:lnTo>
                  <a:lnTo>
                    <a:pt x="10972800" y="21626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679943" y="3644903"/>
            <a:ext cx="1031243" cy="1634747"/>
            <a:chOff x="0" y="0"/>
            <a:chExt cx="1374991" cy="217966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3749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162683"/>
                  </a:lnTo>
                  <a:cubicBezTo>
                    <a:pt x="1374902" y="2172081"/>
                    <a:pt x="1367282" y="2179574"/>
                    <a:pt x="135801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358011" y="2145792"/>
                  </a:lnTo>
                  <a:lnTo>
                    <a:pt x="1358011" y="2162683"/>
                  </a:lnTo>
                  <a:lnTo>
                    <a:pt x="1341120" y="216268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92640" y="3657600"/>
            <a:ext cx="1005840" cy="1609344"/>
            <a:chOff x="0" y="0"/>
            <a:chExt cx="1341120" cy="21457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1341120" cy="2164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881360" y="3749040"/>
            <a:ext cx="6858000" cy="768096"/>
            <a:chOff x="0" y="0"/>
            <a:chExt cx="9144000" cy="102412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14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9144000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Mitigation Strategies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881360" y="4498848"/>
            <a:ext cx="6858000" cy="548640"/>
            <a:chOff x="0" y="0"/>
            <a:chExt cx="9144000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9144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Practical frameworks to reduce bias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679943" y="5565143"/>
            <a:ext cx="8255003" cy="1634747"/>
            <a:chOff x="0" y="0"/>
            <a:chExt cx="11006671" cy="217966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09728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00658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162683"/>
                  </a:lnTo>
                  <a:cubicBezTo>
                    <a:pt x="11006582" y="2172081"/>
                    <a:pt x="10998962" y="2179574"/>
                    <a:pt x="1098969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0989691" y="2145792"/>
                  </a:lnTo>
                  <a:lnTo>
                    <a:pt x="10989691" y="2162683"/>
                  </a:lnTo>
                  <a:lnTo>
                    <a:pt x="10972800" y="21626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679943" y="5565143"/>
            <a:ext cx="1031243" cy="1634747"/>
            <a:chOff x="0" y="0"/>
            <a:chExt cx="1374991" cy="217966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3749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162683"/>
                  </a:lnTo>
                  <a:cubicBezTo>
                    <a:pt x="1374902" y="2172081"/>
                    <a:pt x="1367282" y="2179574"/>
                    <a:pt x="135801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358011" y="2145792"/>
                  </a:lnTo>
                  <a:lnTo>
                    <a:pt x="1358011" y="2162683"/>
                  </a:lnTo>
                  <a:lnTo>
                    <a:pt x="1341120" y="216268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692640" y="5577840"/>
            <a:ext cx="1005840" cy="1609344"/>
            <a:chOff x="0" y="0"/>
            <a:chExt cx="1341120" cy="21457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1341120" cy="2164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881360" y="5669280"/>
            <a:ext cx="6858000" cy="768096"/>
            <a:chOff x="0" y="0"/>
            <a:chExt cx="9144000" cy="102412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14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9050"/>
              <a:ext cx="9144000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Conclusions &amp; Recommendations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881360" y="6419088"/>
            <a:ext cx="6858000" cy="548640"/>
            <a:chOff x="0" y="0"/>
            <a:chExt cx="9144000" cy="7315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9144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Key takeaways for investors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1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-18414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841497" y="5473703"/>
            <a:ext cx="5511803" cy="5511803"/>
            <a:chOff x="0" y="0"/>
            <a:chExt cx="7349071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16103" y="4010663"/>
            <a:ext cx="244859" cy="2219963"/>
            <a:chOff x="0" y="0"/>
            <a:chExt cx="326479" cy="2959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926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6390" cy="2959862"/>
            </a:xfrm>
            <a:custGeom>
              <a:avLst/>
              <a:gdLst/>
              <a:ahLst/>
              <a:cxnLst/>
              <a:rect r="r" b="b" t="t" l="l"/>
              <a:pathLst>
                <a:path h="295986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2942971"/>
                  </a:lnTo>
                  <a:cubicBezTo>
                    <a:pt x="326390" y="2952369"/>
                    <a:pt x="318770" y="2959862"/>
                    <a:pt x="30949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309499" y="2926080"/>
                  </a:lnTo>
                  <a:lnTo>
                    <a:pt x="309499" y="2942971"/>
                  </a:lnTo>
                  <a:lnTo>
                    <a:pt x="292608" y="29429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86000" y="3840480"/>
            <a:ext cx="13716000" cy="1280160"/>
            <a:chOff x="0" y="0"/>
            <a:chExt cx="182880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 to</a:t>
              </a:r>
            </a:p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Overconfidence Bias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86000" y="5303520"/>
            <a:ext cx="13716000" cy="914400"/>
            <a:chOff x="0" y="0"/>
            <a:chExt cx="182880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4A017"/>
                  </a:solidFill>
                  <a:latin typeface="Arial"/>
                  <a:ea typeface="Arial"/>
                  <a:cs typeface="Arial"/>
                  <a:sym typeface="Arial"/>
                </a:rPr>
                <a:t>Understanding the psychology behind investor overconfidence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1280160"/>
            <a:ext cx="3657600" cy="2194560"/>
            <a:chOff x="0" y="0"/>
            <a:chExt cx="4876800" cy="292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487680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0"/>
                </a:lnSpc>
              </a:pPr>
              <a:r>
                <a:rPr lang="en-US" sz="16000" b="true">
                  <a:solidFill>
                    <a:srgbClr val="4A20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is Behavioral Finance?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1541783"/>
            <a:ext cx="9718043" cy="6426203"/>
            <a:chOff x="0" y="0"/>
            <a:chExt cx="12957391" cy="85682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292352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5E6D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57302" cy="8568182"/>
            </a:xfrm>
            <a:custGeom>
              <a:avLst/>
              <a:gdLst/>
              <a:ahLst/>
              <a:cxnLst/>
              <a:rect r="r" b="b" t="t" l="l"/>
              <a:pathLst>
                <a:path h="8568182" w="12957302">
                  <a:moveTo>
                    <a:pt x="16891" y="0"/>
                  </a:moveTo>
                  <a:lnTo>
                    <a:pt x="12940411" y="0"/>
                  </a:lnTo>
                  <a:cubicBezTo>
                    <a:pt x="12949809" y="0"/>
                    <a:pt x="12957302" y="7620"/>
                    <a:pt x="12957302" y="16891"/>
                  </a:cubicBezTo>
                  <a:lnTo>
                    <a:pt x="12957302" y="8551291"/>
                  </a:lnTo>
                  <a:cubicBezTo>
                    <a:pt x="12957302" y="8560689"/>
                    <a:pt x="12949682" y="8568182"/>
                    <a:pt x="12940411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12940411" y="8534400"/>
                  </a:lnTo>
                  <a:lnTo>
                    <a:pt x="12940411" y="8551291"/>
                  </a:lnTo>
                  <a:lnTo>
                    <a:pt x="12923520" y="8551291"/>
                  </a:lnTo>
                  <a:lnTo>
                    <a:pt x="12923520" y="16891"/>
                  </a:lnTo>
                  <a:lnTo>
                    <a:pt x="12940411" y="16891"/>
                  </a:lnTo>
                  <a:lnTo>
                    <a:pt x="12940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D5B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88720" y="1773555"/>
            <a:ext cx="877824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Traditional finance assumes that investors are perfectly rational — always making optimal decisions. Behavioral finance challenges this by studying how psychological factors and cognitive biases lead to systematic errors.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84583" y="4193543"/>
            <a:ext cx="135131" cy="1305563"/>
            <a:chOff x="0" y="0"/>
            <a:chExt cx="180175" cy="17407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146304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0086" cy="1740662"/>
            </a:xfrm>
            <a:custGeom>
              <a:avLst/>
              <a:gdLst/>
              <a:ahLst/>
              <a:cxnLst/>
              <a:rect r="r" b="b" t="t" l="l"/>
              <a:pathLst>
                <a:path h="17406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23771"/>
                  </a:lnTo>
                  <a:cubicBezTo>
                    <a:pt x="180086" y="1733169"/>
                    <a:pt x="172466" y="1740662"/>
                    <a:pt x="163195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163195" y="1706880"/>
                  </a:lnTo>
                  <a:lnTo>
                    <a:pt x="163195" y="1723771"/>
                  </a:lnTo>
                  <a:lnTo>
                    <a:pt x="146304" y="17237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71600" y="4206240"/>
            <a:ext cx="8778240" cy="914400"/>
            <a:chOff x="0" y="0"/>
            <a:chExt cx="1170432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7043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424242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"People are not irrational — they are predictably irrational."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1600" y="4937760"/>
            <a:ext cx="8778240" cy="365760"/>
            <a:chOff x="0" y="0"/>
            <a:chExt cx="11704320" cy="487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704320" cy="487680"/>
            </a:xfrm>
            <a:custGeom>
              <a:avLst/>
              <a:gdLst/>
              <a:ahLst/>
              <a:cxnLst/>
              <a:rect r="r" b="b" t="t" l="l"/>
              <a:pathLst>
                <a:path h="48768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170432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75757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 Daniel Kahneman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84583" y="6022343"/>
            <a:ext cx="135131" cy="1305563"/>
            <a:chOff x="0" y="0"/>
            <a:chExt cx="180175" cy="17407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46304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0086" cy="1740662"/>
            </a:xfrm>
            <a:custGeom>
              <a:avLst/>
              <a:gdLst/>
              <a:ahLst/>
              <a:cxnLst/>
              <a:rect r="r" b="b" t="t" l="l"/>
              <a:pathLst>
                <a:path h="17406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23771"/>
                  </a:lnTo>
                  <a:cubicBezTo>
                    <a:pt x="180086" y="1733169"/>
                    <a:pt x="172466" y="1740662"/>
                    <a:pt x="163195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163195" y="1706880"/>
                  </a:lnTo>
                  <a:lnTo>
                    <a:pt x="163195" y="1723771"/>
                  </a:lnTo>
                  <a:lnTo>
                    <a:pt x="146304" y="17237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71600" y="6035040"/>
            <a:ext cx="8778240" cy="914400"/>
            <a:chOff x="0" y="0"/>
            <a:chExt cx="1170432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17043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424242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"The purely economic man is indeed close to being a social moron."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1600" y="6766560"/>
            <a:ext cx="8778240" cy="365760"/>
            <a:chOff x="0" y="0"/>
            <a:chExt cx="11704320" cy="487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704320" cy="487680"/>
            </a:xfrm>
            <a:custGeom>
              <a:avLst/>
              <a:gdLst/>
              <a:ahLst/>
              <a:cxnLst/>
              <a:rect r="r" b="b" t="t" l="l"/>
              <a:pathLst>
                <a:path h="48768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170432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75757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 Richard Thaler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60103" y="1541783"/>
            <a:ext cx="6609083" cy="1945643"/>
            <a:chOff x="0" y="0"/>
            <a:chExt cx="8812111" cy="25941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87782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812022" cy="2594102"/>
            </a:xfrm>
            <a:custGeom>
              <a:avLst/>
              <a:gdLst/>
              <a:ahLst/>
              <a:cxnLst/>
              <a:rect r="r" b="b" t="t" l="l"/>
              <a:pathLst>
                <a:path h="2594102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2577211"/>
                  </a:lnTo>
                  <a:cubicBezTo>
                    <a:pt x="8812022" y="2586609"/>
                    <a:pt x="8804402" y="2594102"/>
                    <a:pt x="879513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8795131" y="2560320"/>
                  </a:lnTo>
                  <a:lnTo>
                    <a:pt x="8795131" y="2577211"/>
                  </a:lnTo>
                  <a:lnTo>
                    <a:pt x="8778240" y="257721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960103" y="1541783"/>
            <a:ext cx="208283" cy="1945643"/>
            <a:chOff x="0" y="0"/>
            <a:chExt cx="277711" cy="25941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2438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7622" cy="2594102"/>
            </a:xfrm>
            <a:custGeom>
              <a:avLst/>
              <a:gdLst/>
              <a:ahLst/>
              <a:cxnLst/>
              <a:rect r="r" b="b" t="t" l="l"/>
              <a:pathLst>
                <a:path h="259410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2577211"/>
                  </a:lnTo>
                  <a:cubicBezTo>
                    <a:pt x="277622" y="2586609"/>
                    <a:pt x="270002" y="2594102"/>
                    <a:pt x="26073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60731" y="2560320"/>
                  </a:lnTo>
                  <a:lnTo>
                    <a:pt x="260731" y="2577211"/>
                  </a:lnTo>
                  <a:lnTo>
                    <a:pt x="243840" y="257721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338560" y="1591056"/>
            <a:ext cx="2194560" cy="1188720"/>
            <a:chOff x="0" y="0"/>
            <a:chExt cx="2926080" cy="1584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260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292608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80%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350240" y="1645920"/>
            <a:ext cx="4023360" cy="1280160"/>
            <a:chOff x="0" y="0"/>
            <a:chExt cx="5364480" cy="17068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644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536448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of investors believe they're above average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960103" y="3736343"/>
            <a:ext cx="6609083" cy="1945643"/>
            <a:chOff x="0" y="0"/>
            <a:chExt cx="8812111" cy="25941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87782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812022" cy="2594102"/>
            </a:xfrm>
            <a:custGeom>
              <a:avLst/>
              <a:gdLst/>
              <a:ahLst/>
              <a:cxnLst/>
              <a:rect r="r" b="b" t="t" l="l"/>
              <a:pathLst>
                <a:path h="2594102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2577211"/>
                  </a:lnTo>
                  <a:cubicBezTo>
                    <a:pt x="8812022" y="2586609"/>
                    <a:pt x="8804402" y="2594102"/>
                    <a:pt x="879513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8795131" y="2560320"/>
                  </a:lnTo>
                  <a:lnTo>
                    <a:pt x="8795131" y="2577211"/>
                  </a:lnTo>
                  <a:lnTo>
                    <a:pt x="8778240" y="257721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960103" y="3736343"/>
            <a:ext cx="208283" cy="1945643"/>
            <a:chOff x="0" y="0"/>
            <a:chExt cx="277711" cy="259419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2438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77622" cy="2594102"/>
            </a:xfrm>
            <a:custGeom>
              <a:avLst/>
              <a:gdLst/>
              <a:ahLst/>
              <a:cxnLst/>
              <a:rect r="r" b="b" t="t" l="l"/>
              <a:pathLst>
                <a:path h="259410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2577211"/>
                  </a:lnTo>
                  <a:cubicBezTo>
                    <a:pt x="277622" y="2586609"/>
                    <a:pt x="270002" y="2594102"/>
                    <a:pt x="26073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60731" y="2560320"/>
                  </a:lnTo>
                  <a:lnTo>
                    <a:pt x="260731" y="2577211"/>
                  </a:lnTo>
                  <a:lnTo>
                    <a:pt x="243840" y="257721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338560" y="3785616"/>
            <a:ext cx="2194560" cy="1188720"/>
            <a:chOff x="0" y="0"/>
            <a:chExt cx="2926080" cy="1584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260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92608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D4A01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74%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350240" y="3840480"/>
            <a:ext cx="4023360" cy="1280160"/>
            <a:chOff x="0" y="0"/>
            <a:chExt cx="5364480" cy="17068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644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536448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overestimate their stock-picking ability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960103" y="5930903"/>
            <a:ext cx="6609083" cy="1945643"/>
            <a:chOff x="0" y="0"/>
            <a:chExt cx="8812111" cy="259419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87782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812022" cy="2594102"/>
            </a:xfrm>
            <a:custGeom>
              <a:avLst/>
              <a:gdLst/>
              <a:ahLst/>
              <a:cxnLst/>
              <a:rect r="r" b="b" t="t" l="l"/>
              <a:pathLst>
                <a:path h="2594102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2577211"/>
                  </a:lnTo>
                  <a:cubicBezTo>
                    <a:pt x="8812022" y="2586609"/>
                    <a:pt x="8804402" y="2594102"/>
                    <a:pt x="879513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8795131" y="2560320"/>
                  </a:lnTo>
                  <a:lnTo>
                    <a:pt x="8795131" y="2577211"/>
                  </a:lnTo>
                  <a:lnTo>
                    <a:pt x="8778240" y="257721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960103" y="5930903"/>
            <a:ext cx="208283" cy="1945643"/>
            <a:chOff x="0" y="0"/>
            <a:chExt cx="277711" cy="259419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2438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7622" cy="2594102"/>
            </a:xfrm>
            <a:custGeom>
              <a:avLst/>
              <a:gdLst/>
              <a:ahLst/>
              <a:cxnLst/>
              <a:rect r="r" b="b" t="t" l="l"/>
              <a:pathLst>
                <a:path h="259410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2577211"/>
                  </a:lnTo>
                  <a:cubicBezTo>
                    <a:pt x="277622" y="2586609"/>
                    <a:pt x="270002" y="2594102"/>
                    <a:pt x="26073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60731" y="2560320"/>
                  </a:lnTo>
                  <a:lnTo>
                    <a:pt x="260731" y="2577211"/>
                  </a:lnTo>
                  <a:lnTo>
                    <a:pt x="243840" y="257721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338560" y="5980176"/>
            <a:ext cx="2194560" cy="1188720"/>
            <a:chOff x="0" y="0"/>
            <a:chExt cx="2926080" cy="15849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9260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292608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2×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350240" y="6035040"/>
            <a:ext cx="4023360" cy="1280160"/>
            <a:chOff x="0" y="0"/>
            <a:chExt cx="5364480" cy="17068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644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536448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more trading due to overconfidence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31520" y="8321040"/>
            <a:ext cx="16824960" cy="1097280"/>
            <a:chOff x="0" y="0"/>
            <a:chExt cx="22433280" cy="14630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6B3310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22433280" cy="1482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Insight: Overconfidence is the most documented bias in financial markets and one of the most costly for individual investors.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Psychology Behind Overconfidence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1633223"/>
            <a:ext cx="7980683" cy="3408683"/>
            <a:chOff x="0" y="0"/>
            <a:chExt cx="10640911" cy="45449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60704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4082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4527931"/>
                  </a:lnTo>
                  <a:cubicBezTo>
                    <a:pt x="10640822" y="4537329"/>
                    <a:pt x="10633202" y="4544822"/>
                    <a:pt x="1062393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623931" y="4511040"/>
                  </a:lnTo>
                  <a:lnTo>
                    <a:pt x="10623931" y="4527931"/>
                  </a:lnTo>
                  <a:lnTo>
                    <a:pt x="10607040" y="45279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1633223"/>
            <a:ext cx="7980683" cy="665483"/>
            <a:chOff x="0" y="0"/>
            <a:chExt cx="10640911" cy="8873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607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40822" cy="887224"/>
            </a:xfrm>
            <a:custGeom>
              <a:avLst/>
              <a:gdLst/>
              <a:ahLst/>
              <a:cxnLst/>
              <a:rect r="r" b="b" t="t" l="l"/>
              <a:pathLst>
                <a:path h="887224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870331"/>
                  </a:lnTo>
                  <a:cubicBezTo>
                    <a:pt x="10640822" y="879729"/>
                    <a:pt x="10633202" y="887222"/>
                    <a:pt x="106239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0623931" y="853440"/>
                  </a:lnTo>
                  <a:lnTo>
                    <a:pt x="10623931" y="870331"/>
                  </a:lnTo>
                  <a:lnTo>
                    <a:pt x="10607040" y="8703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700784"/>
            <a:ext cx="7498080" cy="548640"/>
            <a:chOff x="0" y="0"/>
            <a:chExt cx="999744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9974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🧠  Illusion of Knowledge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97280" y="2450211"/>
            <a:ext cx="713232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More information doesn't always improve accuracy — investors believe knowing more makes them better predictors.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14183" y="1633223"/>
            <a:ext cx="7980683" cy="3408683"/>
            <a:chOff x="0" y="0"/>
            <a:chExt cx="10640911" cy="45449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060704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4082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4527931"/>
                  </a:lnTo>
                  <a:cubicBezTo>
                    <a:pt x="10640822" y="4537329"/>
                    <a:pt x="10633202" y="4544822"/>
                    <a:pt x="1062393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623931" y="4511040"/>
                  </a:lnTo>
                  <a:lnTo>
                    <a:pt x="10623931" y="4527931"/>
                  </a:lnTo>
                  <a:lnTo>
                    <a:pt x="10607040" y="45279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14183" y="1633223"/>
            <a:ext cx="7980683" cy="665483"/>
            <a:chOff x="0" y="0"/>
            <a:chExt cx="10640911" cy="8873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0607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40822" cy="887224"/>
            </a:xfrm>
            <a:custGeom>
              <a:avLst/>
              <a:gdLst/>
              <a:ahLst/>
              <a:cxnLst/>
              <a:rect r="r" b="b" t="t" l="l"/>
              <a:pathLst>
                <a:path h="887224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870331"/>
                  </a:lnTo>
                  <a:cubicBezTo>
                    <a:pt x="10640822" y="879729"/>
                    <a:pt x="10633202" y="887222"/>
                    <a:pt x="106239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0623931" y="853440"/>
                  </a:lnTo>
                  <a:lnTo>
                    <a:pt x="10623931" y="870331"/>
                  </a:lnTo>
                  <a:lnTo>
                    <a:pt x="10607040" y="8703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509760" y="1700784"/>
            <a:ext cx="7498080" cy="548640"/>
            <a:chOff x="0" y="0"/>
            <a:chExt cx="999744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9974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🎯  Illusion of Control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692640" y="2450211"/>
            <a:ext cx="713232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Investors believe they can influence market outcomes through skill, analysis, or timing.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18823" y="5473703"/>
            <a:ext cx="7980683" cy="3408683"/>
            <a:chOff x="0" y="0"/>
            <a:chExt cx="10640911" cy="45449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060704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4082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4527931"/>
                  </a:lnTo>
                  <a:cubicBezTo>
                    <a:pt x="10640822" y="4537329"/>
                    <a:pt x="10633202" y="4544822"/>
                    <a:pt x="1062393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623931" y="4511040"/>
                  </a:lnTo>
                  <a:lnTo>
                    <a:pt x="10623931" y="4527931"/>
                  </a:lnTo>
                  <a:lnTo>
                    <a:pt x="10607040" y="45279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18823" y="5473703"/>
            <a:ext cx="7980683" cy="665483"/>
            <a:chOff x="0" y="0"/>
            <a:chExt cx="10640911" cy="8873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0607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40822" cy="887224"/>
            </a:xfrm>
            <a:custGeom>
              <a:avLst/>
              <a:gdLst/>
              <a:ahLst/>
              <a:cxnLst/>
              <a:rect r="r" b="b" t="t" l="l"/>
              <a:pathLst>
                <a:path h="887224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870331"/>
                  </a:lnTo>
                  <a:cubicBezTo>
                    <a:pt x="10640822" y="879729"/>
                    <a:pt x="10633202" y="887222"/>
                    <a:pt x="106239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0623931" y="853440"/>
                  </a:lnTo>
                  <a:lnTo>
                    <a:pt x="10623931" y="870331"/>
                  </a:lnTo>
                  <a:lnTo>
                    <a:pt x="10607040" y="8703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" y="5541264"/>
            <a:ext cx="7498080" cy="548640"/>
            <a:chOff x="0" y="0"/>
            <a:chExt cx="999744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99974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📈  Self-Attribution Bias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97280" y="6290691"/>
            <a:ext cx="713232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Successes are attributed to skill; failures are blamed on external factors like market conditions.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14183" y="5473703"/>
            <a:ext cx="7980683" cy="3408683"/>
            <a:chOff x="0" y="0"/>
            <a:chExt cx="10640911" cy="45449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60704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64082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4527931"/>
                  </a:lnTo>
                  <a:cubicBezTo>
                    <a:pt x="10640822" y="4537329"/>
                    <a:pt x="10633202" y="4544822"/>
                    <a:pt x="1062393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623931" y="4511040"/>
                  </a:lnTo>
                  <a:lnTo>
                    <a:pt x="10623931" y="4527931"/>
                  </a:lnTo>
                  <a:lnTo>
                    <a:pt x="10607040" y="45279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14183" y="5473703"/>
            <a:ext cx="7980683" cy="665483"/>
            <a:chOff x="0" y="0"/>
            <a:chExt cx="10640911" cy="8873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607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6B331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40822" cy="887224"/>
            </a:xfrm>
            <a:custGeom>
              <a:avLst/>
              <a:gdLst/>
              <a:ahLst/>
              <a:cxnLst/>
              <a:rect r="r" b="b" t="t" l="l"/>
              <a:pathLst>
                <a:path h="887224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870331"/>
                  </a:lnTo>
                  <a:cubicBezTo>
                    <a:pt x="10640822" y="879729"/>
                    <a:pt x="10633202" y="887222"/>
                    <a:pt x="106239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0623931" y="853440"/>
                  </a:lnTo>
                  <a:lnTo>
                    <a:pt x="10623931" y="870331"/>
                  </a:lnTo>
                  <a:lnTo>
                    <a:pt x="10607040" y="8703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31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09760" y="5541264"/>
            <a:ext cx="7498080" cy="548640"/>
            <a:chOff x="0" y="0"/>
            <a:chExt cx="999744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99974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🔮  Hindsight Bias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692640" y="6290691"/>
            <a:ext cx="713232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After events occur, investors feel they 'knew it all along,' reinforcing overconfidence in predictions.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1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-18414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841497" y="5473703"/>
            <a:ext cx="5511803" cy="5511803"/>
            <a:chOff x="0" y="0"/>
            <a:chExt cx="7349071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16103" y="4010663"/>
            <a:ext cx="244859" cy="2219963"/>
            <a:chOff x="0" y="0"/>
            <a:chExt cx="326479" cy="2959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926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6390" cy="2959862"/>
            </a:xfrm>
            <a:custGeom>
              <a:avLst/>
              <a:gdLst/>
              <a:ahLst/>
              <a:cxnLst/>
              <a:rect r="r" b="b" t="t" l="l"/>
              <a:pathLst>
                <a:path h="295986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2942971"/>
                  </a:lnTo>
                  <a:cubicBezTo>
                    <a:pt x="326390" y="2952369"/>
                    <a:pt x="318770" y="2959862"/>
                    <a:pt x="30949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309499" y="2926080"/>
                  </a:lnTo>
                  <a:lnTo>
                    <a:pt x="309499" y="2942971"/>
                  </a:lnTo>
                  <a:lnTo>
                    <a:pt x="292608" y="29429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86000" y="3840480"/>
            <a:ext cx="13716000" cy="1280160"/>
            <a:chOff x="0" y="0"/>
            <a:chExt cx="182880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Definition &amp; Types</a:t>
              </a:r>
            </a:p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of Overconfidence Bias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86000" y="5303520"/>
            <a:ext cx="13716000" cy="914400"/>
            <a:chOff x="0" y="0"/>
            <a:chExt cx="182880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4A017"/>
                  </a:solidFill>
                  <a:latin typeface="Arial"/>
                  <a:ea typeface="Arial"/>
                  <a:cs typeface="Arial"/>
                  <a:sym typeface="Arial"/>
                </a:rPr>
                <a:t>Taxonomy and classification of overconfident behavior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1280160"/>
            <a:ext cx="3657600" cy="2194560"/>
            <a:chOff x="0" y="0"/>
            <a:chExt cx="4876800" cy="292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487680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0"/>
                </a:lnSpc>
              </a:pPr>
              <a:r>
                <a:rPr lang="en-US" sz="16000" b="true">
                  <a:solidFill>
                    <a:srgbClr val="4A20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Three Core Types of Overconfidence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505207"/>
            <a:ext cx="5511803" cy="7889243"/>
            <a:chOff x="0" y="0"/>
            <a:chExt cx="7349071" cy="10518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5E6D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502011"/>
                  </a:lnTo>
                  <a:cubicBezTo>
                    <a:pt x="7348982" y="10511409"/>
                    <a:pt x="7341362" y="10518901"/>
                    <a:pt x="733209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7332091" y="10485120"/>
                  </a:lnTo>
                  <a:lnTo>
                    <a:pt x="7332091" y="10502011"/>
                  </a:lnTo>
                  <a:lnTo>
                    <a:pt x="7315200" y="105020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505207"/>
            <a:ext cx="5511803" cy="1031243"/>
            <a:chOff x="0" y="0"/>
            <a:chExt cx="7349071" cy="1374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358011"/>
                  </a:lnTo>
                  <a:cubicBezTo>
                    <a:pt x="7348982" y="1367409"/>
                    <a:pt x="7341362" y="1374902"/>
                    <a:pt x="7332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332091" y="1341120"/>
                  </a:lnTo>
                  <a:lnTo>
                    <a:pt x="7332091" y="1358011"/>
                  </a:lnTo>
                  <a:lnTo>
                    <a:pt x="7315200" y="13580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536192"/>
            <a:ext cx="5120640" cy="969264"/>
            <a:chOff x="0" y="0"/>
            <a:chExt cx="6827520" cy="12923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1292352"/>
            </a:xfrm>
            <a:custGeom>
              <a:avLst/>
              <a:gdLst/>
              <a:ahLst/>
              <a:cxnLst/>
              <a:rect r="r" b="b" t="t" l="l"/>
              <a:pathLst>
                <a:path h="12923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39" r="0" b="-5293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827520" cy="1311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 OVERESTIMATION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2651760"/>
            <a:ext cx="5120640" cy="640080"/>
            <a:chOff x="0" y="0"/>
            <a:chExt cx="682752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i="true">
                  <a:solidFill>
                    <a:srgbClr val="8B4513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Overestimating absolute performance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59536" y="3409950"/>
            <a:ext cx="4864608" cy="321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Investors overestimate the accuracy of their own knowledge, the precision of their forecasts, and their likelihood of achieving favorable outcomes.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18823" y="6753863"/>
            <a:ext cx="5146043" cy="2311403"/>
            <a:chOff x="0" y="0"/>
            <a:chExt cx="6861391" cy="30818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682752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61301" cy="3081782"/>
            </a:xfrm>
            <a:custGeom>
              <a:avLst/>
              <a:gdLst/>
              <a:ahLst/>
              <a:cxnLst/>
              <a:rect r="r" b="b" t="t" l="l"/>
              <a:pathLst>
                <a:path h="308178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3064891"/>
                  </a:lnTo>
                  <a:cubicBezTo>
                    <a:pt x="6861301" y="3074289"/>
                    <a:pt x="6853682" y="3081782"/>
                    <a:pt x="684441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6844411" y="3048000"/>
                  </a:lnTo>
                  <a:lnTo>
                    <a:pt x="6844411" y="3064891"/>
                  </a:lnTo>
                  <a:lnTo>
                    <a:pt x="6827520" y="30648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14400" y="6839331"/>
            <a:ext cx="4754880" cy="211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24242"/>
                </a:solidFill>
                <a:latin typeface="Arial Italics"/>
                <a:ea typeface="Arial Italics"/>
                <a:cs typeface="Arial Italics"/>
                <a:sym typeface="Arial Italics"/>
              </a:rPr>
              <a:t>Example: Believing a stock will definitely rise 20% based on personal analysis, while ignoring professional consensus.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388103" y="1505207"/>
            <a:ext cx="5511803" cy="7889243"/>
            <a:chOff x="0" y="0"/>
            <a:chExt cx="7349071" cy="105189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731520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AF0E6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4898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502011"/>
                  </a:lnTo>
                  <a:cubicBezTo>
                    <a:pt x="7348982" y="10511409"/>
                    <a:pt x="7341362" y="10518901"/>
                    <a:pt x="733209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7332091" y="10485120"/>
                  </a:lnTo>
                  <a:lnTo>
                    <a:pt x="7332091" y="10502011"/>
                  </a:lnTo>
                  <a:lnTo>
                    <a:pt x="7315200" y="105020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388103" y="1505207"/>
            <a:ext cx="5511803" cy="1031243"/>
            <a:chOff x="0" y="0"/>
            <a:chExt cx="7349071" cy="13749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48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358011"/>
                  </a:lnTo>
                  <a:cubicBezTo>
                    <a:pt x="7348982" y="1367409"/>
                    <a:pt x="7341362" y="1374902"/>
                    <a:pt x="7332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332091" y="1341120"/>
                  </a:lnTo>
                  <a:lnTo>
                    <a:pt x="7332091" y="1358011"/>
                  </a:lnTo>
                  <a:lnTo>
                    <a:pt x="7315200" y="13580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583680" y="1536192"/>
            <a:ext cx="5120640" cy="969264"/>
            <a:chOff x="0" y="0"/>
            <a:chExt cx="6827520" cy="12923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27520" cy="1292352"/>
            </a:xfrm>
            <a:custGeom>
              <a:avLst/>
              <a:gdLst/>
              <a:ahLst/>
              <a:cxnLst/>
              <a:rect r="r" b="b" t="t" l="l"/>
              <a:pathLst>
                <a:path h="12923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39" r="0" b="-5293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827520" cy="1311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 OVERPLACEMENT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583680" y="2651760"/>
            <a:ext cx="5120640" cy="640080"/>
            <a:chOff x="0" y="0"/>
            <a:chExt cx="682752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i="true">
                  <a:solidFill>
                    <a:srgbClr val="D4A017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Better-than-average effect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711696" y="3409950"/>
            <a:ext cx="4864608" cy="321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Investors rank themselves above the median investor. Statistically impossible for the majority to be 'above average', yet studies show 90% of drivers — and investors — believe they are better than average.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570983" y="6753863"/>
            <a:ext cx="5146043" cy="2311403"/>
            <a:chOff x="0" y="0"/>
            <a:chExt cx="6861391" cy="30818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682752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61301" cy="3081782"/>
            </a:xfrm>
            <a:custGeom>
              <a:avLst/>
              <a:gdLst/>
              <a:ahLst/>
              <a:cxnLst/>
              <a:rect r="r" b="b" t="t" l="l"/>
              <a:pathLst>
                <a:path h="308178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3064891"/>
                  </a:lnTo>
                  <a:cubicBezTo>
                    <a:pt x="6861301" y="3074289"/>
                    <a:pt x="6853682" y="3081782"/>
                    <a:pt x="684441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6844411" y="3048000"/>
                  </a:lnTo>
                  <a:lnTo>
                    <a:pt x="6844411" y="3064891"/>
                  </a:lnTo>
                  <a:lnTo>
                    <a:pt x="6827520" y="30648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6766560" y="6839331"/>
            <a:ext cx="4754880" cy="211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24242"/>
                </a:solidFill>
                <a:latin typeface="Arial Italics"/>
                <a:ea typeface="Arial Italics"/>
                <a:cs typeface="Arial Italics"/>
                <a:sym typeface="Arial Italics"/>
              </a:rPr>
              <a:t>Example: 'I pick stocks better than most fund managers.'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240263" y="1505207"/>
            <a:ext cx="5511803" cy="7889243"/>
            <a:chOff x="0" y="0"/>
            <a:chExt cx="7349071" cy="105189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731520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5DDD3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4898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502011"/>
                  </a:lnTo>
                  <a:cubicBezTo>
                    <a:pt x="7348982" y="10511409"/>
                    <a:pt x="7341362" y="10518901"/>
                    <a:pt x="733209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7332091" y="10485120"/>
                  </a:lnTo>
                  <a:lnTo>
                    <a:pt x="7332091" y="10502011"/>
                  </a:lnTo>
                  <a:lnTo>
                    <a:pt x="7315200" y="105020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240263" y="1505207"/>
            <a:ext cx="5511803" cy="1031243"/>
            <a:chOff x="0" y="0"/>
            <a:chExt cx="7349071" cy="137499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48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358011"/>
                  </a:lnTo>
                  <a:cubicBezTo>
                    <a:pt x="7348982" y="1367409"/>
                    <a:pt x="7341362" y="1374902"/>
                    <a:pt x="7332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332091" y="1341120"/>
                  </a:lnTo>
                  <a:lnTo>
                    <a:pt x="7332091" y="1358011"/>
                  </a:lnTo>
                  <a:lnTo>
                    <a:pt x="7315200" y="13580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435840" y="1536192"/>
            <a:ext cx="5120640" cy="969264"/>
            <a:chOff x="0" y="0"/>
            <a:chExt cx="6827520" cy="12923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27520" cy="1292352"/>
            </a:xfrm>
            <a:custGeom>
              <a:avLst/>
              <a:gdLst/>
              <a:ahLst/>
              <a:cxnLst/>
              <a:rect r="r" b="b" t="t" l="l"/>
              <a:pathLst>
                <a:path h="12923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39" r="0" b="-5293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6827520" cy="1311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OVERPRECISION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435840" y="2651760"/>
            <a:ext cx="5120640" cy="640080"/>
            <a:chOff x="0" y="0"/>
            <a:chExt cx="682752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i="true">
                  <a:solidFill>
                    <a:srgbClr val="7B3F00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Excessive confidence in accuracy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2563856" y="3409950"/>
            <a:ext cx="4864608" cy="321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Investors set overly narrow confidence intervals for their predictions. They are surprised more often than expected when outcomes fall outside their stated range.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423143" y="6753863"/>
            <a:ext cx="5146043" cy="2311403"/>
            <a:chOff x="0" y="0"/>
            <a:chExt cx="6861391" cy="30818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682752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61301" cy="3081782"/>
            </a:xfrm>
            <a:custGeom>
              <a:avLst/>
              <a:gdLst/>
              <a:ahLst/>
              <a:cxnLst/>
              <a:rect r="r" b="b" t="t" l="l"/>
              <a:pathLst>
                <a:path h="308178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3064891"/>
                  </a:lnTo>
                  <a:cubicBezTo>
                    <a:pt x="6861301" y="3074289"/>
                    <a:pt x="6853682" y="3081782"/>
                    <a:pt x="684441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6844411" y="3048000"/>
                  </a:lnTo>
                  <a:lnTo>
                    <a:pt x="6844411" y="3064891"/>
                  </a:lnTo>
                  <a:lnTo>
                    <a:pt x="6827520" y="30648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3F00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2618720" y="6839331"/>
            <a:ext cx="4754880" cy="211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24242"/>
                </a:solidFill>
                <a:latin typeface="Arial Italics"/>
                <a:ea typeface="Arial Italics"/>
                <a:cs typeface="Arial Italics"/>
                <a:sym typeface="Arial Italics"/>
              </a:rPr>
              <a:t>Example: Predicting the S&amp;P 500 will end the year at exactly 5,200 ± 50 points.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Measuring Overconfidence in Investors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65760" y="365760"/>
            <a:ext cx="13167360" cy="950976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12252960" y="1463040"/>
            <a:ext cx="5486400" cy="731520"/>
            <a:chOff x="0" y="0"/>
            <a:chExt cx="73152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73152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Findings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40263" y="2364743"/>
            <a:ext cx="5328923" cy="1671323"/>
            <a:chOff x="0" y="0"/>
            <a:chExt cx="7105231" cy="22284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051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211451"/>
                  </a:lnTo>
                  <a:cubicBezTo>
                    <a:pt x="7105142" y="2220849"/>
                    <a:pt x="7097522" y="2228342"/>
                    <a:pt x="70882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088251" y="2194560"/>
                  </a:lnTo>
                  <a:lnTo>
                    <a:pt x="7088251" y="2211451"/>
                  </a:lnTo>
                  <a:lnTo>
                    <a:pt x="7071360" y="22114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344400" y="2414016"/>
            <a:ext cx="1828800" cy="1005840"/>
            <a:chOff x="0" y="0"/>
            <a:chExt cx="243840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84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4384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58%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990320" y="2432304"/>
            <a:ext cx="3383280" cy="548640"/>
            <a:chOff x="0" y="0"/>
            <a:chExt cx="451104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11040" cy="731520"/>
            </a:xfrm>
            <a:custGeom>
              <a:avLst/>
              <a:gdLst/>
              <a:ahLst/>
              <a:cxnLst/>
              <a:rect r="r" b="b" t="t" l="l"/>
              <a:pathLst>
                <a:path h="73152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57" r="0" b="-7015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511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Gap (Amateur)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990320" y="2926080"/>
            <a:ext cx="3383280" cy="457200"/>
            <a:chOff x="0" y="0"/>
            <a:chExt cx="4511040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11040" cy="609600"/>
            </a:xfrm>
            <a:custGeom>
              <a:avLst/>
              <a:gdLst/>
              <a:ahLst/>
              <a:cxnLst/>
              <a:rect r="r" b="b" t="t" l="l"/>
              <a:pathLst>
                <a:path h="6096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51104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Perception vs reality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240263" y="4376423"/>
            <a:ext cx="5328923" cy="1671323"/>
            <a:chOff x="0" y="0"/>
            <a:chExt cx="7105231" cy="22284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051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211451"/>
                  </a:lnTo>
                  <a:cubicBezTo>
                    <a:pt x="7105142" y="2220849"/>
                    <a:pt x="7097522" y="2228342"/>
                    <a:pt x="70882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088251" y="2194560"/>
                  </a:lnTo>
                  <a:lnTo>
                    <a:pt x="7088251" y="2211451"/>
                  </a:lnTo>
                  <a:lnTo>
                    <a:pt x="7071360" y="22114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0" y="4425696"/>
            <a:ext cx="1828800" cy="1005840"/>
            <a:chOff x="0" y="0"/>
            <a:chExt cx="2438400" cy="1341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4384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78%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990320" y="4443984"/>
            <a:ext cx="3383280" cy="548640"/>
            <a:chOff x="0" y="0"/>
            <a:chExt cx="451104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11040" cy="731520"/>
            </a:xfrm>
            <a:custGeom>
              <a:avLst/>
              <a:gdLst/>
              <a:ahLst/>
              <a:cxnLst/>
              <a:rect r="r" b="b" t="t" l="l"/>
              <a:pathLst>
                <a:path h="73152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57" r="0" b="-7015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511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Gap (Day Traders)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990320" y="4937760"/>
            <a:ext cx="3383280" cy="457200"/>
            <a:chOff x="0" y="0"/>
            <a:chExt cx="451104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11040" cy="609600"/>
            </a:xfrm>
            <a:custGeom>
              <a:avLst/>
              <a:gdLst/>
              <a:ahLst/>
              <a:cxnLst/>
              <a:rect r="r" b="b" t="t" l="l"/>
              <a:pathLst>
                <a:path h="6096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51104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Most overconfident group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240263" y="6388103"/>
            <a:ext cx="5328923" cy="1671323"/>
            <a:chOff x="0" y="0"/>
            <a:chExt cx="7105231" cy="222843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051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211451"/>
                  </a:lnTo>
                  <a:cubicBezTo>
                    <a:pt x="7105142" y="2220849"/>
                    <a:pt x="7097522" y="2228342"/>
                    <a:pt x="70882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7088251" y="2194560"/>
                  </a:lnTo>
                  <a:lnTo>
                    <a:pt x="7088251" y="2211451"/>
                  </a:lnTo>
                  <a:lnTo>
                    <a:pt x="7071360" y="22114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344400" y="6437376"/>
            <a:ext cx="1828800" cy="1005840"/>
            <a:chOff x="0" y="0"/>
            <a:chExt cx="243840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24384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26%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990320" y="6455664"/>
            <a:ext cx="3383280" cy="548640"/>
            <a:chOff x="0" y="0"/>
            <a:chExt cx="451104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511040" cy="731520"/>
            </a:xfrm>
            <a:custGeom>
              <a:avLst/>
              <a:gdLst/>
              <a:ahLst/>
              <a:cxnLst/>
              <a:rect r="r" b="b" t="t" l="l"/>
              <a:pathLst>
                <a:path h="73152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57" r="0" b="-7015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511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Gap (Fund Mgrs)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990320" y="6949440"/>
            <a:ext cx="3383280" cy="457200"/>
            <a:chOff x="0" y="0"/>
            <a:chExt cx="4511040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511040" cy="609600"/>
            </a:xfrm>
            <a:custGeom>
              <a:avLst/>
              <a:gdLst/>
              <a:ahLst/>
              <a:cxnLst/>
              <a:rect r="r" b="b" t="t" l="l"/>
              <a:pathLst>
                <a:path h="6096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51104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Least overconfident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31520" y="8961120"/>
            <a:ext cx="16824960" cy="548640"/>
            <a:chOff x="0" y="0"/>
            <a:chExt cx="2243328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22433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Source: Barber &amp; Odean (2001), Glaser &amp; Weber (2007), Statman et al. (2006)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1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-18414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841497" y="5473703"/>
            <a:ext cx="5511803" cy="5511803"/>
            <a:chOff x="0" y="0"/>
            <a:chExt cx="7349071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16103" y="4010663"/>
            <a:ext cx="244859" cy="2219963"/>
            <a:chOff x="0" y="0"/>
            <a:chExt cx="326479" cy="2959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926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6390" cy="2959862"/>
            </a:xfrm>
            <a:custGeom>
              <a:avLst/>
              <a:gdLst/>
              <a:ahLst/>
              <a:cxnLst/>
              <a:rect r="r" b="b" t="t" l="l"/>
              <a:pathLst>
                <a:path h="295986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2942971"/>
                  </a:lnTo>
                  <a:cubicBezTo>
                    <a:pt x="326390" y="2952369"/>
                    <a:pt x="318770" y="2959862"/>
                    <a:pt x="30949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309499" y="2926080"/>
                  </a:lnTo>
                  <a:lnTo>
                    <a:pt x="309499" y="2942971"/>
                  </a:lnTo>
                  <a:lnTo>
                    <a:pt x="292608" y="29429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86000" y="3840480"/>
            <a:ext cx="13716000" cy="1280160"/>
            <a:chOff x="0" y="0"/>
            <a:chExt cx="182880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 on Investment</a:t>
              </a:r>
            </a:p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Decisions &amp; Portfolio Performance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86000" y="5303520"/>
            <a:ext cx="13716000" cy="914400"/>
            <a:chOff x="0" y="0"/>
            <a:chExt cx="182880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4A017"/>
                  </a:solidFill>
                  <a:latin typeface="Arial"/>
                  <a:ea typeface="Arial"/>
                  <a:cs typeface="Arial"/>
                  <a:sym typeface="Arial"/>
                </a:rPr>
                <a:t>How overconfidence destroys returns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1280160"/>
            <a:ext cx="3657600" cy="2194560"/>
            <a:chOff x="0" y="0"/>
            <a:chExt cx="4876800" cy="292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487680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0"/>
                </a:lnSpc>
              </a:pPr>
              <a:r>
                <a:rPr lang="en-US" sz="16000" b="true">
                  <a:solidFill>
                    <a:srgbClr val="4A20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Overconfidence → Excessive Trading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29184" y="402336"/>
            <a:ext cx="12728448" cy="9070848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11704320" y="1463040"/>
            <a:ext cx="6035040" cy="731520"/>
            <a:chOff x="0" y="0"/>
            <a:chExt cx="804672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46720" cy="975360"/>
            </a:xfrm>
            <a:custGeom>
              <a:avLst/>
              <a:gdLst/>
              <a:ahLst/>
              <a:cxnLst/>
              <a:rect r="r" b="b" t="t" l="l"/>
              <a:pathLst>
                <a:path h="9753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04672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Trading Trap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91623" y="2364743"/>
            <a:ext cx="6060443" cy="1451867"/>
            <a:chOff x="0" y="0"/>
            <a:chExt cx="8080591" cy="19358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80467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80501" cy="1935734"/>
            </a:xfrm>
            <a:custGeom>
              <a:avLst/>
              <a:gdLst/>
              <a:ahLst/>
              <a:cxnLst/>
              <a:rect r="r" b="b" t="t" l="l"/>
              <a:pathLst>
                <a:path h="1935734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1918843"/>
                  </a:lnTo>
                  <a:cubicBezTo>
                    <a:pt x="8080501" y="1928241"/>
                    <a:pt x="8072882" y="1935734"/>
                    <a:pt x="80636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8063611" y="1901952"/>
                  </a:lnTo>
                  <a:lnTo>
                    <a:pt x="8063611" y="1918843"/>
                  </a:lnTo>
                  <a:lnTo>
                    <a:pt x="8046720" y="1918843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795760" y="2432304"/>
            <a:ext cx="822960" cy="1097280"/>
            <a:chOff x="0" y="0"/>
            <a:chExt cx="109728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9728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📉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527280" y="2432304"/>
            <a:ext cx="5120640" cy="1188720"/>
            <a:chOff x="0" y="0"/>
            <a:chExt cx="6827520" cy="1584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682752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Transaction costs erode 2–4% of returns annually for active traders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91623" y="4010663"/>
            <a:ext cx="6060443" cy="1451867"/>
            <a:chOff x="0" y="0"/>
            <a:chExt cx="8080591" cy="19358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80467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80501" cy="1935734"/>
            </a:xfrm>
            <a:custGeom>
              <a:avLst/>
              <a:gdLst/>
              <a:ahLst/>
              <a:cxnLst/>
              <a:rect r="r" b="b" t="t" l="l"/>
              <a:pathLst>
                <a:path h="1935734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1918843"/>
                  </a:lnTo>
                  <a:cubicBezTo>
                    <a:pt x="8080501" y="1928241"/>
                    <a:pt x="8072882" y="1935734"/>
                    <a:pt x="80636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8063611" y="1901952"/>
                  </a:lnTo>
                  <a:lnTo>
                    <a:pt x="8063611" y="1918843"/>
                  </a:lnTo>
                  <a:lnTo>
                    <a:pt x="8046720" y="1918843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795760" y="4078224"/>
            <a:ext cx="822960" cy="1097280"/>
            <a:chOff x="0" y="0"/>
            <a:chExt cx="109728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9728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🔄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527280" y="4078224"/>
            <a:ext cx="5120640" cy="1188720"/>
            <a:chOff x="0" y="0"/>
            <a:chExt cx="6827520" cy="1584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682752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Overconfident investors trade 45% more frequently than less confident peers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91623" y="5656583"/>
            <a:ext cx="6060443" cy="1451867"/>
            <a:chOff x="0" y="0"/>
            <a:chExt cx="8080591" cy="193582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80467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80501" cy="1935734"/>
            </a:xfrm>
            <a:custGeom>
              <a:avLst/>
              <a:gdLst/>
              <a:ahLst/>
              <a:cxnLst/>
              <a:rect r="r" b="b" t="t" l="l"/>
              <a:pathLst>
                <a:path h="1935734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1918843"/>
                  </a:lnTo>
                  <a:cubicBezTo>
                    <a:pt x="8080501" y="1928241"/>
                    <a:pt x="8072882" y="1935734"/>
                    <a:pt x="80636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8063611" y="1901952"/>
                  </a:lnTo>
                  <a:lnTo>
                    <a:pt x="8063611" y="1918843"/>
                  </a:lnTo>
                  <a:lnTo>
                    <a:pt x="8046720" y="1918843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795760" y="5724144"/>
            <a:ext cx="822960" cy="1097280"/>
            <a:chOff x="0" y="0"/>
            <a:chExt cx="1097280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09728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💸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527280" y="5724144"/>
            <a:ext cx="5120640" cy="1188720"/>
            <a:chOff x="0" y="0"/>
            <a:chExt cx="6827520" cy="1584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682752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Tax drag from short-term capital gains further reduces net returns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691623" y="7302503"/>
            <a:ext cx="6060443" cy="1451867"/>
            <a:chOff x="0" y="0"/>
            <a:chExt cx="8080591" cy="193582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80467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080501" cy="1935734"/>
            </a:xfrm>
            <a:custGeom>
              <a:avLst/>
              <a:gdLst/>
              <a:ahLst/>
              <a:cxnLst/>
              <a:rect r="r" b="b" t="t" l="l"/>
              <a:pathLst>
                <a:path h="1935734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1918843"/>
                  </a:lnTo>
                  <a:cubicBezTo>
                    <a:pt x="8080501" y="1928241"/>
                    <a:pt x="8072882" y="1935734"/>
                    <a:pt x="80636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8063611" y="1901952"/>
                  </a:lnTo>
                  <a:lnTo>
                    <a:pt x="8063611" y="1918843"/>
                  </a:lnTo>
                  <a:lnTo>
                    <a:pt x="8046720" y="1918843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795760" y="7370064"/>
            <a:ext cx="822960" cy="1097280"/>
            <a:chOff x="0" y="0"/>
            <a:chExt cx="1097280" cy="1463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09728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⚠️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527280" y="7370064"/>
            <a:ext cx="5120640" cy="1188720"/>
            <a:chOff x="0" y="0"/>
            <a:chExt cx="6827520" cy="1584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682752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Studies show 70% of day traders lose money net of costs over 3 years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31520" y="8869680"/>
            <a:ext cx="16459200" cy="548640"/>
            <a:chOff x="0" y="0"/>
            <a:chExt cx="2194560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21945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Source: Barber &amp; Odean (2000) — 'Trading is Hazardous to Your Wealth'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Underdiversification &amp; Concentration Risk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74320" y="640080"/>
            <a:ext cx="9875520" cy="804672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548640" y="7955280"/>
            <a:ext cx="8229600" cy="548640"/>
            <a:chOff x="0" y="0"/>
            <a:chExt cx="109728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Typical Overconfident Portfolio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14183" y="1486919"/>
            <a:ext cx="8255003" cy="2311403"/>
            <a:chOff x="0" y="0"/>
            <a:chExt cx="11006671" cy="30818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109728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06582" cy="3081782"/>
            </a:xfrm>
            <a:custGeom>
              <a:avLst/>
              <a:gdLst/>
              <a:ahLst/>
              <a:cxnLst/>
              <a:rect r="r" b="b" t="t" l="l"/>
              <a:pathLst>
                <a:path h="30817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064891"/>
                  </a:lnTo>
                  <a:cubicBezTo>
                    <a:pt x="11006582" y="3074289"/>
                    <a:pt x="10998962" y="3081782"/>
                    <a:pt x="1098969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10989691" y="3048000"/>
                  </a:lnTo>
                  <a:lnTo>
                    <a:pt x="10989691" y="3064891"/>
                  </a:lnTo>
                  <a:lnTo>
                    <a:pt x="10972800" y="30648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09760" y="1572768"/>
            <a:ext cx="7863840" cy="640080"/>
            <a:chOff x="0" y="0"/>
            <a:chExt cx="1048512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4851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🏠  Home Bias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0" y="2267331"/>
            <a:ext cx="7680960" cy="1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70% of overconfident investors over-weight domestic stocks, missing global diversification benefits.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14183" y="4047239"/>
            <a:ext cx="8255003" cy="2311403"/>
            <a:chOff x="0" y="0"/>
            <a:chExt cx="11006671" cy="30818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109728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06582" cy="3081782"/>
            </a:xfrm>
            <a:custGeom>
              <a:avLst/>
              <a:gdLst/>
              <a:ahLst/>
              <a:cxnLst/>
              <a:rect r="r" b="b" t="t" l="l"/>
              <a:pathLst>
                <a:path h="30817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064891"/>
                  </a:lnTo>
                  <a:cubicBezTo>
                    <a:pt x="11006582" y="3074289"/>
                    <a:pt x="10998962" y="3081782"/>
                    <a:pt x="1098969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10989691" y="3048000"/>
                  </a:lnTo>
                  <a:lnTo>
                    <a:pt x="10989691" y="3064891"/>
                  </a:lnTo>
                  <a:lnTo>
                    <a:pt x="10972800" y="30648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09760" y="4133088"/>
            <a:ext cx="7863840" cy="640080"/>
            <a:chOff x="0" y="0"/>
            <a:chExt cx="1048512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4851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🏢  Employer Stock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601200" y="4827651"/>
            <a:ext cx="7680960" cy="1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Employees hold 3× recommended allocation in employer shares, creating concentrated career + market risk.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14183" y="6607559"/>
            <a:ext cx="8255003" cy="2311403"/>
            <a:chOff x="0" y="0"/>
            <a:chExt cx="11006671" cy="30818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09728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006582" cy="3081782"/>
            </a:xfrm>
            <a:custGeom>
              <a:avLst/>
              <a:gdLst/>
              <a:ahLst/>
              <a:cxnLst/>
              <a:rect r="r" b="b" t="t" l="l"/>
              <a:pathLst>
                <a:path h="30817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064891"/>
                  </a:lnTo>
                  <a:cubicBezTo>
                    <a:pt x="11006582" y="3074289"/>
                    <a:pt x="10998962" y="3081782"/>
                    <a:pt x="1098969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10989691" y="3048000"/>
                  </a:lnTo>
                  <a:lnTo>
                    <a:pt x="10989691" y="3064891"/>
                  </a:lnTo>
                  <a:lnTo>
                    <a:pt x="10972800" y="30648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509760" y="6693408"/>
            <a:ext cx="7863840" cy="640080"/>
            <a:chOff x="0" y="0"/>
            <a:chExt cx="1048512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4851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📊  Volatility Impact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601200" y="7387971"/>
            <a:ext cx="7680960" cy="1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Concentrated 3-stock portfolios show 2.4× higher volatility than diversified 20-stock portfolios.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Illusion of Market Timing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29184" y="438912"/>
            <a:ext cx="12728448" cy="9070848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11704320" y="1499616"/>
            <a:ext cx="6035040" cy="640080"/>
            <a:chOff x="0" y="0"/>
            <a:chExt cx="804672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46720" cy="853440"/>
            </a:xfrm>
            <a:custGeom>
              <a:avLst/>
              <a:gdLst/>
              <a:ahLst/>
              <a:cxnLst/>
              <a:rect r="r" b="b" t="t" l="l"/>
              <a:pathLst>
                <a:path h="8534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0467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Timing Fails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91623" y="2273303"/>
            <a:ext cx="6060443" cy="1671323"/>
            <a:chOff x="0" y="0"/>
            <a:chExt cx="8080591" cy="22284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8046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80501" cy="2228342"/>
            </a:xfrm>
            <a:custGeom>
              <a:avLst/>
              <a:gdLst/>
              <a:ahLst/>
              <a:cxnLst/>
              <a:rect r="r" b="b" t="t" l="l"/>
              <a:pathLst>
                <a:path h="2228342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2211451"/>
                  </a:lnTo>
                  <a:cubicBezTo>
                    <a:pt x="8080501" y="2220849"/>
                    <a:pt x="8072882" y="2228342"/>
                    <a:pt x="806361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8063611" y="2194560"/>
                  </a:lnTo>
                  <a:lnTo>
                    <a:pt x="8063611" y="2211451"/>
                  </a:lnTo>
                  <a:lnTo>
                    <a:pt x="8046720" y="2211451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795760" y="2340864"/>
            <a:ext cx="1737360" cy="1188720"/>
            <a:chOff x="0" y="0"/>
            <a:chExt cx="2316480" cy="1584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16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786" t="0" r="-3778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31648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94%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533120" y="2377440"/>
            <a:ext cx="4114800" cy="1280160"/>
            <a:chOff x="0" y="0"/>
            <a:chExt cx="5486400" cy="1706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86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4864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of market timers underperform buy &amp; hold over 10 years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91623" y="4284983"/>
            <a:ext cx="6060443" cy="1671323"/>
            <a:chOff x="0" y="0"/>
            <a:chExt cx="8080591" cy="22284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8046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80501" cy="2228342"/>
            </a:xfrm>
            <a:custGeom>
              <a:avLst/>
              <a:gdLst/>
              <a:ahLst/>
              <a:cxnLst/>
              <a:rect r="r" b="b" t="t" l="l"/>
              <a:pathLst>
                <a:path h="2228342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2211451"/>
                  </a:lnTo>
                  <a:cubicBezTo>
                    <a:pt x="8080501" y="2220849"/>
                    <a:pt x="8072882" y="2228342"/>
                    <a:pt x="806361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8063611" y="2194560"/>
                  </a:lnTo>
                  <a:lnTo>
                    <a:pt x="8063611" y="2211451"/>
                  </a:lnTo>
                  <a:lnTo>
                    <a:pt x="8046720" y="2211451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795760" y="4352544"/>
            <a:ext cx="1737360" cy="1188720"/>
            <a:chOff x="0" y="0"/>
            <a:chExt cx="2316480" cy="1584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16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786" t="0" r="-37786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31648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533120" y="4389120"/>
            <a:ext cx="4114800" cy="1280160"/>
            <a:chOff x="0" y="0"/>
            <a:chExt cx="5486400" cy="1706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4864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best trading days missed = portfolio cut in half (S&amp;P 500, 20yr)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91623" y="6296663"/>
            <a:ext cx="6060443" cy="1671323"/>
            <a:chOff x="0" y="0"/>
            <a:chExt cx="8080591" cy="22284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8046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80501" cy="2228342"/>
            </a:xfrm>
            <a:custGeom>
              <a:avLst/>
              <a:gdLst/>
              <a:ahLst/>
              <a:cxnLst/>
              <a:rect r="r" b="b" t="t" l="l"/>
              <a:pathLst>
                <a:path h="2228342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2211451"/>
                  </a:lnTo>
                  <a:cubicBezTo>
                    <a:pt x="8080501" y="2220849"/>
                    <a:pt x="8072882" y="2228342"/>
                    <a:pt x="806361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8063611" y="2194560"/>
                  </a:lnTo>
                  <a:lnTo>
                    <a:pt x="8063611" y="2211451"/>
                  </a:lnTo>
                  <a:lnTo>
                    <a:pt x="8046720" y="2211451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795760" y="6364224"/>
            <a:ext cx="1737360" cy="1188720"/>
            <a:chOff x="0" y="0"/>
            <a:chExt cx="2316480" cy="1584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16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786" t="0" r="-37786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31648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1.7%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533120" y="6400800"/>
            <a:ext cx="4114800" cy="1280160"/>
            <a:chOff x="0" y="0"/>
            <a:chExt cx="5486400" cy="17068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54864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average annual return gap between active timers and passive investors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31520" y="8869680"/>
            <a:ext cx="16459200" cy="548640"/>
            <a:chOff x="0" y="0"/>
            <a:chExt cx="2194560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21945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Source: DALBAR Quantitative Analysis of Investor Behavior (2023)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1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-18414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841497" y="5473703"/>
            <a:ext cx="5511803" cy="5511803"/>
            <a:chOff x="0" y="0"/>
            <a:chExt cx="7349071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16103" y="4010663"/>
            <a:ext cx="244859" cy="2219963"/>
            <a:chOff x="0" y="0"/>
            <a:chExt cx="326479" cy="2959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926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6390" cy="2959862"/>
            </a:xfrm>
            <a:custGeom>
              <a:avLst/>
              <a:gdLst/>
              <a:ahLst/>
              <a:cxnLst/>
              <a:rect r="r" b="b" t="t" l="l"/>
              <a:pathLst>
                <a:path h="295986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2942971"/>
                  </a:lnTo>
                  <a:cubicBezTo>
                    <a:pt x="326390" y="2952369"/>
                    <a:pt x="318770" y="2959862"/>
                    <a:pt x="30949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309499" y="2926080"/>
                  </a:lnTo>
                  <a:lnTo>
                    <a:pt x="309499" y="2942971"/>
                  </a:lnTo>
                  <a:lnTo>
                    <a:pt x="292608" y="29429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86000" y="3840480"/>
            <a:ext cx="13716000" cy="1280160"/>
            <a:chOff x="0" y="0"/>
            <a:chExt cx="182880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Case Studies:</a:t>
              </a:r>
            </a:p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Overconfidence in Action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86000" y="5303520"/>
            <a:ext cx="13716000" cy="914400"/>
            <a:chOff x="0" y="0"/>
            <a:chExt cx="182880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4A017"/>
                  </a:solidFill>
                  <a:latin typeface="Arial"/>
                  <a:ea typeface="Arial"/>
                  <a:cs typeface="Arial"/>
                  <a:sym typeface="Arial"/>
                </a:rPr>
                <a:t>Real-world examples and their costly consequences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1280160"/>
            <a:ext cx="3657600" cy="2194560"/>
            <a:chOff x="0" y="0"/>
            <a:chExt cx="4876800" cy="292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487680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0"/>
                </a:lnSpc>
              </a:pPr>
              <a:r>
                <a:rPr lang="en-US" sz="16000" b="true">
                  <a:solidFill>
                    <a:srgbClr val="4A20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Case Study 1: Long-Term Capital Management (LTCM)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1541783"/>
            <a:ext cx="7889243" cy="7523483"/>
            <a:chOff x="0" y="0"/>
            <a:chExt cx="10518991" cy="10031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485120" cy="9997440"/>
            </a:xfrm>
            <a:custGeom>
              <a:avLst/>
              <a:gdLst/>
              <a:ahLst/>
              <a:cxnLst/>
              <a:rect r="r" b="b" t="t" l="l"/>
              <a:pathLst>
                <a:path h="9997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8901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0014331"/>
                  </a:lnTo>
                  <a:cubicBezTo>
                    <a:pt x="10518901" y="10023729"/>
                    <a:pt x="10511282" y="10031222"/>
                    <a:pt x="1050201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10502011" y="9997440"/>
                  </a:lnTo>
                  <a:lnTo>
                    <a:pt x="10502011" y="10014331"/>
                  </a:lnTo>
                  <a:lnTo>
                    <a:pt x="10485120" y="1001433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1541783"/>
            <a:ext cx="7889243" cy="848363"/>
            <a:chOff x="0" y="0"/>
            <a:chExt cx="10518991" cy="1131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554480"/>
            <a:ext cx="7863840" cy="822960"/>
            <a:chOff x="0" y="0"/>
            <a:chExt cx="1048512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4851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COLLAPSE TIMELINE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3143" y="2584199"/>
            <a:ext cx="427739" cy="427739"/>
            <a:chOff x="0" y="0"/>
            <a:chExt cx="570319" cy="5703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76023" y="2949959"/>
            <a:ext cx="61979" cy="903227"/>
            <a:chOff x="0" y="0"/>
            <a:chExt cx="82639" cy="12043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48768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">
                  <a:moveTo>
                    <a:pt x="0" y="0"/>
                  </a:moveTo>
                  <a:lnTo>
                    <a:pt x="48768" y="0"/>
                  </a:lnTo>
                  <a:lnTo>
                    <a:pt x="4876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550" cy="1204216"/>
            </a:xfrm>
            <a:custGeom>
              <a:avLst/>
              <a:gdLst/>
              <a:ahLst/>
              <a:cxnLst/>
              <a:rect r="r" b="b" t="t" l="l"/>
              <a:pathLst>
                <a:path h="1204216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187323"/>
                  </a:lnTo>
                  <a:cubicBezTo>
                    <a:pt x="82550" y="1196721"/>
                    <a:pt x="74930" y="1204214"/>
                    <a:pt x="65659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65659" y="1170432"/>
                  </a:lnTo>
                  <a:lnTo>
                    <a:pt x="65659" y="1187323"/>
                  </a:lnTo>
                  <a:lnTo>
                    <a:pt x="48768" y="1187323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99616" y="2578608"/>
            <a:ext cx="1280160" cy="402336"/>
            <a:chOff x="0" y="0"/>
            <a:chExt cx="1706880" cy="53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6880" cy="536448"/>
            </a:xfrm>
            <a:custGeom>
              <a:avLst/>
              <a:gdLst/>
              <a:ahLst/>
              <a:cxnLst/>
              <a:rect r="r" b="b" t="t" l="l"/>
              <a:pathLst>
                <a:path h="53644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706880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1994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871216" y="2586990"/>
            <a:ext cx="530352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Founded by John Meriwether with 2 Nobel laureates — extreme overconfidence in models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93143" y="3772919"/>
            <a:ext cx="427739" cy="427739"/>
            <a:chOff x="0" y="0"/>
            <a:chExt cx="570319" cy="5703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76023" y="4138679"/>
            <a:ext cx="61979" cy="903227"/>
            <a:chOff x="0" y="0"/>
            <a:chExt cx="82639" cy="12043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48768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">
                  <a:moveTo>
                    <a:pt x="0" y="0"/>
                  </a:moveTo>
                  <a:lnTo>
                    <a:pt x="48768" y="0"/>
                  </a:lnTo>
                  <a:lnTo>
                    <a:pt x="4876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550" cy="1204216"/>
            </a:xfrm>
            <a:custGeom>
              <a:avLst/>
              <a:gdLst/>
              <a:ahLst/>
              <a:cxnLst/>
              <a:rect r="r" b="b" t="t" l="l"/>
              <a:pathLst>
                <a:path h="1204216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187323"/>
                  </a:lnTo>
                  <a:cubicBezTo>
                    <a:pt x="82550" y="1196721"/>
                    <a:pt x="74930" y="1204214"/>
                    <a:pt x="65659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65659" y="1170432"/>
                  </a:lnTo>
                  <a:lnTo>
                    <a:pt x="65659" y="1187323"/>
                  </a:lnTo>
                  <a:lnTo>
                    <a:pt x="48768" y="1187323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99616" y="3767328"/>
            <a:ext cx="1280160" cy="402336"/>
            <a:chOff x="0" y="0"/>
            <a:chExt cx="1706880" cy="5364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06880" cy="536448"/>
            </a:xfrm>
            <a:custGeom>
              <a:avLst/>
              <a:gdLst/>
              <a:ahLst/>
              <a:cxnLst/>
              <a:rect r="r" b="b" t="t" l="l"/>
              <a:pathLst>
                <a:path h="53644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706880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1997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871216" y="3775710"/>
            <a:ext cx="530352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Peak AUM: $125B, leverage ratio: 28:1. Model assumed they had mastered risk.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93143" y="4961639"/>
            <a:ext cx="427739" cy="427739"/>
            <a:chOff x="0" y="0"/>
            <a:chExt cx="570319" cy="5703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76023" y="5327399"/>
            <a:ext cx="61979" cy="903227"/>
            <a:chOff x="0" y="0"/>
            <a:chExt cx="82639" cy="120430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48768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">
                  <a:moveTo>
                    <a:pt x="0" y="0"/>
                  </a:moveTo>
                  <a:lnTo>
                    <a:pt x="48768" y="0"/>
                  </a:lnTo>
                  <a:lnTo>
                    <a:pt x="4876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2550" cy="1204216"/>
            </a:xfrm>
            <a:custGeom>
              <a:avLst/>
              <a:gdLst/>
              <a:ahLst/>
              <a:cxnLst/>
              <a:rect r="r" b="b" t="t" l="l"/>
              <a:pathLst>
                <a:path h="1204216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187323"/>
                  </a:lnTo>
                  <a:cubicBezTo>
                    <a:pt x="82550" y="1196721"/>
                    <a:pt x="74930" y="1204214"/>
                    <a:pt x="65659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65659" y="1170432"/>
                  </a:lnTo>
                  <a:lnTo>
                    <a:pt x="65659" y="1187323"/>
                  </a:lnTo>
                  <a:lnTo>
                    <a:pt x="48768" y="1187323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99616" y="4956048"/>
            <a:ext cx="1280160" cy="402336"/>
            <a:chOff x="0" y="0"/>
            <a:chExt cx="1706880" cy="5364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06880" cy="536448"/>
            </a:xfrm>
            <a:custGeom>
              <a:avLst/>
              <a:gdLst/>
              <a:ahLst/>
              <a:cxnLst/>
              <a:rect r="r" b="b" t="t" l="l"/>
              <a:pathLst>
                <a:path h="53644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706880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Aug 1998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871216" y="4964430"/>
            <a:ext cx="530352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Russian debt default — models fail catastrophically. Loses $4.6B in 4 months.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93143" y="6150359"/>
            <a:ext cx="427739" cy="427739"/>
            <a:chOff x="0" y="0"/>
            <a:chExt cx="570319" cy="57031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76023" y="6516119"/>
            <a:ext cx="61979" cy="903227"/>
            <a:chOff x="0" y="0"/>
            <a:chExt cx="82639" cy="120430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48768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">
                  <a:moveTo>
                    <a:pt x="0" y="0"/>
                  </a:moveTo>
                  <a:lnTo>
                    <a:pt x="48768" y="0"/>
                  </a:lnTo>
                  <a:lnTo>
                    <a:pt x="4876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550" cy="1204216"/>
            </a:xfrm>
            <a:custGeom>
              <a:avLst/>
              <a:gdLst/>
              <a:ahLst/>
              <a:cxnLst/>
              <a:rect r="r" b="b" t="t" l="l"/>
              <a:pathLst>
                <a:path h="1204216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187323"/>
                  </a:lnTo>
                  <a:cubicBezTo>
                    <a:pt x="82550" y="1196721"/>
                    <a:pt x="74930" y="1204214"/>
                    <a:pt x="65659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65659" y="1170432"/>
                  </a:lnTo>
                  <a:lnTo>
                    <a:pt x="65659" y="1187323"/>
                  </a:lnTo>
                  <a:lnTo>
                    <a:pt x="48768" y="1187323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99616" y="6144768"/>
            <a:ext cx="1280160" cy="402336"/>
            <a:chOff x="0" y="0"/>
            <a:chExt cx="1706880" cy="5364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0" cy="536448"/>
            </a:xfrm>
            <a:custGeom>
              <a:avLst/>
              <a:gdLst/>
              <a:ahLst/>
              <a:cxnLst/>
              <a:rect r="r" b="b" t="t" l="l"/>
              <a:pathLst>
                <a:path h="53644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706880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Sep 1998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2871216" y="6153150"/>
            <a:ext cx="530352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Federal Reserve orchestrates $3.6B emergency bailout to prevent global contagion.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93143" y="7339079"/>
            <a:ext cx="427739" cy="427739"/>
            <a:chOff x="0" y="0"/>
            <a:chExt cx="570319" cy="57031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76023" y="7704839"/>
            <a:ext cx="61979" cy="903227"/>
            <a:chOff x="0" y="0"/>
            <a:chExt cx="82639" cy="120430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48768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">
                  <a:moveTo>
                    <a:pt x="0" y="0"/>
                  </a:moveTo>
                  <a:lnTo>
                    <a:pt x="48768" y="0"/>
                  </a:lnTo>
                  <a:lnTo>
                    <a:pt x="4876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550" cy="1204216"/>
            </a:xfrm>
            <a:custGeom>
              <a:avLst/>
              <a:gdLst/>
              <a:ahLst/>
              <a:cxnLst/>
              <a:rect r="r" b="b" t="t" l="l"/>
              <a:pathLst>
                <a:path h="1204216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187323"/>
                  </a:lnTo>
                  <a:cubicBezTo>
                    <a:pt x="82550" y="1196721"/>
                    <a:pt x="74930" y="1204214"/>
                    <a:pt x="65659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65659" y="1170432"/>
                  </a:lnTo>
                  <a:lnTo>
                    <a:pt x="65659" y="1187323"/>
                  </a:lnTo>
                  <a:lnTo>
                    <a:pt x="48768" y="1187323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99616" y="7333488"/>
            <a:ext cx="1280160" cy="402336"/>
            <a:chOff x="0" y="0"/>
            <a:chExt cx="1706880" cy="5364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06880" cy="536448"/>
            </a:xfrm>
            <a:custGeom>
              <a:avLst/>
              <a:gdLst/>
              <a:ahLst/>
              <a:cxnLst/>
              <a:rect r="r" b="b" t="t" l="l"/>
              <a:pathLst>
                <a:path h="53644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706880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2000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2871216" y="7341870"/>
            <a:ext cx="530352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LTCM fully dissolved. The 'smartest minds' lost nearly everything.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131303" y="1541783"/>
            <a:ext cx="8437883" cy="7523483"/>
            <a:chOff x="0" y="0"/>
            <a:chExt cx="11250511" cy="1003131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11216640" cy="9997440"/>
            </a:xfrm>
            <a:custGeom>
              <a:avLst/>
              <a:gdLst/>
              <a:ahLst/>
              <a:cxnLst/>
              <a:rect r="r" b="b" t="t" l="l"/>
              <a:pathLst>
                <a:path h="9997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25042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014331"/>
                  </a:lnTo>
                  <a:cubicBezTo>
                    <a:pt x="11250422" y="10023729"/>
                    <a:pt x="11242802" y="10031222"/>
                    <a:pt x="1123353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11233531" y="9997440"/>
                  </a:lnTo>
                  <a:lnTo>
                    <a:pt x="11233531" y="10014331"/>
                  </a:lnTo>
                  <a:lnTo>
                    <a:pt x="11216640" y="100143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131303" y="1541783"/>
            <a:ext cx="8437883" cy="848363"/>
            <a:chOff x="0" y="0"/>
            <a:chExt cx="11250511" cy="113115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11216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6B3310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250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14171"/>
                  </a:lnTo>
                  <a:cubicBezTo>
                    <a:pt x="11250422" y="1123569"/>
                    <a:pt x="11242802" y="1131062"/>
                    <a:pt x="11233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233531" y="1097280"/>
                  </a:lnTo>
                  <a:lnTo>
                    <a:pt x="11233531" y="1114171"/>
                  </a:lnTo>
                  <a:lnTo>
                    <a:pt x="11216640" y="111417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31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144000" y="1554480"/>
            <a:ext cx="8412480" cy="822960"/>
            <a:chOff x="0" y="0"/>
            <a:chExt cx="11216640" cy="10972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216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180" r="0" b="-14918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112166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OVERCONFIDENCE FACTORS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314183" y="2511047"/>
            <a:ext cx="153419" cy="1031243"/>
            <a:chOff x="0" y="0"/>
            <a:chExt cx="204559" cy="137499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044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58011"/>
                  </a:lnTo>
                  <a:cubicBezTo>
                    <a:pt x="204470" y="1367409"/>
                    <a:pt x="196850" y="1374902"/>
                    <a:pt x="1875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87579" y="1341120"/>
                  </a:lnTo>
                  <a:lnTo>
                    <a:pt x="187579" y="1358011"/>
                  </a:lnTo>
                  <a:lnTo>
                    <a:pt x="170688" y="135801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564624" y="2505456"/>
            <a:ext cx="7863840" cy="512064"/>
            <a:chOff x="0" y="0"/>
            <a:chExt cx="1048512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1048512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 Overconfidence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564624" y="2962656"/>
            <a:ext cx="7863840" cy="914400"/>
            <a:chOff x="0" y="0"/>
            <a:chExt cx="10485120" cy="12192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104851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Believed quantitative models could perfectly predict price convergence, ignoring black swan events.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314183" y="4010663"/>
            <a:ext cx="153419" cy="1031243"/>
            <a:chOff x="0" y="0"/>
            <a:chExt cx="204559" cy="137499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44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58011"/>
                  </a:lnTo>
                  <a:cubicBezTo>
                    <a:pt x="204470" y="1367409"/>
                    <a:pt x="196850" y="1374902"/>
                    <a:pt x="1875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87579" y="1341120"/>
                  </a:lnTo>
                  <a:lnTo>
                    <a:pt x="187579" y="1358011"/>
                  </a:lnTo>
                  <a:lnTo>
                    <a:pt x="170688" y="135801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564624" y="4005072"/>
            <a:ext cx="7863840" cy="512064"/>
            <a:chOff x="0" y="0"/>
            <a:chExt cx="10485120" cy="68275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1048512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Expert Overplacement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564624" y="4462272"/>
            <a:ext cx="7863840" cy="914400"/>
            <a:chOff x="0" y="0"/>
            <a:chExt cx="10485120" cy="12192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104851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Having 2 Nobel Prize winners created institutional overconfidence — academic credentials ≠ market mastery.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314183" y="5510279"/>
            <a:ext cx="153419" cy="1031243"/>
            <a:chOff x="0" y="0"/>
            <a:chExt cx="204559" cy="137499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044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58011"/>
                  </a:lnTo>
                  <a:cubicBezTo>
                    <a:pt x="204470" y="1367409"/>
                    <a:pt x="196850" y="1374902"/>
                    <a:pt x="1875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87579" y="1341120"/>
                  </a:lnTo>
                  <a:lnTo>
                    <a:pt x="187579" y="1358011"/>
                  </a:lnTo>
                  <a:lnTo>
                    <a:pt x="170688" y="135801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564624" y="5504688"/>
            <a:ext cx="7863840" cy="512064"/>
            <a:chOff x="0" y="0"/>
            <a:chExt cx="10485120" cy="6827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1048512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Excessive Leverage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564624" y="5961888"/>
            <a:ext cx="7863840" cy="914400"/>
            <a:chOff x="0" y="0"/>
            <a:chExt cx="10485120" cy="12192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104851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28:1 leverage ratio shows extreme overconfidence in risk models and certainty of outcomes.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314183" y="7009895"/>
            <a:ext cx="153419" cy="1031243"/>
            <a:chOff x="0" y="0"/>
            <a:chExt cx="204559" cy="137499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044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58011"/>
                  </a:lnTo>
                  <a:cubicBezTo>
                    <a:pt x="204470" y="1367409"/>
                    <a:pt x="196850" y="1374902"/>
                    <a:pt x="1875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87579" y="1341120"/>
                  </a:lnTo>
                  <a:lnTo>
                    <a:pt x="187579" y="1358011"/>
                  </a:lnTo>
                  <a:lnTo>
                    <a:pt x="170688" y="135801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564624" y="7004304"/>
            <a:ext cx="7863840" cy="512064"/>
            <a:chOff x="0" y="0"/>
            <a:chExt cx="10485120" cy="68275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9525"/>
              <a:ext cx="1048512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Narrow Confidence Intervals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564624" y="7461504"/>
            <a:ext cx="7863840" cy="914400"/>
            <a:chOff x="0" y="0"/>
            <a:chExt cx="10485120" cy="12192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104851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Risk models underestimated tail risk by over 10×, a classic overprecision error.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Case Study 2: The Dot-Com Bubble (1995–2002)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56032" y="512064"/>
            <a:ext cx="11850624" cy="8375904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731520" y="7918704"/>
            <a:ext cx="9875520" cy="512064"/>
            <a:chOff x="0" y="0"/>
            <a:chExt cx="1316736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67361" cy="682752"/>
            </a:xfrm>
            <a:custGeom>
              <a:avLst/>
              <a:gdLst/>
              <a:ahLst/>
              <a:cxnLst/>
              <a:rect r="r" b="b" t="t" l="l"/>
              <a:pathLst>
                <a:path h="68275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31673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7575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NASDAQ Composite — Dot-Com Bubble &amp; Crash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42983" y="1541783"/>
            <a:ext cx="6609083" cy="1525019"/>
            <a:chOff x="0" y="0"/>
            <a:chExt cx="8812111" cy="20333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87782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8120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2016379"/>
                  </a:lnTo>
                  <a:cubicBezTo>
                    <a:pt x="8812022" y="2025777"/>
                    <a:pt x="8804402" y="2033270"/>
                    <a:pt x="87951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8795131" y="1999488"/>
                  </a:lnTo>
                  <a:lnTo>
                    <a:pt x="8795131" y="2016379"/>
                  </a:lnTo>
                  <a:lnTo>
                    <a:pt x="8778240" y="2016379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247120" y="1609344"/>
            <a:ext cx="1828800" cy="1097280"/>
            <a:chOff x="0" y="0"/>
            <a:chExt cx="243840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438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−78%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93040" y="1645920"/>
            <a:ext cx="4663440" cy="1097280"/>
            <a:chOff x="0" y="0"/>
            <a:chExt cx="621792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1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62179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NASDAQ peak-to-trough decline (2000–2002)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142983" y="4481941"/>
            <a:ext cx="6609083" cy="1525019"/>
            <a:chOff x="0" y="0"/>
            <a:chExt cx="8812111" cy="20333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87782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120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2016379"/>
                  </a:lnTo>
                  <a:cubicBezTo>
                    <a:pt x="8812022" y="2025777"/>
                    <a:pt x="8804402" y="2033270"/>
                    <a:pt x="87951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8795131" y="1999488"/>
                  </a:lnTo>
                  <a:lnTo>
                    <a:pt x="8795131" y="2016379"/>
                  </a:lnTo>
                  <a:lnTo>
                    <a:pt x="8778240" y="2016379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247120" y="4690177"/>
            <a:ext cx="1828800" cy="1097280"/>
            <a:chOff x="0" y="0"/>
            <a:chExt cx="243840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438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$5T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893040" y="4684547"/>
            <a:ext cx="4663440" cy="1097280"/>
            <a:chOff x="0" y="0"/>
            <a:chExt cx="621792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62179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Market cap destroyed in 18 months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142983" y="7323611"/>
            <a:ext cx="6609083" cy="1525019"/>
            <a:chOff x="0" y="0"/>
            <a:chExt cx="8812111" cy="203335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87782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8120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2016379"/>
                  </a:lnTo>
                  <a:cubicBezTo>
                    <a:pt x="8812022" y="2025777"/>
                    <a:pt x="8804402" y="2033270"/>
                    <a:pt x="87951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8795131" y="1999488"/>
                  </a:lnTo>
                  <a:lnTo>
                    <a:pt x="8795131" y="2016379"/>
                  </a:lnTo>
                  <a:lnTo>
                    <a:pt x="8778240" y="2016379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247120" y="7517778"/>
            <a:ext cx="1828800" cy="1097280"/>
            <a:chOff x="0" y="0"/>
            <a:chExt cx="2438400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438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7B3F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52%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893040" y="7526226"/>
            <a:ext cx="4663440" cy="1097280"/>
            <a:chOff x="0" y="0"/>
            <a:chExt cx="6217920" cy="1463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1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62179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Individual investors increased tech exposure at peak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Case Study 3: The Individual Investor — Jesse Livermore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1541783"/>
            <a:ext cx="16850363" cy="1031243"/>
            <a:chOff x="0" y="0"/>
            <a:chExt cx="22467151" cy="1374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6B331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67063" cy="1374902"/>
            </a:xfrm>
            <a:custGeom>
              <a:avLst/>
              <a:gdLst/>
              <a:ahLst/>
              <a:cxnLst/>
              <a:rect r="r" b="b" t="t" l="l"/>
              <a:pathLst>
                <a:path h="137490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358011"/>
                  </a:lnTo>
                  <a:cubicBezTo>
                    <a:pt x="22467063" y="1367409"/>
                    <a:pt x="22459443" y="1374902"/>
                    <a:pt x="2245017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2450171" y="1341120"/>
                  </a:lnTo>
                  <a:lnTo>
                    <a:pt x="22450171" y="1358011"/>
                  </a:lnTo>
                  <a:lnTo>
                    <a:pt x="22433280" y="135801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31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554480"/>
            <a:ext cx="16459200" cy="1005840"/>
            <a:chOff x="0" y="0"/>
            <a:chExt cx="219456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i="true">
                  <a:solidFill>
                    <a:srgbClr val="D4A017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Jesse Livermore: America's greatest speculator — and greatest example of overconfidence destroying a fortune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823" y="2767079"/>
            <a:ext cx="5328923" cy="6243323"/>
            <a:chOff x="0" y="0"/>
            <a:chExt cx="7105231" cy="83244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071360" cy="8290560"/>
            </a:xfrm>
            <a:custGeom>
              <a:avLst/>
              <a:gdLst/>
              <a:ahLst/>
              <a:cxnLst/>
              <a:rect r="r" b="b" t="t" l="l"/>
              <a:pathLst>
                <a:path h="8290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290560"/>
                  </a:lnTo>
                  <a:lnTo>
                    <a:pt x="0" y="8290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05142" cy="8324342"/>
            </a:xfrm>
            <a:custGeom>
              <a:avLst/>
              <a:gdLst/>
              <a:ahLst/>
              <a:cxnLst/>
              <a:rect r="r" b="b" t="t" l="l"/>
              <a:pathLst>
                <a:path h="832434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8307451"/>
                  </a:lnTo>
                  <a:cubicBezTo>
                    <a:pt x="7105142" y="8316849"/>
                    <a:pt x="7097522" y="8324342"/>
                    <a:pt x="7088251" y="8324342"/>
                  </a:cubicBezTo>
                  <a:lnTo>
                    <a:pt x="16891" y="8324342"/>
                  </a:lnTo>
                  <a:cubicBezTo>
                    <a:pt x="7493" y="8324342"/>
                    <a:pt x="0" y="8316722"/>
                    <a:pt x="0" y="830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307451"/>
                  </a:lnTo>
                  <a:lnTo>
                    <a:pt x="16891" y="8307451"/>
                  </a:lnTo>
                  <a:lnTo>
                    <a:pt x="16891" y="8290560"/>
                  </a:lnTo>
                  <a:lnTo>
                    <a:pt x="7088251" y="8290560"/>
                  </a:lnTo>
                  <a:lnTo>
                    <a:pt x="7088251" y="8307451"/>
                  </a:lnTo>
                  <a:lnTo>
                    <a:pt x="7071360" y="83074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18823" y="2767079"/>
            <a:ext cx="5328923" cy="793499"/>
            <a:chOff x="0" y="0"/>
            <a:chExt cx="7105231" cy="10579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0514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041019"/>
                  </a:lnTo>
                  <a:cubicBezTo>
                    <a:pt x="7105142" y="1050417"/>
                    <a:pt x="7097522" y="1057910"/>
                    <a:pt x="708825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088251" y="1024128"/>
                  </a:lnTo>
                  <a:lnTo>
                    <a:pt x="7088251" y="1041019"/>
                  </a:lnTo>
                  <a:lnTo>
                    <a:pt x="7071360" y="104101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2779776"/>
            <a:ext cx="4937760" cy="768096"/>
            <a:chOff x="0" y="0"/>
            <a:chExt cx="6583680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583680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Career Highs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97280" y="3730371"/>
            <a:ext cx="4663440" cy="503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Made $3M shorting the 1907 panic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Profited $100M during 1929 crash (equal to $1.5B today)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Called 'Boy Plunger' — celebrity status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Wrote influential trading book 'Reminiscences of a Stock Operator'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388103" y="2767079"/>
            <a:ext cx="5328923" cy="6243323"/>
            <a:chOff x="0" y="0"/>
            <a:chExt cx="7105231" cy="83244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7071360" cy="8290560"/>
            </a:xfrm>
            <a:custGeom>
              <a:avLst/>
              <a:gdLst/>
              <a:ahLst/>
              <a:cxnLst/>
              <a:rect r="r" b="b" t="t" l="l"/>
              <a:pathLst>
                <a:path h="8290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290560"/>
                  </a:lnTo>
                  <a:lnTo>
                    <a:pt x="0" y="8290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05142" cy="8324342"/>
            </a:xfrm>
            <a:custGeom>
              <a:avLst/>
              <a:gdLst/>
              <a:ahLst/>
              <a:cxnLst/>
              <a:rect r="r" b="b" t="t" l="l"/>
              <a:pathLst>
                <a:path h="832434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8307451"/>
                  </a:lnTo>
                  <a:cubicBezTo>
                    <a:pt x="7105142" y="8316849"/>
                    <a:pt x="7097522" y="8324342"/>
                    <a:pt x="7088251" y="8324342"/>
                  </a:cubicBezTo>
                  <a:lnTo>
                    <a:pt x="16891" y="8324342"/>
                  </a:lnTo>
                  <a:cubicBezTo>
                    <a:pt x="7493" y="8324342"/>
                    <a:pt x="0" y="8316722"/>
                    <a:pt x="0" y="830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307451"/>
                  </a:lnTo>
                  <a:lnTo>
                    <a:pt x="16891" y="8307451"/>
                  </a:lnTo>
                  <a:lnTo>
                    <a:pt x="16891" y="8290560"/>
                  </a:lnTo>
                  <a:lnTo>
                    <a:pt x="7088251" y="8290560"/>
                  </a:lnTo>
                  <a:lnTo>
                    <a:pt x="7088251" y="8307451"/>
                  </a:lnTo>
                  <a:lnTo>
                    <a:pt x="7071360" y="83074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388103" y="2767079"/>
            <a:ext cx="5328923" cy="793499"/>
            <a:chOff x="0" y="0"/>
            <a:chExt cx="7105231" cy="10579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0514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041019"/>
                  </a:lnTo>
                  <a:cubicBezTo>
                    <a:pt x="7105142" y="1050417"/>
                    <a:pt x="7097522" y="1057910"/>
                    <a:pt x="708825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088251" y="1024128"/>
                  </a:lnTo>
                  <a:lnTo>
                    <a:pt x="7088251" y="1041019"/>
                  </a:lnTo>
                  <a:lnTo>
                    <a:pt x="7071360" y="104101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583680" y="2779776"/>
            <a:ext cx="4937760" cy="768096"/>
            <a:chOff x="0" y="0"/>
            <a:chExt cx="6583680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3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6583680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Overconfidence Failures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766560" y="3730371"/>
            <a:ext cx="4663440" cy="503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Went bankrupt 3 times despite legendary wins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Violated own trading rules after string of successes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Took enormous concentrated positions beyond risk tolerance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Refused to use stop-losses, believing his judgment was infallible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057383" y="2767079"/>
            <a:ext cx="5328923" cy="6243323"/>
            <a:chOff x="0" y="0"/>
            <a:chExt cx="7105231" cy="83244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7071360" cy="8290560"/>
            </a:xfrm>
            <a:custGeom>
              <a:avLst/>
              <a:gdLst/>
              <a:ahLst/>
              <a:cxnLst/>
              <a:rect r="r" b="b" t="t" l="l"/>
              <a:pathLst>
                <a:path h="8290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290560"/>
                  </a:lnTo>
                  <a:lnTo>
                    <a:pt x="0" y="8290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05142" cy="8324342"/>
            </a:xfrm>
            <a:custGeom>
              <a:avLst/>
              <a:gdLst/>
              <a:ahLst/>
              <a:cxnLst/>
              <a:rect r="r" b="b" t="t" l="l"/>
              <a:pathLst>
                <a:path h="832434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8307451"/>
                  </a:lnTo>
                  <a:cubicBezTo>
                    <a:pt x="7105142" y="8316849"/>
                    <a:pt x="7097522" y="8324342"/>
                    <a:pt x="7088251" y="8324342"/>
                  </a:cubicBezTo>
                  <a:lnTo>
                    <a:pt x="16891" y="8324342"/>
                  </a:lnTo>
                  <a:cubicBezTo>
                    <a:pt x="7493" y="8324342"/>
                    <a:pt x="0" y="8316722"/>
                    <a:pt x="0" y="830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307451"/>
                  </a:lnTo>
                  <a:lnTo>
                    <a:pt x="16891" y="8307451"/>
                  </a:lnTo>
                  <a:lnTo>
                    <a:pt x="16891" y="8290560"/>
                  </a:lnTo>
                  <a:lnTo>
                    <a:pt x="7088251" y="8290560"/>
                  </a:lnTo>
                  <a:lnTo>
                    <a:pt x="7088251" y="8307451"/>
                  </a:lnTo>
                  <a:lnTo>
                    <a:pt x="7071360" y="83074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057383" y="2767079"/>
            <a:ext cx="5328923" cy="793499"/>
            <a:chOff x="0" y="0"/>
            <a:chExt cx="7105231" cy="105799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0514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041019"/>
                  </a:lnTo>
                  <a:cubicBezTo>
                    <a:pt x="7105142" y="1050417"/>
                    <a:pt x="7097522" y="1057910"/>
                    <a:pt x="708825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088251" y="1024128"/>
                  </a:lnTo>
                  <a:lnTo>
                    <a:pt x="7088251" y="1041019"/>
                  </a:lnTo>
                  <a:lnTo>
                    <a:pt x="7071360" y="104101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252960" y="2779776"/>
            <a:ext cx="4937760" cy="768096"/>
            <a:chOff x="0" y="0"/>
            <a:chExt cx="6583680" cy="10241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83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6583680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Lessons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435840" y="3730371"/>
            <a:ext cx="4663440" cy="503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Past success amplifies overconfidence in future calls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Even genius-level traders need systematic risk controls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Confidence in process ≠ confidence in outcomes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Markets reward humility, not hubris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1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-18414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841497" y="5473703"/>
            <a:ext cx="5511803" cy="5511803"/>
            <a:chOff x="0" y="0"/>
            <a:chExt cx="7349071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16103" y="4010663"/>
            <a:ext cx="244859" cy="2219963"/>
            <a:chOff x="0" y="0"/>
            <a:chExt cx="326479" cy="2959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926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6390" cy="2959862"/>
            </a:xfrm>
            <a:custGeom>
              <a:avLst/>
              <a:gdLst/>
              <a:ahLst/>
              <a:cxnLst/>
              <a:rect r="r" b="b" t="t" l="l"/>
              <a:pathLst>
                <a:path h="295986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2942971"/>
                  </a:lnTo>
                  <a:cubicBezTo>
                    <a:pt x="326390" y="2952369"/>
                    <a:pt x="318770" y="2959862"/>
                    <a:pt x="30949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309499" y="2926080"/>
                  </a:lnTo>
                  <a:lnTo>
                    <a:pt x="309499" y="2942971"/>
                  </a:lnTo>
                  <a:lnTo>
                    <a:pt x="292608" y="29429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86000" y="3840480"/>
            <a:ext cx="13716000" cy="1280160"/>
            <a:chOff x="0" y="0"/>
            <a:chExt cx="182880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Analysis:</a:t>
              </a:r>
            </a:p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Quantitative Evidence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86000" y="5303520"/>
            <a:ext cx="13716000" cy="914400"/>
            <a:chOff x="0" y="0"/>
            <a:chExt cx="182880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4A017"/>
                  </a:solidFill>
                  <a:latin typeface="Arial"/>
                  <a:ea typeface="Arial"/>
                  <a:cs typeface="Arial"/>
                  <a:sym typeface="Arial"/>
                </a:rPr>
                <a:t>Research findings and statistical evidence of overconfidence costs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1280160"/>
            <a:ext cx="3657600" cy="2194560"/>
            <a:chOff x="0" y="0"/>
            <a:chExt cx="4876800" cy="292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487680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0"/>
                </a:lnSpc>
              </a:pPr>
              <a:r>
                <a:rPr lang="en-US" sz="16000" b="true">
                  <a:solidFill>
                    <a:srgbClr val="4A20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 Evidence: Overconfidence &amp; Performance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731520" y="2300066"/>
          <a:ext cx="16764000" cy="5791200"/>
        </p:xfrm>
        <a:graphic>
          <a:graphicData uri="http://schemas.openxmlformats.org/drawingml/2006/table">
            <a:tbl>
              <a:tblPr/>
              <a:tblGrid>
                <a:gridCol w="3280459"/>
                <a:gridCol w="1291084"/>
                <a:gridCol w="4003868"/>
                <a:gridCol w="5993243"/>
                <a:gridCol w="2195346"/>
              </a:tblGrid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Study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3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Year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3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Sample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3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Finding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3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Return Impact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310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Barber &amp; Odean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66,465 households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High-turnover investors lag market by 6.5%/year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7B3F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−6.5%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Barber &amp; Odean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35,000 households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 trade 45% more than women; earn 1.4% less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7B3F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−1.4%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Glaser &amp; Weber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3,000 investors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Higher self-assessment = higher overconfidence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7B3F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−2.8%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Statman et al.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Market analysis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Market volume spikes after bull markets (overconfidence)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4A017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Systemic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Grinblatt &amp; Keloharju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Finnish markets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Overconfident investors lose 3.4% more vs. peers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7B3F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−3.4%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Gender Differences in Overconfidence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29184" y="438912"/>
            <a:ext cx="12728448" cy="9436608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11704320" y="1499616"/>
            <a:ext cx="6035040" cy="694944"/>
            <a:chOff x="0" y="0"/>
            <a:chExt cx="8046720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46720" cy="926592"/>
            </a:xfrm>
            <a:custGeom>
              <a:avLst/>
              <a:gdLst/>
              <a:ahLst/>
              <a:cxnLst/>
              <a:rect r="r" b="b" t="t" l="l"/>
              <a:pathLst>
                <a:path h="92659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212" r="0" b="-1192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0467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 Insights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91623" y="2364743"/>
            <a:ext cx="391163" cy="391163"/>
            <a:chOff x="0" y="0"/>
            <a:chExt cx="521551" cy="5215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161520" y="2322576"/>
            <a:ext cx="5486400" cy="1005840"/>
            <a:chOff x="0" y="0"/>
            <a:chExt cx="731520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73152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Men trade 45% more than women (Barber &amp; Odean, 2001)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91623" y="3608327"/>
            <a:ext cx="391163" cy="391163"/>
            <a:chOff x="0" y="0"/>
            <a:chExt cx="521551" cy="5215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161520" y="3566160"/>
            <a:ext cx="5486400" cy="1005840"/>
            <a:chOff x="0" y="0"/>
            <a:chExt cx="7315200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73152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Women outperform men by 1.4% net of costs annually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91623" y="4851911"/>
            <a:ext cx="391163" cy="391163"/>
            <a:chOff x="0" y="0"/>
            <a:chExt cx="521551" cy="5215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161520" y="4809744"/>
            <a:ext cx="5486400" cy="1005840"/>
            <a:chOff x="0" y="0"/>
            <a:chExt cx="7315200" cy="1341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73152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Male overconfidence is particularly pronounced in financial domains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91623" y="6095495"/>
            <a:ext cx="391163" cy="391163"/>
            <a:chOff x="0" y="0"/>
            <a:chExt cx="521551" cy="5215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161520" y="6053328"/>
            <a:ext cx="5486400" cy="1005840"/>
            <a:chOff x="0" y="0"/>
            <a:chExt cx="7315200" cy="1341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73152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Effect is stronger for single men vs. married men (36% more trading)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691623" y="7339079"/>
            <a:ext cx="391163" cy="391163"/>
            <a:chOff x="0" y="0"/>
            <a:chExt cx="521551" cy="5215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161520" y="7296912"/>
            <a:ext cx="5486400" cy="1005840"/>
            <a:chOff x="0" y="0"/>
            <a:chExt cx="731520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73152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Women more likely to seek financial advice and follow it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1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-18414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841497" y="5473703"/>
            <a:ext cx="5511803" cy="5511803"/>
            <a:chOff x="0" y="0"/>
            <a:chExt cx="7349071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16103" y="4010663"/>
            <a:ext cx="244859" cy="2219963"/>
            <a:chOff x="0" y="0"/>
            <a:chExt cx="326479" cy="2959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926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6390" cy="2959862"/>
            </a:xfrm>
            <a:custGeom>
              <a:avLst/>
              <a:gdLst/>
              <a:ahLst/>
              <a:cxnLst/>
              <a:rect r="r" b="b" t="t" l="l"/>
              <a:pathLst>
                <a:path h="295986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2942971"/>
                  </a:lnTo>
                  <a:cubicBezTo>
                    <a:pt x="326390" y="2952369"/>
                    <a:pt x="318770" y="2959862"/>
                    <a:pt x="30949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309499" y="2926080"/>
                  </a:lnTo>
                  <a:lnTo>
                    <a:pt x="309499" y="2942971"/>
                  </a:lnTo>
                  <a:lnTo>
                    <a:pt x="292608" y="29429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86000" y="3840480"/>
            <a:ext cx="13716000" cy="1280160"/>
            <a:chOff x="0" y="0"/>
            <a:chExt cx="182880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Strategies to Mitigate</a:t>
              </a:r>
            </a:p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Overconfidence Bias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86000" y="5303520"/>
            <a:ext cx="13716000" cy="914400"/>
            <a:chOff x="0" y="0"/>
            <a:chExt cx="182880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4A017"/>
                  </a:solidFill>
                  <a:latin typeface="Arial"/>
                  <a:ea typeface="Arial"/>
                  <a:cs typeface="Arial"/>
                  <a:sym typeface="Arial"/>
                </a:rPr>
                <a:t>Practical tools and frameworks for rational investing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1280160"/>
            <a:ext cx="3657600" cy="2194560"/>
            <a:chOff x="0" y="0"/>
            <a:chExt cx="4876800" cy="292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487680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0"/>
                </a:lnSpc>
              </a:pPr>
              <a:r>
                <a:rPr lang="en-US" sz="16000" b="true">
                  <a:solidFill>
                    <a:srgbClr val="4A20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 Proven Strategies to Combat Overconfidence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1596647"/>
            <a:ext cx="5420363" cy="3591563"/>
            <a:chOff x="0" y="0"/>
            <a:chExt cx="7227151" cy="4788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193281" cy="4754880"/>
            </a:xfrm>
            <a:custGeom>
              <a:avLst/>
              <a:gdLst/>
              <a:ahLst/>
              <a:cxnLst/>
              <a:rect r="r" b="b" t="t" l="l"/>
              <a:pathLst>
                <a:path h="47548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5E6D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7062" cy="4788662"/>
            </a:xfrm>
            <a:custGeom>
              <a:avLst/>
              <a:gdLst/>
              <a:ahLst/>
              <a:cxnLst/>
              <a:rect r="r" b="b" t="t" l="l"/>
              <a:pathLst>
                <a:path h="47886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771771"/>
                  </a:lnTo>
                  <a:cubicBezTo>
                    <a:pt x="7227062" y="4781169"/>
                    <a:pt x="7219442" y="4788662"/>
                    <a:pt x="7210172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210172" y="4754880"/>
                  </a:lnTo>
                  <a:lnTo>
                    <a:pt x="7210172" y="4771771"/>
                  </a:lnTo>
                  <a:lnTo>
                    <a:pt x="7193280" y="47717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D5B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1596647"/>
            <a:ext cx="5420363" cy="848363"/>
            <a:chOff x="0" y="0"/>
            <a:chExt cx="7227151" cy="1131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1932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27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114171"/>
                  </a:lnTo>
                  <a:cubicBezTo>
                    <a:pt x="7227062" y="1123569"/>
                    <a:pt x="7219442" y="1131062"/>
                    <a:pt x="72101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210172" y="1097280"/>
                  </a:lnTo>
                  <a:lnTo>
                    <a:pt x="7210172" y="1114171"/>
                  </a:lnTo>
                  <a:lnTo>
                    <a:pt x="7193280" y="11141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682496"/>
            <a:ext cx="5029200" cy="694944"/>
            <a:chOff x="0" y="0"/>
            <a:chExt cx="670560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0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10" r="0" b="-910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70560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📋  Keep a Trading Journal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596515"/>
            <a:ext cx="484632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Document every trade rationale. Review monthly to identify patterns of overconfidence and recalibrate.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388103" y="1596647"/>
            <a:ext cx="5420363" cy="3591563"/>
            <a:chOff x="0" y="0"/>
            <a:chExt cx="7227151" cy="47887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7193281" cy="4754880"/>
            </a:xfrm>
            <a:custGeom>
              <a:avLst/>
              <a:gdLst/>
              <a:ahLst/>
              <a:cxnLst/>
              <a:rect r="r" b="b" t="t" l="l"/>
              <a:pathLst>
                <a:path h="47548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5E6D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27062" cy="4788662"/>
            </a:xfrm>
            <a:custGeom>
              <a:avLst/>
              <a:gdLst/>
              <a:ahLst/>
              <a:cxnLst/>
              <a:rect r="r" b="b" t="t" l="l"/>
              <a:pathLst>
                <a:path h="47886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771771"/>
                  </a:lnTo>
                  <a:cubicBezTo>
                    <a:pt x="7227062" y="4781169"/>
                    <a:pt x="7219442" y="4788662"/>
                    <a:pt x="7210172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210172" y="4754880"/>
                  </a:lnTo>
                  <a:lnTo>
                    <a:pt x="7210172" y="4771771"/>
                  </a:lnTo>
                  <a:lnTo>
                    <a:pt x="7193280" y="47717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D5B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388103" y="1596647"/>
            <a:ext cx="5420363" cy="848363"/>
            <a:chOff x="0" y="0"/>
            <a:chExt cx="7227151" cy="11311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71932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27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114171"/>
                  </a:lnTo>
                  <a:cubicBezTo>
                    <a:pt x="7227062" y="1123569"/>
                    <a:pt x="7219442" y="1131062"/>
                    <a:pt x="72101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210172" y="1097280"/>
                  </a:lnTo>
                  <a:lnTo>
                    <a:pt x="7210172" y="1114171"/>
                  </a:lnTo>
                  <a:lnTo>
                    <a:pt x="7193280" y="11141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83680" y="1682496"/>
            <a:ext cx="5029200" cy="694944"/>
            <a:chOff x="0" y="0"/>
            <a:chExt cx="670560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0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10" r="0" b="-9101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70560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⚖️  Pre-Mortem Analysis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675120" y="2596515"/>
            <a:ext cx="484632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Before any major trade, ask: 'If this fails, why?' Forces consideration of downside scenarios.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148823" y="1596647"/>
            <a:ext cx="5420363" cy="3591563"/>
            <a:chOff x="0" y="0"/>
            <a:chExt cx="7227151" cy="47887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7193281" cy="4754880"/>
            </a:xfrm>
            <a:custGeom>
              <a:avLst/>
              <a:gdLst/>
              <a:ahLst/>
              <a:cxnLst/>
              <a:rect r="r" b="b" t="t" l="l"/>
              <a:pathLst>
                <a:path h="47548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5E6D3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27062" cy="4788662"/>
            </a:xfrm>
            <a:custGeom>
              <a:avLst/>
              <a:gdLst/>
              <a:ahLst/>
              <a:cxnLst/>
              <a:rect r="r" b="b" t="t" l="l"/>
              <a:pathLst>
                <a:path h="47886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771771"/>
                  </a:lnTo>
                  <a:cubicBezTo>
                    <a:pt x="7227062" y="4781169"/>
                    <a:pt x="7219442" y="4788662"/>
                    <a:pt x="7210172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210172" y="4754880"/>
                  </a:lnTo>
                  <a:lnTo>
                    <a:pt x="7210172" y="4771771"/>
                  </a:lnTo>
                  <a:lnTo>
                    <a:pt x="7193280" y="47717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D5B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148823" y="1596647"/>
            <a:ext cx="5420363" cy="848363"/>
            <a:chOff x="0" y="0"/>
            <a:chExt cx="7227151" cy="11311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71932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27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114171"/>
                  </a:lnTo>
                  <a:cubicBezTo>
                    <a:pt x="7227062" y="1123569"/>
                    <a:pt x="7219442" y="1131062"/>
                    <a:pt x="72101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210172" y="1097280"/>
                  </a:lnTo>
                  <a:lnTo>
                    <a:pt x="7210172" y="1114171"/>
                  </a:lnTo>
                  <a:lnTo>
                    <a:pt x="7193280" y="11141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344400" y="1682496"/>
            <a:ext cx="5029200" cy="694944"/>
            <a:chOff x="0" y="0"/>
            <a:chExt cx="6705600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0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10" r="0" b="-9101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670560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🎯  Set Probabilistic Goals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435840" y="2596515"/>
            <a:ext cx="484632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Replace specific price targets ('stock will hit $150') with probability ranges ('60% chance above $130').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27383" y="5528567"/>
            <a:ext cx="5420363" cy="3591563"/>
            <a:chOff x="0" y="0"/>
            <a:chExt cx="7227151" cy="47887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193281" cy="4754880"/>
            </a:xfrm>
            <a:custGeom>
              <a:avLst/>
              <a:gdLst/>
              <a:ahLst/>
              <a:cxnLst/>
              <a:rect r="r" b="b" t="t" l="l"/>
              <a:pathLst>
                <a:path h="47548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5E6D3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227062" cy="4788662"/>
            </a:xfrm>
            <a:custGeom>
              <a:avLst/>
              <a:gdLst/>
              <a:ahLst/>
              <a:cxnLst/>
              <a:rect r="r" b="b" t="t" l="l"/>
              <a:pathLst>
                <a:path h="47886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771771"/>
                  </a:lnTo>
                  <a:cubicBezTo>
                    <a:pt x="7227062" y="4781169"/>
                    <a:pt x="7219442" y="4788662"/>
                    <a:pt x="7210172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210172" y="4754880"/>
                  </a:lnTo>
                  <a:lnTo>
                    <a:pt x="7210172" y="4771771"/>
                  </a:lnTo>
                  <a:lnTo>
                    <a:pt x="7193280" y="47717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D5B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27383" y="5528567"/>
            <a:ext cx="5420363" cy="848363"/>
            <a:chOff x="0" y="0"/>
            <a:chExt cx="7227151" cy="11311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71932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227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114171"/>
                  </a:lnTo>
                  <a:cubicBezTo>
                    <a:pt x="7227062" y="1123569"/>
                    <a:pt x="7219442" y="1131062"/>
                    <a:pt x="72101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210172" y="1097280"/>
                  </a:lnTo>
                  <a:lnTo>
                    <a:pt x="7210172" y="1114171"/>
                  </a:lnTo>
                  <a:lnTo>
                    <a:pt x="7193280" y="11141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22960" y="5614416"/>
            <a:ext cx="5029200" cy="694944"/>
            <a:chOff x="0" y="0"/>
            <a:chExt cx="670560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0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10" r="0" b="-9101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670560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📊  Rules-Based Investing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14400" y="6528435"/>
            <a:ext cx="484632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 systematic rules (e.g., rebalance quarterly, max 5% in any one stock) to override emotional confidence.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388103" y="5528567"/>
            <a:ext cx="5420363" cy="3591563"/>
            <a:chOff x="0" y="0"/>
            <a:chExt cx="7227151" cy="478875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7193281" cy="4754880"/>
            </a:xfrm>
            <a:custGeom>
              <a:avLst/>
              <a:gdLst/>
              <a:ahLst/>
              <a:cxnLst/>
              <a:rect r="r" b="b" t="t" l="l"/>
              <a:pathLst>
                <a:path h="47548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5E6D3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227062" cy="4788662"/>
            </a:xfrm>
            <a:custGeom>
              <a:avLst/>
              <a:gdLst/>
              <a:ahLst/>
              <a:cxnLst/>
              <a:rect r="r" b="b" t="t" l="l"/>
              <a:pathLst>
                <a:path h="47886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771771"/>
                  </a:lnTo>
                  <a:cubicBezTo>
                    <a:pt x="7227062" y="4781169"/>
                    <a:pt x="7219442" y="4788662"/>
                    <a:pt x="7210172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210172" y="4754880"/>
                  </a:lnTo>
                  <a:lnTo>
                    <a:pt x="7210172" y="4771771"/>
                  </a:lnTo>
                  <a:lnTo>
                    <a:pt x="7193280" y="47717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D5B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388103" y="5528567"/>
            <a:ext cx="5420363" cy="848363"/>
            <a:chOff x="0" y="0"/>
            <a:chExt cx="7227151" cy="113115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71932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227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114171"/>
                  </a:lnTo>
                  <a:cubicBezTo>
                    <a:pt x="7227062" y="1123569"/>
                    <a:pt x="7219442" y="1131062"/>
                    <a:pt x="72101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210172" y="1097280"/>
                  </a:lnTo>
                  <a:lnTo>
                    <a:pt x="7210172" y="1114171"/>
                  </a:lnTo>
                  <a:lnTo>
                    <a:pt x="7193280" y="11141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583680" y="5614416"/>
            <a:ext cx="5029200" cy="694944"/>
            <a:chOff x="0" y="0"/>
            <a:chExt cx="6705600" cy="9265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70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10" r="0" b="-9101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670560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🔍  Seek Disconfirming Evidence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6675120" y="6528435"/>
            <a:ext cx="484632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Actively look for information that contradicts your thesis. Assign a 'devil's advocate' role.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2148823" y="5528567"/>
            <a:ext cx="5420363" cy="3591563"/>
            <a:chOff x="0" y="0"/>
            <a:chExt cx="7227151" cy="478875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7193281" cy="4754880"/>
            </a:xfrm>
            <a:custGeom>
              <a:avLst/>
              <a:gdLst/>
              <a:ahLst/>
              <a:cxnLst/>
              <a:rect r="r" b="b" t="t" l="l"/>
              <a:pathLst>
                <a:path h="47548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5E6D3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227062" cy="4788662"/>
            </a:xfrm>
            <a:custGeom>
              <a:avLst/>
              <a:gdLst/>
              <a:ahLst/>
              <a:cxnLst/>
              <a:rect r="r" b="b" t="t" l="l"/>
              <a:pathLst>
                <a:path h="47886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771771"/>
                  </a:lnTo>
                  <a:cubicBezTo>
                    <a:pt x="7227062" y="4781169"/>
                    <a:pt x="7219442" y="4788662"/>
                    <a:pt x="7210172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210172" y="4754880"/>
                  </a:lnTo>
                  <a:lnTo>
                    <a:pt x="7210172" y="4771771"/>
                  </a:lnTo>
                  <a:lnTo>
                    <a:pt x="7193280" y="47717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D5B8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148823" y="5528567"/>
            <a:ext cx="5420363" cy="848363"/>
            <a:chOff x="0" y="0"/>
            <a:chExt cx="7227151" cy="113115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71932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227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114171"/>
                  </a:lnTo>
                  <a:cubicBezTo>
                    <a:pt x="7227062" y="1123569"/>
                    <a:pt x="7219442" y="1131062"/>
                    <a:pt x="72101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210172" y="1097280"/>
                  </a:lnTo>
                  <a:lnTo>
                    <a:pt x="7210172" y="1114171"/>
                  </a:lnTo>
                  <a:lnTo>
                    <a:pt x="7193280" y="11141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344400" y="5614416"/>
            <a:ext cx="5029200" cy="694944"/>
            <a:chOff x="0" y="0"/>
            <a:chExt cx="6705600" cy="9265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70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10" r="0" b="-9101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670560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🤝  Use Investment Committees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2435840" y="6528435"/>
            <a:ext cx="484632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Group decisions counteract individual overconfidence — diverse perspectives improve forecast accuracy.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B.I.A.S. Reduction Framework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1541783"/>
            <a:ext cx="16850363" cy="1817627"/>
            <a:chOff x="0" y="0"/>
            <a:chExt cx="22467151" cy="24235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433280" cy="2389632"/>
            </a:xfrm>
            <a:custGeom>
              <a:avLst/>
              <a:gdLst/>
              <a:ahLst/>
              <a:cxnLst/>
              <a:rect r="r" b="b" t="t" l="l"/>
              <a:pathLst>
                <a:path h="238963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67063" cy="2423414"/>
            </a:xfrm>
            <a:custGeom>
              <a:avLst/>
              <a:gdLst/>
              <a:ahLst/>
              <a:cxnLst/>
              <a:rect r="r" b="b" t="t" l="l"/>
              <a:pathLst>
                <a:path h="242341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2406523"/>
                  </a:lnTo>
                  <a:cubicBezTo>
                    <a:pt x="22467063" y="2415921"/>
                    <a:pt x="22459443" y="2423414"/>
                    <a:pt x="2245017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22450171" y="2389632"/>
                  </a:lnTo>
                  <a:lnTo>
                    <a:pt x="22450171" y="2406523"/>
                  </a:lnTo>
                  <a:lnTo>
                    <a:pt x="22433280" y="240652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1541783"/>
            <a:ext cx="1579883" cy="1817627"/>
            <a:chOff x="0" y="0"/>
            <a:chExt cx="2106511" cy="24235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072640" cy="2389632"/>
            </a:xfrm>
            <a:custGeom>
              <a:avLst/>
              <a:gdLst/>
              <a:ahLst/>
              <a:cxnLst/>
              <a:rect r="r" b="b" t="t" l="l"/>
              <a:pathLst>
                <a:path h="238963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6422" cy="2423414"/>
            </a:xfrm>
            <a:custGeom>
              <a:avLst/>
              <a:gdLst/>
              <a:ahLst/>
              <a:cxnLst/>
              <a:rect r="r" b="b" t="t" l="l"/>
              <a:pathLst>
                <a:path h="2423414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2406523"/>
                  </a:lnTo>
                  <a:cubicBezTo>
                    <a:pt x="2106422" y="2415921"/>
                    <a:pt x="2098802" y="2423414"/>
                    <a:pt x="208953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2089531" y="2389632"/>
                  </a:lnTo>
                  <a:lnTo>
                    <a:pt x="2089531" y="2406523"/>
                  </a:lnTo>
                  <a:lnTo>
                    <a:pt x="2072640" y="240652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554480"/>
            <a:ext cx="1554480" cy="1792224"/>
            <a:chOff x="0" y="0"/>
            <a:chExt cx="2072640" cy="23896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2640" cy="2389632"/>
            </a:xfrm>
            <a:custGeom>
              <a:avLst/>
              <a:gdLst/>
              <a:ahLst/>
              <a:cxnLst/>
              <a:rect r="r" b="b" t="t" l="l"/>
              <a:pathLst>
                <a:path h="238963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7926" t="0" r="-9792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072640" cy="24182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60320" y="1737360"/>
            <a:ext cx="3291840" cy="640080"/>
            <a:chOff x="0" y="0"/>
            <a:chExt cx="438912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3891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BASELINE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651760" y="2431923"/>
            <a:ext cx="1444752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Establish a performance baseline before making predictions. Compare your forecasts to simple index returns. Most investors beat this baseline far less often than they believe.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18823" y="3553463"/>
            <a:ext cx="16850363" cy="1817627"/>
            <a:chOff x="0" y="0"/>
            <a:chExt cx="22467151" cy="24235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22433280" cy="2389632"/>
            </a:xfrm>
            <a:custGeom>
              <a:avLst/>
              <a:gdLst/>
              <a:ahLst/>
              <a:cxnLst/>
              <a:rect r="r" b="b" t="t" l="l"/>
              <a:pathLst>
                <a:path h="238963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467063" cy="2423414"/>
            </a:xfrm>
            <a:custGeom>
              <a:avLst/>
              <a:gdLst/>
              <a:ahLst/>
              <a:cxnLst/>
              <a:rect r="r" b="b" t="t" l="l"/>
              <a:pathLst>
                <a:path h="242341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2406523"/>
                  </a:lnTo>
                  <a:cubicBezTo>
                    <a:pt x="22467063" y="2415921"/>
                    <a:pt x="22459443" y="2423414"/>
                    <a:pt x="2245017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22450171" y="2389632"/>
                  </a:lnTo>
                  <a:lnTo>
                    <a:pt x="22450171" y="2406523"/>
                  </a:lnTo>
                  <a:lnTo>
                    <a:pt x="22433280" y="240652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18823" y="3553463"/>
            <a:ext cx="1579883" cy="1817627"/>
            <a:chOff x="0" y="0"/>
            <a:chExt cx="2106511" cy="24235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2072640" cy="2389632"/>
            </a:xfrm>
            <a:custGeom>
              <a:avLst/>
              <a:gdLst/>
              <a:ahLst/>
              <a:cxnLst/>
              <a:rect r="r" b="b" t="t" l="l"/>
              <a:pathLst>
                <a:path h="238963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A0522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06422" cy="2423414"/>
            </a:xfrm>
            <a:custGeom>
              <a:avLst/>
              <a:gdLst/>
              <a:ahLst/>
              <a:cxnLst/>
              <a:rect r="r" b="b" t="t" l="l"/>
              <a:pathLst>
                <a:path h="2423414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2406523"/>
                  </a:lnTo>
                  <a:cubicBezTo>
                    <a:pt x="2106422" y="2415921"/>
                    <a:pt x="2098802" y="2423414"/>
                    <a:pt x="208953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2089531" y="2389632"/>
                  </a:lnTo>
                  <a:lnTo>
                    <a:pt x="2089531" y="2406523"/>
                  </a:lnTo>
                  <a:lnTo>
                    <a:pt x="2072640" y="240652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0522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31520" y="3566160"/>
            <a:ext cx="1554480" cy="1792224"/>
            <a:chOff x="0" y="0"/>
            <a:chExt cx="2072640" cy="23896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72640" cy="2389632"/>
            </a:xfrm>
            <a:custGeom>
              <a:avLst/>
              <a:gdLst/>
              <a:ahLst/>
              <a:cxnLst/>
              <a:rect r="r" b="b" t="t" l="l"/>
              <a:pathLst>
                <a:path h="238963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7926" t="0" r="-9792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072640" cy="24182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560320" y="3749040"/>
            <a:ext cx="3291840" cy="640080"/>
            <a:chOff x="0" y="0"/>
            <a:chExt cx="438912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3891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A052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INVESTIGATE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651760" y="4443603"/>
            <a:ext cx="1444752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Investigate the opposing view with equal rigor. For every bull case, build a detailed bear case. Assign explicit probabilities to each scenario.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18823" y="5565143"/>
            <a:ext cx="16850363" cy="1817627"/>
            <a:chOff x="0" y="0"/>
            <a:chExt cx="22467151" cy="24235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22433280" cy="2389632"/>
            </a:xfrm>
            <a:custGeom>
              <a:avLst/>
              <a:gdLst/>
              <a:ahLst/>
              <a:cxnLst/>
              <a:rect r="r" b="b" t="t" l="l"/>
              <a:pathLst>
                <a:path h="238963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467063" cy="2423414"/>
            </a:xfrm>
            <a:custGeom>
              <a:avLst/>
              <a:gdLst/>
              <a:ahLst/>
              <a:cxnLst/>
              <a:rect r="r" b="b" t="t" l="l"/>
              <a:pathLst>
                <a:path h="242341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2406523"/>
                  </a:lnTo>
                  <a:cubicBezTo>
                    <a:pt x="22467063" y="2415921"/>
                    <a:pt x="22459443" y="2423414"/>
                    <a:pt x="2245017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22450171" y="2389632"/>
                  </a:lnTo>
                  <a:lnTo>
                    <a:pt x="22450171" y="2406523"/>
                  </a:lnTo>
                  <a:lnTo>
                    <a:pt x="22433280" y="240652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18823" y="5565143"/>
            <a:ext cx="1579883" cy="1817627"/>
            <a:chOff x="0" y="0"/>
            <a:chExt cx="2106511" cy="242350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2072640" cy="2389632"/>
            </a:xfrm>
            <a:custGeom>
              <a:avLst/>
              <a:gdLst/>
              <a:ahLst/>
              <a:cxnLst/>
              <a:rect r="r" b="b" t="t" l="l"/>
              <a:pathLst>
                <a:path h="238963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06422" cy="2423414"/>
            </a:xfrm>
            <a:custGeom>
              <a:avLst/>
              <a:gdLst/>
              <a:ahLst/>
              <a:cxnLst/>
              <a:rect r="r" b="b" t="t" l="l"/>
              <a:pathLst>
                <a:path h="2423414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2406523"/>
                  </a:lnTo>
                  <a:cubicBezTo>
                    <a:pt x="2106422" y="2415921"/>
                    <a:pt x="2098802" y="2423414"/>
                    <a:pt x="208953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2089531" y="2389632"/>
                  </a:lnTo>
                  <a:lnTo>
                    <a:pt x="2089531" y="2406523"/>
                  </a:lnTo>
                  <a:lnTo>
                    <a:pt x="2072640" y="240652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31520" y="5577840"/>
            <a:ext cx="1554480" cy="1792224"/>
            <a:chOff x="0" y="0"/>
            <a:chExt cx="2072640" cy="23896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72640" cy="2389632"/>
            </a:xfrm>
            <a:custGeom>
              <a:avLst/>
              <a:gdLst/>
              <a:ahLst/>
              <a:cxnLst/>
              <a:rect r="r" b="b" t="t" l="l"/>
              <a:pathLst>
                <a:path h="238963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7926" t="0" r="-97926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2072640" cy="24182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560320" y="5760720"/>
            <a:ext cx="3291840" cy="640080"/>
            <a:chOff x="0" y="0"/>
            <a:chExt cx="438912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43891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4A01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ACCOUNTABILITY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651760" y="6455283"/>
            <a:ext cx="1444752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Create accountability mechanisms — share predictions with peers, set calendar reminders to review forecasts, maintain a public track record.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718823" y="7576823"/>
            <a:ext cx="16850363" cy="1817627"/>
            <a:chOff x="0" y="0"/>
            <a:chExt cx="22467151" cy="242350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2433280" cy="2389632"/>
            </a:xfrm>
            <a:custGeom>
              <a:avLst/>
              <a:gdLst/>
              <a:ahLst/>
              <a:cxnLst/>
              <a:rect r="r" b="b" t="t" l="l"/>
              <a:pathLst>
                <a:path h="238963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467063" cy="2423414"/>
            </a:xfrm>
            <a:custGeom>
              <a:avLst/>
              <a:gdLst/>
              <a:ahLst/>
              <a:cxnLst/>
              <a:rect r="r" b="b" t="t" l="l"/>
              <a:pathLst>
                <a:path h="242341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2406523"/>
                  </a:lnTo>
                  <a:cubicBezTo>
                    <a:pt x="22467063" y="2415921"/>
                    <a:pt x="22459443" y="2423414"/>
                    <a:pt x="2245017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22450171" y="2389632"/>
                  </a:lnTo>
                  <a:lnTo>
                    <a:pt x="22450171" y="2406523"/>
                  </a:lnTo>
                  <a:lnTo>
                    <a:pt x="22433280" y="240652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18823" y="7576823"/>
            <a:ext cx="1579883" cy="1817627"/>
            <a:chOff x="0" y="0"/>
            <a:chExt cx="2106511" cy="242350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072640" cy="2389632"/>
            </a:xfrm>
            <a:custGeom>
              <a:avLst/>
              <a:gdLst/>
              <a:ahLst/>
              <a:cxnLst/>
              <a:rect r="r" b="b" t="t" l="l"/>
              <a:pathLst>
                <a:path h="238963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B8860B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06422" cy="2423414"/>
            </a:xfrm>
            <a:custGeom>
              <a:avLst/>
              <a:gdLst/>
              <a:ahLst/>
              <a:cxnLst/>
              <a:rect r="r" b="b" t="t" l="l"/>
              <a:pathLst>
                <a:path h="2423414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2406523"/>
                  </a:lnTo>
                  <a:cubicBezTo>
                    <a:pt x="2106422" y="2415921"/>
                    <a:pt x="2098802" y="2423414"/>
                    <a:pt x="208953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2089531" y="2389632"/>
                  </a:lnTo>
                  <a:lnTo>
                    <a:pt x="2089531" y="2406523"/>
                  </a:lnTo>
                  <a:lnTo>
                    <a:pt x="2072640" y="240652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31520" y="7589520"/>
            <a:ext cx="1554480" cy="1792224"/>
            <a:chOff x="0" y="0"/>
            <a:chExt cx="2072640" cy="238963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72640" cy="2389632"/>
            </a:xfrm>
            <a:custGeom>
              <a:avLst/>
              <a:gdLst/>
              <a:ahLst/>
              <a:cxnLst/>
              <a:rect r="r" b="b" t="t" l="l"/>
              <a:pathLst>
                <a:path h="238963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7926" t="0" r="-97926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2072640" cy="24182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560320" y="7772400"/>
            <a:ext cx="3291840" cy="640080"/>
            <a:chOff x="0" y="0"/>
            <a:chExt cx="438912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43891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B8860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SYSTEMATIZE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2651760" y="8466963"/>
            <a:ext cx="1444752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Replace judgment with systems where possible. Quantitative rules, checklists, and automated rebalancing remove emotional overconfidence from decisions.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Technology Solutions &amp; Tools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1596647"/>
            <a:ext cx="8072123" cy="3463547"/>
            <a:chOff x="0" y="0"/>
            <a:chExt cx="10762831" cy="46180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728960" cy="4584192"/>
            </a:xfrm>
            <a:custGeom>
              <a:avLst/>
              <a:gdLst/>
              <a:ahLst/>
              <a:cxnLst/>
              <a:rect r="r" b="b" t="t" l="l"/>
              <a:pathLst>
                <a:path h="45841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742" cy="4617974"/>
            </a:xfrm>
            <a:custGeom>
              <a:avLst/>
              <a:gdLst/>
              <a:ahLst/>
              <a:cxnLst/>
              <a:rect r="r" b="b" t="t" l="l"/>
              <a:pathLst>
                <a:path h="461797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4601083"/>
                  </a:lnTo>
                  <a:cubicBezTo>
                    <a:pt x="10762742" y="4610481"/>
                    <a:pt x="10755122" y="4617974"/>
                    <a:pt x="1074585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10745851" y="4584192"/>
                  </a:lnTo>
                  <a:lnTo>
                    <a:pt x="10745851" y="4601083"/>
                  </a:lnTo>
                  <a:lnTo>
                    <a:pt x="10728960" y="46010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1596647"/>
            <a:ext cx="8072123" cy="756923"/>
            <a:chOff x="0" y="0"/>
            <a:chExt cx="10762831" cy="10092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6B331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627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92251"/>
                  </a:lnTo>
                  <a:cubicBezTo>
                    <a:pt x="10762742" y="1001649"/>
                    <a:pt x="10755122" y="1009142"/>
                    <a:pt x="10745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745851" y="975360"/>
                  </a:lnTo>
                  <a:lnTo>
                    <a:pt x="10745851" y="992251"/>
                  </a:lnTo>
                  <a:lnTo>
                    <a:pt x="10728960" y="9922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31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645920"/>
            <a:ext cx="7680960" cy="694944"/>
            <a:chOff x="0" y="0"/>
            <a:chExt cx="1024128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24128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📊  Portfolio Analytics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6567" y="2547623"/>
            <a:ext cx="244859" cy="244859"/>
            <a:chOff x="0" y="0"/>
            <a:chExt cx="326479" cy="3264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98448" y="2487168"/>
            <a:ext cx="7223760" cy="512064"/>
            <a:chOff x="0" y="0"/>
            <a:chExt cx="963168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Factor exposure analysis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6567" y="3151127"/>
            <a:ext cx="244859" cy="244859"/>
            <a:chOff x="0" y="0"/>
            <a:chExt cx="326479" cy="3264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98448" y="3090672"/>
            <a:ext cx="7223760" cy="512064"/>
            <a:chOff x="0" y="0"/>
            <a:chExt cx="963168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Performance attribution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6567" y="3754631"/>
            <a:ext cx="244859" cy="244859"/>
            <a:chOff x="0" y="0"/>
            <a:chExt cx="326479" cy="3264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98448" y="3694176"/>
            <a:ext cx="7223760" cy="512064"/>
            <a:chOff x="0" y="0"/>
            <a:chExt cx="963168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Benchmark comparison tools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6567" y="4358135"/>
            <a:ext cx="244859" cy="244859"/>
            <a:chOff x="0" y="0"/>
            <a:chExt cx="326479" cy="32647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98448" y="4297680"/>
            <a:ext cx="7223760" cy="512064"/>
            <a:chOff x="0" y="0"/>
            <a:chExt cx="963168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Risk-adjusted return calculators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14183" y="1596647"/>
            <a:ext cx="8072123" cy="3463547"/>
            <a:chOff x="0" y="0"/>
            <a:chExt cx="10762831" cy="461806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728960" cy="4584192"/>
            </a:xfrm>
            <a:custGeom>
              <a:avLst/>
              <a:gdLst/>
              <a:ahLst/>
              <a:cxnLst/>
              <a:rect r="r" b="b" t="t" l="l"/>
              <a:pathLst>
                <a:path h="45841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62742" cy="4617974"/>
            </a:xfrm>
            <a:custGeom>
              <a:avLst/>
              <a:gdLst/>
              <a:ahLst/>
              <a:cxnLst/>
              <a:rect r="r" b="b" t="t" l="l"/>
              <a:pathLst>
                <a:path h="461797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4601083"/>
                  </a:lnTo>
                  <a:cubicBezTo>
                    <a:pt x="10762742" y="4610481"/>
                    <a:pt x="10755122" y="4617974"/>
                    <a:pt x="1074585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10745851" y="4584192"/>
                  </a:lnTo>
                  <a:lnTo>
                    <a:pt x="10745851" y="4601083"/>
                  </a:lnTo>
                  <a:lnTo>
                    <a:pt x="10728960" y="46010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314183" y="1596647"/>
            <a:ext cx="8072123" cy="756923"/>
            <a:chOff x="0" y="0"/>
            <a:chExt cx="10762831" cy="10092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6B331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627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92251"/>
                  </a:lnTo>
                  <a:cubicBezTo>
                    <a:pt x="10762742" y="1001649"/>
                    <a:pt x="10755122" y="1009142"/>
                    <a:pt x="10745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745851" y="975360"/>
                  </a:lnTo>
                  <a:lnTo>
                    <a:pt x="10745851" y="992251"/>
                  </a:lnTo>
                  <a:lnTo>
                    <a:pt x="10728960" y="9922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31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509760" y="1645920"/>
            <a:ext cx="7680960" cy="694944"/>
            <a:chOff x="0" y="0"/>
            <a:chExt cx="1024128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024128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🤖  Behavioral Coaching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43367" y="2547623"/>
            <a:ext cx="244859" cy="244859"/>
            <a:chOff x="0" y="0"/>
            <a:chExt cx="326479" cy="32647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985248" y="2487168"/>
            <a:ext cx="7223760" cy="512064"/>
            <a:chOff x="0" y="0"/>
            <a:chExt cx="963168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AI-powered bias detection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43367" y="3151127"/>
            <a:ext cx="244859" cy="244859"/>
            <a:chOff x="0" y="0"/>
            <a:chExt cx="326479" cy="32647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985248" y="3090672"/>
            <a:ext cx="7223760" cy="512064"/>
            <a:chOff x="0" y="0"/>
            <a:chExt cx="963168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Robo-advisor guardrails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43367" y="3754631"/>
            <a:ext cx="244859" cy="244859"/>
            <a:chOff x="0" y="0"/>
            <a:chExt cx="326479" cy="32647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985248" y="3694176"/>
            <a:ext cx="7223760" cy="512064"/>
            <a:chOff x="0" y="0"/>
            <a:chExt cx="963168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Automated rebalancing alerts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643367" y="4358135"/>
            <a:ext cx="244859" cy="244859"/>
            <a:chOff x="0" y="0"/>
            <a:chExt cx="326479" cy="32647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985248" y="4297680"/>
            <a:ext cx="7223760" cy="512064"/>
            <a:chOff x="0" y="0"/>
            <a:chExt cx="963168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Peer comparison dashboards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27383" y="5437127"/>
            <a:ext cx="8072123" cy="3463547"/>
            <a:chOff x="0" y="0"/>
            <a:chExt cx="10762831" cy="461806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0728960" cy="4584192"/>
            </a:xfrm>
            <a:custGeom>
              <a:avLst/>
              <a:gdLst/>
              <a:ahLst/>
              <a:cxnLst/>
              <a:rect r="r" b="b" t="t" l="l"/>
              <a:pathLst>
                <a:path h="45841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762742" cy="4617974"/>
            </a:xfrm>
            <a:custGeom>
              <a:avLst/>
              <a:gdLst/>
              <a:ahLst/>
              <a:cxnLst/>
              <a:rect r="r" b="b" t="t" l="l"/>
              <a:pathLst>
                <a:path h="461797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4601083"/>
                  </a:lnTo>
                  <a:cubicBezTo>
                    <a:pt x="10762742" y="4610481"/>
                    <a:pt x="10755122" y="4617974"/>
                    <a:pt x="1074585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10745851" y="4584192"/>
                  </a:lnTo>
                  <a:lnTo>
                    <a:pt x="10745851" y="4601083"/>
                  </a:lnTo>
                  <a:lnTo>
                    <a:pt x="10728960" y="46010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27383" y="5437127"/>
            <a:ext cx="8072123" cy="756923"/>
            <a:chOff x="0" y="0"/>
            <a:chExt cx="10762831" cy="100923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6B3310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7627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92251"/>
                  </a:lnTo>
                  <a:cubicBezTo>
                    <a:pt x="10762742" y="1001649"/>
                    <a:pt x="10755122" y="1009142"/>
                    <a:pt x="10745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745851" y="975360"/>
                  </a:lnTo>
                  <a:lnTo>
                    <a:pt x="10745851" y="992251"/>
                  </a:lnTo>
                  <a:lnTo>
                    <a:pt x="10728960" y="9922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31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22960" y="5486400"/>
            <a:ext cx="7680960" cy="694944"/>
            <a:chOff x="0" y="0"/>
            <a:chExt cx="10241280" cy="9265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1024128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🔧  Decision Support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56567" y="6388103"/>
            <a:ext cx="244859" cy="244859"/>
            <a:chOff x="0" y="0"/>
            <a:chExt cx="326479" cy="32647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98448" y="6327648"/>
            <a:ext cx="7223760" cy="512064"/>
            <a:chOff x="0" y="0"/>
            <a:chExt cx="9631680" cy="6827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Pre-trade checklists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56567" y="6991607"/>
            <a:ext cx="244859" cy="244859"/>
            <a:chOff x="0" y="0"/>
            <a:chExt cx="326479" cy="32647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98448" y="6931152"/>
            <a:ext cx="7223760" cy="512064"/>
            <a:chOff x="0" y="0"/>
            <a:chExt cx="963168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Scenario analysis tools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56567" y="7595111"/>
            <a:ext cx="244859" cy="244859"/>
            <a:chOff x="0" y="0"/>
            <a:chExt cx="326479" cy="32647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98448" y="7534656"/>
            <a:ext cx="7223760" cy="512064"/>
            <a:chOff x="0" y="0"/>
            <a:chExt cx="9631680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Monte Carlo simulators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56567" y="8198615"/>
            <a:ext cx="244859" cy="244859"/>
            <a:chOff x="0" y="0"/>
            <a:chExt cx="326479" cy="32647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98448" y="8138160"/>
            <a:ext cx="7223760" cy="512064"/>
            <a:chOff x="0" y="0"/>
            <a:chExt cx="9631680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Historical analogue finders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314183" y="5437127"/>
            <a:ext cx="8072123" cy="3463547"/>
            <a:chOff x="0" y="0"/>
            <a:chExt cx="10762831" cy="461806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0728960" cy="4584192"/>
            </a:xfrm>
            <a:custGeom>
              <a:avLst/>
              <a:gdLst/>
              <a:ahLst/>
              <a:cxnLst/>
              <a:rect r="r" b="b" t="t" l="l"/>
              <a:pathLst>
                <a:path h="45841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762742" cy="4617974"/>
            </a:xfrm>
            <a:custGeom>
              <a:avLst/>
              <a:gdLst/>
              <a:ahLst/>
              <a:cxnLst/>
              <a:rect r="r" b="b" t="t" l="l"/>
              <a:pathLst>
                <a:path h="461797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4601083"/>
                  </a:lnTo>
                  <a:cubicBezTo>
                    <a:pt x="10762742" y="4610481"/>
                    <a:pt x="10755122" y="4617974"/>
                    <a:pt x="1074585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10745851" y="4584192"/>
                  </a:lnTo>
                  <a:lnTo>
                    <a:pt x="10745851" y="4601083"/>
                  </a:lnTo>
                  <a:lnTo>
                    <a:pt x="10728960" y="46010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314183" y="5437127"/>
            <a:ext cx="8072123" cy="756923"/>
            <a:chOff x="0" y="0"/>
            <a:chExt cx="10762831" cy="100923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6B3310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07627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92251"/>
                  </a:lnTo>
                  <a:cubicBezTo>
                    <a:pt x="10762742" y="1001649"/>
                    <a:pt x="10755122" y="1009142"/>
                    <a:pt x="10745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745851" y="975360"/>
                  </a:lnTo>
                  <a:lnTo>
                    <a:pt x="10745851" y="992251"/>
                  </a:lnTo>
                  <a:lnTo>
                    <a:pt x="10728960" y="9922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31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509760" y="5486400"/>
            <a:ext cx="7680960" cy="694944"/>
            <a:chOff x="0" y="0"/>
            <a:chExt cx="10241280" cy="92659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1024128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✅  Accountability Systems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643367" y="6388103"/>
            <a:ext cx="244859" cy="244859"/>
            <a:chOff x="0" y="0"/>
            <a:chExt cx="326479" cy="32647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985248" y="6327648"/>
            <a:ext cx="7223760" cy="512064"/>
            <a:chOff x="0" y="0"/>
            <a:chExt cx="9631680" cy="68275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Investment thesis trackers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643367" y="6991607"/>
            <a:ext cx="244859" cy="244859"/>
            <a:chOff x="0" y="0"/>
            <a:chExt cx="326479" cy="32647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985248" y="6931152"/>
            <a:ext cx="7223760" cy="512064"/>
            <a:chOff x="0" y="0"/>
            <a:chExt cx="9631680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Prediction scoring platforms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643367" y="7595111"/>
            <a:ext cx="244859" cy="244859"/>
            <a:chOff x="0" y="0"/>
            <a:chExt cx="326479" cy="32647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9985248" y="7534656"/>
            <a:ext cx="7223760" cy="512064"/>
            <a:chOff x="0" y="0"/>
            <a:chExt cx="9631680" cy="68275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Journal &amp; audit trails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9643367" y="8198615"/>
            <a:ext cx="244859" cy="244859"/>
            <a:chOff x="0" y="0"/>
            <a:chExt cx="326479" cy="326479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985248" y="8138160"/>
            <a:ext cx="7223760" cy="512064"/>
            <a:chOff x="0" y="0"/>
            <a:chExt cx="9631680" cy="6827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9525"/>
              <a:ext cx="963168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Multi-advisor review workflows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1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-18414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A0522D">
                <a:alpha val="8627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841497" y="5473703"/>
            <a:ext cx="5511803" cy="5511803"/>
            <a:chOff x="0" y="0"/>
            <a:chExt cx="7349071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8B4513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16103" y="4010663"/>
            <a:ext cx="244859" cy="2219963"/>
            <a:chOff x="0" y="0"/>
            <a:chExt cx="326479" cy="2959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926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6390" cy="2959862"/>
            </a:xfrm>
            <a:custGeom>
              <a:avLst/>
              <a:gdLst/>
              <a:ahLst/>
              <a:cxnLst/>
              <a:rect r="r" b="b" t="t" l="l"/>
              <a:pathLst>
                <a:path h="295986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2942971"/>
                  </a:lnTo>
                  <a:cubicBezTo>
                    <a:pt x="326390" y="2952369"/>
                    <a:pt x="318770" y="2959862"/>
                    <a:pt x="30949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309499" y="2926080"/>
                  </a:lnTo>
                  <a:lnTo>
                    <a:pt x="309499" y="2942971"/>
                  </a:lnTo>
                  <a:lnTo>
                    <a:pt x="292608" y="29429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86000" y="3840480"/>
            <a:ext cx="13716000" cy="1280160"/>
            <a:chOff x="0" y="0"/>
            <a:chExt cx="182880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Conclusions &amp;</a:t>
              </a:r>
            </a:p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Recommendations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86000" y="5303520"/>
            <a:ext cx="13716000" cy="914400"/>
            <a:chOff x="0" y="0"/>
            <a:chExt cx="182880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4A017"/>
                  </a:solidFill>
                  <a:latin typeface="Arial"/>
                  <a:ea typeface="Arial"/>
                  <a:cs typeface="Arial"/>
                  <a:sym typeface="Arial"/>
                </a:rPr>
                <a:t>Key takeaways for investors and portfolio managers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1280160"/>
            <a:ext cx="3657600" cy="2194560"/>
            <a:chOff x="0" y="0"/>
            <a:chExt cx="4876800" cy="292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487680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0"/>
                </a:lnSpc>
              </a:pPr>
              <a:r>
                <a:rPr lang="en-US" sz="16000" b="true">
                  <a:solidFill>
                    <a:srgbClr val="4A20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Takeaways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1541783"/>
            <a:ext cx="16850363" cy="1451867"/>
            <a:chOff x="0" y="0"/>
            <a:chExt cx="22467151" cy="19358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433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E6D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67063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918843"/>
                  </a:lnTo>
                  <a:cubicBezTo>
                    <a:pt x="22467063" y="1928241"/>
                    <a:pt x="22459443" y="1935734"/>
                    <a:pt x="2245017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2450171" y="1901952"/>
                  </a:lnTo>
                  <a:lnTo>
                    <a:pt x="22450171" y="1918843"/>
                  </a:lnTo>
                  <a:lnTo>
                    <a:pt x="22433280" y="191884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1541783"/>
            <a:ext cx="1214123" cy="1451867"/>
            <a:chOff x="0" y="0"/>
            <a:chExt cx="1618831" cy="19358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5849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1874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1918843"/>
                  </a:lnTo>
                  <a:cubicBezTo>
                    <a:pt x="1618742" y="1928241"/>
                    <a:pt x="1611122" y="1935734"/>
                    <a:pt x="160185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01851" y="1901952"/>
                  </a:lnTo>
                  <a:lnTo>
                    <a:pt x="1601851" y="1918843"/>
                  </a:lnTo>
                  <a:lnTo>
                    <a:pt x="1584960" y="1918843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554480"/>
            <a:ext cx="1188720" cy="1426464"/>
            <a:chOff x="0" y="0"/>
            <a:chExt cx="1584960" cy="19019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849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58496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48256" y="1682496"/>
            <a:ext cx="6035040" cy="548640"/>
            <a:chOff x="0" y="0"/>
            <a:chExt cx="80467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8046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6B33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Overconfidence is Universal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48256" y="2249424"/>
            <a:ext cx="15179040" cy="585216"/>
            <a:chOff x="0" y="0"/>
            <a:chExt cx="2023872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238720" cy="780288"/>
            </a:xfrm>
            <a:custGeom>
              <a:avLst/>
              <a:gdLst/>
              <a:ahLst/>
              <a:cxnLst/>
              <a:rect r="r" b="b" t="t" l="l"/>
              <a:pathLst>
                <a:path h="780288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393" r="0" b="-45539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02387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Research consistently shows that 70–90% of investors overestimate their abilities, regardless of education or experience.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8823" y="3187703"/>
            <a:ext cx="16850363" cy="1451867"/>
            <a:chOff x="0" y="0"/>
            <a:chExt cx="22467151" cy="19358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22433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467063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918843"/>
                  </a:lnTo>
                  <a:cubicBezTo>
                    <a:pt x="22467063" y="1928241"/>
                    <a:pt x="22459443" y="1935734"/>
                    <a:pt x="2245017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2450171" y="1901952"/>
                  </a:lnTo>
                  <a:lnTo>
                    <a:pt x="22450171" y="1918843"/>
                  </a:lnTo>
                  <a:lnTo>
                    <a:pt x="22433280" y="191884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18823" y="3187703"/>
            <a:ext cx="1214123" cy="1451867"/>
            <a:chOff x="0" y="0"/>
            <a:chExt cx="1618831" cy="19358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5849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1874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1918843"/>
                  </a:lnTo>
                  <a:cubicBezTo>
                    <a:pt x="1618742" y="1928241"/>
                    <a:pt x="1611122" y="1935734"/>
                    <a:pt x="160185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01851" y="1901952"/>
                  </a:lnTo>
                  <a:lnTo>
                    <a:pt x="1601851" y="1918843"/>
                  </a:lnTo>
                  <a:lnTo>
                    <a:pt x="1584960" y="1918843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31520" y="3200400"/>
            <a:ext cx="1188720" cy="1426464"/>
            <a:chOff x="0" y="0"/>
            <a:chExt cx="1584960" cy="19019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849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58496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48256" y="3328416"/>
            <a:ext cx="6035040" cy="548640"/>
            <a:chOff x="0" y="0"/>
            <a:chExt cx="80467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8046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6B33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Cost is Measurable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048256" y="3895344"/>
            <a:ext cx="15179040" cy="585216"/>
            <a:chOff x="0" y="0"/>
            <a:chExt cx="20238720" cy="7802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238720" cy="780288"/>
            </a:xfrm>
            <a:custGeom>
              <a:avLst/>
              <a:gdLst/>
              <a:ahLst/>
              <a:cxnLst/>
              <a:rect r="r" b="b" t="t" l="l"/>
              <a:pathLst>
                <a:path h="780288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393" r="0" b="-45539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02387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Overconfident investors lose 2–7% of annual returns versus systematic, rules-based approaches — a life-changing difference over decades.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8823" y="4833623"/>
            <a:ext cx="16850363" cy="1451867"/>
            <a:chOff x="0" y="0"/>
            <a:chExt cx="22467151" cy="193582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2433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E6D3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467063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918843"/>
                  </a:lnTo>
                  <a:cubicBezTo>
                    <a:pt x="22467063" y="1928241"/>
                    <a:pt x="22459443" y="1935734"/>
                    <a:pt x="2245017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2450171" y="1901952"/>
                  </a:lnTo>
                  <a:lnTo>
                    <a:pt x="22450171" y="1918843"/>
                  </a:lnTo>
                  <a:lnTo>
                    <a:pt x="22433280" y="191884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18823" y="4833623"/>
            <a:ext cx="1214123" cy="1451867"/>
            <a:chOff x="0" y="0"/>
            <a:chExt cx="1618831" cy="193582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5849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1874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1918843"/>
                  </a:lnTo>
                  <a:cubicBezTo>
                    <a:pt x="1618742" y="1928241"/>
                    <a:pt x="1611122" y="1935734"/>
                    <a:pt x="160185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01851" y="1901952"/>
                  </a:lnTo>
                  <a:lnTo>
                    <a:pt x="1601851" y="1918843"/>
                  </a:lnTo>
                  <a:lnTo>
                    <a:pt x="1584960" y="1918843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31520" y="4846320"/>
            <a:ext cx="1188720" cy="1426464"/>
            <a:chOff x="0" y="0"/>
            <a:chExt cx="1584960" cy="19019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849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58496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048256" y="4974336"/>
            <a:ext cx="6035040" cy="548640"/>
            <a:chOff x="0" y="0"/>
            <a:chExt cx="80467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8046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6B33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Three Types, One Problem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048256" y="5541264"/>
            <a:ext cx="15179040" cy="585216"/>
            <a:chOff x="0" y="0"/>
            <a:chExt cx="2023872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238720" cy="780288"/>
            </a:xfrm>
            <a:custGeom>
              <a:avLst/>
              <a:gdLst/>
              <a:ahLst/>
              <a:cxnLst/>
              <a:rect r="r" b="b" t="t" l="l"/>
              <a:pathLst>
                <a:path h="780288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393" r="0" b="-45539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02387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Whether overestimation, overplacement, or overprecision — all forms stem from the same cognitive root and require the same systematic antidotes.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18823" y="6479543"/>
            <a:ext cx="16850363" cy="1451867"/>
            <a:chOff x="0" y="0"/>
            <a:chExt cx="22467151" cy="193582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22433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467063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918843"/>
                  </a:lnTo>
                  <a:cubicBezTo>
                    <a:pt x="22467063" y="1928241"/>
                    <a:pt x="22459443" y="1935734"/>
                    <a:pt x="2245017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2450171" y="1901952"/>
                  </a:lnTo>
                  <a:lnTo>
                    <a:pt x="22450171" y="1918843"/>
                  </a:lnTo>
                  <a:lnTo>
                    <a:pt x="22433280" y="191884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18823" y="6479543"/>
            <a:ext cx="1214123" cy="1451867"/>
            <a:chOff x="0" y="0"/>
            <a:chExt cx="1618831" cy="193582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5849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61874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1918843"/>
                  </a:lnTo>
                  <a:cubicBezTo>
                    <a:pt x="1618742" y="1928241"/>
                    <a:pt x="1611122" y="1935734"/>
                    <a:pt x="160185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01851" y="1901952"/>
                  </a:lnTo>
                  <a:lnTo>
                    <a:pt x="1601851" y="1918843"/>
                  </a:lnTo>
                  <a:lnTo>
                    <a:pt x="1584960" y="1918843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31520" y="6492240"/>
            <a:ext cx="1188720" cy="1426464"/>
            <a:chOff x="0" y="0"/>
            <a:chExt cx="1584960" cy="19019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849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158496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048256" y="6620256"/>
            <a:ext cx="6035040" cy="548640"/>
            <a:chOff x="0" y="0"/>
            <a:chExt cx="804672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8046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6B33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Systems Beat Instinct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048256" y="7187184"/>
            <a:ext cx="15179040" cy="585216"/>
            <a:chOff x="0" y="0"/>
            <a:chExt cx="20238720" cy="780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238720" cy="780288"/>
            </a:xfrm>
            <a:custGeom>
              <a:avLst/>
              <a:gdLst/>
              <a:ahLst/>
              <a:cxnLst/>
              <a:rect r="r" b="b" t="t" l="l"/>
              <a:pathLst>
                <a:path h="780288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393" r="0" b="-45539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202387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Pre-committed rules, automated rebalancing, and investment committees consistently outperform gut-feel trading driven by individual confidence.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18823" y="8125463"/>
            <a:ext cx="16850363" cy="1451867"/>
            <a:chOff x="0" y="0"/>
            <a:chExt cx="22467151" cy="193582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2433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E6D3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467063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918843"/>
                  </a:lnTo>
                  <a:cubicBezTo>
                    <a:pt x="22467063" y="1928241"/>
                    <a:pt x="22459443" y="1935734"/>
                    <a:pt x="2245017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2450171" y="1901952"/>
                  </a:lnTo>
                  <a:lnTo>
                    <a:pt x="22450171" y="1918843"/>
                  </a:lnTo>
                  <a:lnTo>
                    <a:pt x="22433280" y="191884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18823" y="8125463"/>
            <a:ext cx="1214123" cy="1451867"/>
            <a:chOff x="0" y="0"/>
            <a:chExt cx="1618831" cy="193582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5849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61874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1918843"/>
                  </a:lnTo>
                  <a:cubicBezTo>
                    <a:pt x="1618742" y="1928241"/>
                    <a:pt x="1611122" y="1935734"/>
                    <a:pt x="160185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01851" y="1901952"/>
                  </a:lnTo>
                  <a:lnTo>
                    <a:pt x="1601851" y="1918843"/>
                  </a:lnTo>
                  <a:lnTo>
                    <a:pt x="1584960" y="1918843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31520" y="8138160"/>
            <a:ext cx="1188720" cy="1426464"/>
            <a:chOff x="0" y="0"/>
            <a:chExt cx="1584960" cy="19019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5849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158496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048256" y="8266176"/>
            <a:ext cx="6035040" cy="548640"/>
            <a:chOff x="0" y="0"/>
            <a:chExt cx="804672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8046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6B33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Humility Pays Dividends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2048256" y="8833104"/>
            <a:ext cx="15179040" cy="585216"/>
            <a:chOff x="0" y="0"/>
            <a:chExt cx="20238720" cy="7802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0238720" cy="780288"/>
            </a:xfrm>
            <a:custGeom>
              <a:avLst/>
              <a:gdLst/>
              <a:ahLst/>
              <a:cxnLst/>
              <a:rect r="r" b="b" t="t" l="l"/>
              <a:pathLst>
                <a:path h="780288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393" r="0" b="-45539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202387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The world's best investors — Buffett, Klarman, Dalio — share one trait: they are acutely aware of what they don't know.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30-60-90 Day Action Plan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1541783"/>
            <a:ext cx="5511803" cy="7797803"/>
            <a:chOff x="0" y="0"/>
            <a:chExt cx="7349071" cy="10397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10363200"/>
            </a:xfrm>
            <a:custGeom>
              <a:avLst/>
              <a:gdLst/>
              <a:ahLst/>
              <a:cxnLst/>
              <a:rect r="r" b="b" t="t" l="l"/>
              <a:pathLst>
                <a:path h="10363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363200"/>
                  </a:lnTo>
                  <a:lnTo>
                    <a:pt x="0" y="10363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10396982"/>
            </a:xfrm>
            <a:custGeom>
              <a:avLst/>
              <a:gdLst/>
              <a:ahLst/>
              <a:cxnLst/>
              <a:rect r="r" b="b" t="t" l="l"/>
              <a:pathLst>
                <a:path h="103969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380091"/>
                  </a:lnTo>
                  <a:cubicBezTo>
                    <a:pt x="7348982" y="10389489"/>
                    <a:pt x="7341362" y="10396982"/>
                    <a:pt x="7332091" y="10396982"/>
                  </a:cubicBezTo>
                  <a:lnTo>
                    <a:pt x="16891" y="10396982"/>
                  </a:lnTo>
                  <a:cubicBezTo>
                    <a:pt x="7493" y="10396982"/>
                    <a:pt x="0" y="10389362"/>
                    <a:pt x="0" y="10380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380091"/>
                  </a:lnTo>
                  <a:lnTo>
                    <a:pt x="16891" y="10380091"/>
                  </a:lnTo>
                  <a:lnTo>
                    <a:pt x="16891" y="10363200"/>
                  </a:lnTo>
                  <a:lnTo>
                    <a:pt x="7332091" y="10363200"/>
                  </a:lnTo>
                  <a:lnTo>
                    <a:pt x="7332091" y="10380091"/>
                  </a:lnTo>
                  <a:lnTo>
                    <a:pt x="7315200" y="10380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1541783"/>
            <a:ext cx="5511803" cy="1214123"/>
            <a:chOff x="0" y="0"/>
            <a:chExt cx="7349071" cy="16188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01851"/>
                  </a:lnTo>
                  <a:cubicBezTo>
                    <a:pt x="7348982" y="1611249"/>
                    <a:pt x="7341362" y="1618742"/>
                    <a:pt x="7332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7332091" y="1584960"/>
                  </a:lnTo>
                  <a:lnTo>
                    <a:pt x="7332091" y="1601851"/>
                  </a:lnTo>
                  <a:lnTo>
                    <a:pt x="7315200" y="1601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554480"/>
            <a:ext cx="5120640" cy="1188720"/>
            <a:chOff x="0" y="0"/>
            <a:chExt cx="682752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682752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30 Days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1703" y="3004823"/>
            <a:ext cx="4963163" cy="1214123"/>
            <a:chOff x="0" y="0"/>
            <a:chExt cx="6617551" cy="16188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65836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17462" cy="1618742"/>
            </a:xfrm>
            <a:custGeom>
              <a:avLst/>
              <a:gdLst/>
              <a:ahLst/>
              <a:cxnLst/>
              <a:rect r="r" b="b" t="t" l="l"/>
              <a:pathLst>
                <a:path h="1618742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601851"/>
                  </a:lnTo>
                  <a:cubicBezTo>
                    <a:pt x="6617462" y="1611249"/>
                    <a:pt x="6609842" y="1618742"/>
                    <a:pt x="6600572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600572" y="1584960"/>
                  </a:lnTo>
                  <a:lnTo>
                    <a:pt x="6600572" y="1601851"/>
                  </a:lnTo>
                  <a:lnTo>
                    <a:pt x="6583680" y="1601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01703" y="3004823"/>
            <a:ext cx="135131" cy="1214123"/>
            <a:chOff x="0" y="0"/>
            <a:chExt cx="180175" cy="16188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463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0086" cy="1618742"/>
            </a:xfrm>
            <a:custGeom>
              <a:avLst/>
              <a:gdLst/>
              <a:ahLst/>
              <a:cxnLst/>
              <a:rect r="r" b="b" t="t" l="l"/>
              <a:pathLst>
                <a:path h="16187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33856" y="3054096"/>
            <a:ext cx="4663440" cy="1133856"/>
            <a:chOff x="0" y="0"/>
            <a:chExt cx="6217920" cy="15118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17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40" r="0" b="-301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21792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Audit your last 12 months of trades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4431287"/>
            <a:ext cx="4963163" cy="1214123"/>
            <a:chOff x="0" y="0"/>
            <a:chExt cx="6617551" cy="16188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65836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17462" cy="1618742"/>
            </a:xfrm>
            <a:custGeom>
              <a:avLst/>
              <a:gdLst/>
              <a:ahLst/>
              <a:cxnLst/>
              <a:rect r="r" b="b" t="t" l="l"/>
              <a:pathLst>
                <a:path h="1618742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601851"/>
                  </a:lnTo>
                  <a:cubicBezTo>
                    <a:pt x="6617462" y="1611249"/>
                    <a:pt x="6609842" y="1618742"/>
                    <a:pt x="6600572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600572" y="1584960"/>
                  </a:lnTo>
                  <a:lnTo>
                    <a:pt x="6600572" y="1601851"/>
                  </a:lnTo>
                  <a:lnTo>
                    <a:pt x="6583680" y="1601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01703" y="4431287"/>
            <a:ext cx="135131" cy="1214123"/>
            <a:chOff x="0" y="0"/>
            <a:chExt cx="180175" cy="16188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463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086" cy="1618742"/>
            </a:xfrm>
            <a:custGeom>
              <a:avLst/>
              <a:gdLst/>
              <a:ahLst/>
              <a:cxnLst/>
              <a:rect r="r" b="b" t="t" l="l"/>
              <a:pathLst>
                <a:path h="16187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33856" y="4480560"/>
            <a:ext cx="4663440" cy="1133856"/>
            <a:chOff x="0" y="0"/>
            <a:chExt cx="6217920" cy="15118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17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40" r="0" b="-301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21792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Calculate your actual alpha vs. benchmark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1703" y="5857751"/>
            <a:ext cx="4963163" cy="1214123"/>
            <a:chOff x="0" y="0"/>
            <a:chExt cx="6617551" cy="16188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65836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17462" cy="1618742"/>
            </a:xfrm>
            <a:custGeom>
              <a:avLst/>
              <a:gdLst/>
              <a:ahLst/>
              <a:cxnLst/>
              <a:rect r="r" b="b" t="t" l="l"/>
              <a:pathLst>
                <a:path h="1618742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601851"/>
                  </a:lnTo>
                  <a:cubicBezTo>
                    <a:pt x="6617462" y="1611249"/>
                    <a:pt x="6609842" y="1618742"/>
                    <a:pt x="6600572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600572" y="1584960"/>
                  </a:lnTo>
                  <a:lnTo>
                    <a:pt x="6600572" y="1601851"/>
                  </a:lnTo>
                  <a:lnTo>
                    <a:pt x="6583680" y="1601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01703" y="5857751"/>
            <a:ext cx="135131" cy="1214123"/>
            <a:chOff x="0" y="0"/>
            <a:chExt cx="180175" cy="16188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63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0086" cy="1618742"/>
            </a:xfrm>
            <a:custGeom>
              <a:avLst/>
              <a:gdLst/>
              <a:ahLst/>
              <a:cxnLst/>
              <a:rect r="r" b="b" t="t" l="l"/>
              <a:pathLst>
                <a:path h="16187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33856" y="5907024"/>
            <a:ext cx="4663440" cy="1133856"/>
            <a:chOff x="0" y="0"/>
            <a:chExt cx="6217920" cy="15118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17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40" r="0" b="-3014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621792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Start an investment journal today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01703" y="7284215"/>
            <a:ext cx="4963163" cy="1214123"/>
            <a:chOff x="0" y="0"/>
            <a:chExt cx="6617551" cy="16188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65836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17462" cy="1618742"/>
            </a:xfrm>
            <a:custGeom>
              <a:avLst/>
              <a:gdLst/>
              <a:ahLst/>
              <a:cxnLst/>
              <a:rect r="r" b="b" t="t" l="l"/>
              <a:pathLst>
                <a:path h="1618742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601851"/>
                  </a:lnTo>
                  <a:cubicBezTo>
                    <a:pt x="6617462" y="1611249"/>
                    <a:pt x="6609842" y="1618742"/>
                    <a:pt x="6600572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600572" y="1584960"/>
                  </a:lnTo>
                  <a:lnTo>
                    <a:pt x="6600572" y="1601851"/>
                  </a:lnTo>
                  <a:lnTo>
                    <a:pt x="6583680" y="1601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01703" y="7284215"/>
            <a:ext cx="135131" cy="1214123"/>
            <a:chOff x="0" y="0"/>
            <a:chExt cx="180175" cy="16188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463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0086" cy="1618742"/>
            </a:xfrm>
            <a:custGeom>
              <a:avLst/>
              <a:gdLst/>
              <a:ahLst/>
              <a:cxnLst/>
              <a:rect r="r" b="b" t="t" l="l"/>
              <a:pathLst>
                <a:path h="16187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33856" y="7333488"/>
            <a:ext cx="4663440" cy="1133856"/>
            <a:chOff x="0" y="0"/>
            <a:chExt cx="6217920" cy="15118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217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40" r="0" b="-301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621792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Take a calibration quiz to measure your biases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479543" y="1541783"/>
            <a:ext cx="5511803" cy="7797803"/>
            <a:chOff x="0" y="0"/>
            <a:chExt cx="7349071" cy="103970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315200" cy="10363200"/>
            </a:xfrm>
            <a:custGeom>
              <a:avLst/>
              <a:gdLst/>
              <a:ahLst/>
              <a:cxnLst/>
              <a:rect r="r" b="b" t="t" l="l"/>
              <a:pathLst>
                <a:path h="10363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363200"/>
                  </a:lnTo>
                  <a:lnTo>
                    <a:pt x="0" y="10363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48982" cy="10396982"/>
            </a:xfrm>
            <a:custGeom>
              <a:avLst/>
              <a:gdLst/>
              <a:ahLst/>
              <a:cxnLst/>
              <a:rect r="r" b="b" t="t" l="l"/>
              <a:pathLst>
                <a:path h="103969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380091"/>
                  </a:lnTo>
                  <a:cubicBezTo>
                    <a:pt x="7348982" y="10389489"/>
                    <a:pt x="7341362" y="10396982"/>
                    <a:pt x="7332091" y="10396982"/>
                  </a:cubicBezTo>
                  <a:lnTo>
                    <a:pt x="16891" y="10396982"/>
                  </a:lnTo>
                  <a:cubicBezTo>
                    <a:pt x="7493" y="10396982"/>
                    <a:pt x="0" y="10389362"/>
                    <a:pt x="0" y="10380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380091"/>
                  </a:lnTo>
                  <a:lnTo>
                    <a:pt x="16891" y="10380091"/>
                  </a:lnTo>
                  <a:lnTo>
                    <a:pt x="16891" y="10363200"/>
                  </a:lnTo>
                  <a:lnTo>
                    <a:pt x="7332091" y="10363200"/>
                  </a:lnTo>
                  <a:lnTo>
                    <a:pt x="7332091" y="10380091"/>
                  </a:lnTo>
                  <a:lnTo>
                    <a:pt x="7315200" y="10380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479543" y="1541783"/>
            <a:ext cx="5511803" cy="1214123"/>
            <a:chOff x="0" y="0"/>
            <a:chExt cx="7349071" cy="16188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7315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48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01851"/>
                  </a:lnTo>
                  <a:cubicBezTo>
                    <a:pt x="7348982" y="1611249"/>
                    <a:pt x="7341362" y="1618742"/>
                    <a:pt x="7332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7332091" y="1584960"/>
                  </a:lnTo>
                  <a:lnTo>
                    <a:pt x="7332091" y="1601851"/>
                  </a:lnTo>
                  <a:lnTo>
                    <a:pt x="7315200" y="1601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675120" y="1554480"/>
            <a:ext cx="5120640" cy="1188720"/>
            <a:chOff x="0" y="0"/>
            <a:chExt cx="6827520" cy="1584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682752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60 Days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753863" y="3004823"/>
            <a:ext cx="4963163" cy="1214123"/>
            <a:chOff x="0" y="0"/>
            <a:chExt cx="6617551" cy="161883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65836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617462" cy="1618742"/>
            </a:xfrm>
            <a:custGeom>
              <a:avLst/>
              <a:gdLst/>
              <a:ahLst/>
              <a:cxnLst/>
              <a:rect r="r" b="b" t="t" l="l"/>
              <a:pathLst>
                <a:path h="1618742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601851"/>
                  </a:lnTo>
                  <a:cubicBezTo>
                    <a:pt x="6617462" y="1611249"/>
                    <a:pt x="6609842" y="1618742"/>
                    <a:pt x="6600572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600572" y="1584960"/>
                  </a:lnTo>
                  <a:lnTo>
                    <a:pt x="6600572" y="1601851"/>
                  </a:lnTo>
                  <a:lnTo>
                    <a:pt x="6583680" y="1601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753863" y="3004823"/>
            <a:ext cx="135131" cy="1214123"/>
            <a:chOff x="0" y="0"/>
            <a:chExt cx="180175" cy="16188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463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0086" cy="1618742"/>
            </a:xfrm>
            <a:custGeom>
              <a:avLst/>
              <a:gdLst/>
              <a:ahLst/>
              <a:cxnLst/>
              <a:rect r="r" b="b" t="t" l="l"/>
              <a:pathLst>
                <a:path h="16187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986016" y="3054096"/>
            <a:ext cx="4663440" cy="1133856"/>
            <a:chOff x="0" y="0"/>
            <a:chExt cx="6217920" cy="151180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217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40" r="0" b="-3014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621792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Implement a formal pre-trade checklist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753863" y="4431287"/>
            <a:ext cx="4963163" cy="1214123"/>
            <a:chOff x="0" y="0"/>
            <a:chExt cx="6617551" cy="161883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65836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617462" cy="1618742"/>
            </a:xfrm>
            <a:custGeom>
              <a:avLst/>
              <a:gdLst/>
              <a:ahLst/>
              <a:cxnLst/>
              <a:rect r="r" b="b" t="t" l="l"/>
              <a:pathLst>
                <a:path h="1618742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601851"/>
                  </a:lnTo>
                  <a:cubicBezTo>
                    <a:pt x="6617462" y="1611249"/>
                    <a:pt x="6609842" y="1618742"/>
                    <a:pt x="6600572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600572" y="1584960"/>
                  </a:lnTo>
                  <a:lnTo>
                    <a:pt x="6600572" y="1601851"/>
                  </a:lnTo>
                  <a:lnTo>
                    <a:pt x="6583680" y="1601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753863" y="4431287"/>
            <a:ext cx="135131" cy="1214123"/>
            <a:chOff x="0" y="0"/>
            <a:chExt cx="180175" cy="161883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463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0086" cy="1618742"/>
            </a:xfrm>
            <a:custGeom>
              <a:avLst/>
              <a:gdLst/>
              <a:ahLst/>
              <a:cxnLst/>
              <a:rect r="r" b="b" t="t" l="l"/>
              <a:pathLst>
                <a:path h="16187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986016" y="4480560"/>
            <a:ext cx="4663440" cy="1133856"/>
            <a:chOff x="0" y="0"/>
            <a:chExt cx="6217920" cy="15118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217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40" r="0" b="-3014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621792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Identify your 3 largest portfolio concentrations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753863" y="5857751"/>
            <a:ext cx="4963163" cy="1214123"/>
            <a:chOff x="0" y="0"/>
            <a:chExt cx="6617551" cy="161883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65836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617462" cy="1618742"/>
            </a:xfrm>
            <a:custGeom>
              <a:avLst/>
              <a:gdLst/>
              <a:ahLst/>
              <a:cxnLst/>
              <a:rect r="r" b="b" t="t" l="l"/>
              <a:pathLst>
                <a:path h="1618742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601851"/>
                  </a:lnTo>
                  <a:cubicBezTo>
                    <a:pt x="6617462" y="1611249"/>
                    <a:pt x="6609842" y="1618742"/>
                    <a:pt x="6600572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600572" y="1584960"/>
                  </a:lnTo>
                  <a:lnTo>
                    <a:pt x="6600572" y="1601851"/>
                  </a:lnTo>
                  <a:lnTo>
                    <a:pt x="6583680" y="1601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753863" y="5857751"/>
            <a:ext cx="135131" cy="1214123"/>
            <a:chOff x="0" y="0"/>
            <a:chExt cx="180175" cy="161883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463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80086" cy="1618742"/>
            </a:xfrm>
            <a:custGeom>
              <a:avLst/>
              <a:gdLst/>
              <a:ahLst/>
              <a:cxnLst/>
              <a:rect r="r" b="b" t="t" l="l"/>
              <a:pathLst>
                <a:path h="16187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986016" y="5907024"/>
            <a:ext cx="4663440" cy="1133856"/>
            <a:chOff x="0" y="0"/>
            <a:chExt cx="6217920" cy="151180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217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40" r="0" b="-3014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621792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Schedule quarterly portfolio reviews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753863" y="7284215"/>
            <a:ext cx="4963163" cy="1214123"/>
            <a:chOff x="0" y="0"/>
            <a:chExt cx="6617551" cy="161883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65836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617462" cy="1618742"/>
            </a:xfrm>
            <a:custGeom>
              <a:avLst/>
              <a:gdLst/>
              <a:ahLst/>
              <a:cxnLst/>
              <a:rect r="r" b="b" t="t" l="l"/>
              <a:pathLst>
                <a:path h="1618742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601851"/>
                  </a:lnTo>
                  <a:cubicBezTo>
                    <a:pt x="6617462" y="1611249"/>
                    <a:pt x="6609842" y="1618742"/>
                    <a:pt x="6600572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600572" y="1584960"/>
                  </a:lnTo>
                  <a:lnTo>
                    <a:pt x="6600572" y="1601851"/>
                  </a:lnTo>
                  <a:lnTo>
                    <a:pt x="6583680" y="1601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753863" y="7284215"/>
            <a:ext cx="135131" cy="1214123"/>
            <a:chOff x="0" y="0"/>
            <a:chExt cx="180175" cy="161883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463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0086" cy="1618742"/>
            </a:xfrm>
            <a:custGeom>
              <a:avLst/>
              <a:gdLst/>
              <a:ahLst/>
              <a:cxnLst/>
              <a:rect r="r" b="b" t="t" l="l"/>
              <a:pathLst>
                <a:path h="16187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986016" y="7333488"/>
            <a:ext cx="4663440" cy="1133856"/>
            <a:chOff x="0" y="0"/>
            <a:chExt cx="6217920" cy="151180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17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40" r="0" b="-3014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621792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Find an accountability partner or mentor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331703" y="1541783"/>
            <a:ext cx="5511803" cy="7797803"/>
            <a:chOff x="0" y="0"/>
            <a:chExt cx="7349071" cy="1039707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7315200" cy="10363200"/>
            </a:xfrm>
            <a:custGeom>
              <a:avLst/>
              <a:gdLst/>
              <a:ahLst/>
              <a:cxnLst/>
              <a:rect r="r" b="b" t="t" l="l"/>
              <a:pathLst>
                <a:path h="10363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363200"/>
                  </a:lnTo>
                  <a:lnTo>
                    <a:pt x="0" y="10363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348982" cy="10396982"/>
            </a:xfrm>
            <a:custGeom>
              <a:avLst/>
              <a:gdLst/>
              <a:ahLst/>
              <a:cxnLst/>
              <a:rect r="r" b="b" t="t" l="l"/>
              <a:pathLst>
                <a:path h="103969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380091"/>
                  </a:lnTo>
                  <a:cubicBezTo>
                    <a:pt x="7348982" y="10389489"/>
                    <a:pt x="7341362" y="10396982"/>
                    <a:pt x="7332091" y="10396982"/>
                  </a:cubicBezTo>
                  <a:lnTo>
                    <a:pt x="16891" y="10396982"/>
                  </a:lnTo>
                  <a:cubicBezTo>
                    <a:pt x="7493" y="10396982"/>
                    <a:pt x="0" y="10389362"/>
                    <a:pt x="0" y="10380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380091"/>
                  </a:lnTo>
                  <a:lnTo>
                    <a:pt x="16891" y="10380091"/>
                  </a:lnTo>
                  <a:lnTo>
                    <a:pt x="16891" y="10363200"/>
                  </a:lnTo>
                  <a:lnTo>
                    <a:pt x="7332091" y="10363200"/>
                  </a:lnTo>
                  <a:lnTo>
                    <a:pt x="7332091" y="10380091"/>
                  </a:lnTo>
                  <a:lnTo>
                    <a:pt x="7315200" y="10380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331703" y="1541783"/>
            <a:ext cx="5511803" cy="1214123"/>
            <a:chOff x="0" y="0"/>
            <a:chExt cx="7349071" cy="161883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7315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348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01851"/>
                  </a:lnTo>
                  <a:cubicBezTo>
                    <a:pt x="7348982" y="1611249"/>
                    <a:pt x="7341362" y="1618742"/>
                    <a:pt x="7332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7332091" y="1584960"/>
                  </a:lnTo>
                  <a:lnTo>
                    <a:pt x="7332091" y="1601851"/>
                  </a:lnTo>
                  <a:lnTo>
                    <a:pt x="7315200" y="1601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527280" y="1554480"/>
            <a:ext cx="5120640" cy="1188720"/>
            <a:chOff x="0" y="0"/>
            <a:chExt cx="6827520" cy="15849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682752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90 Days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606023" y="3004823"/>
            <a:ext cx="4963163" cy="1214123"/>
            <a:chOff x="0" y="0"/>
            <a:chExt cx="6617551" cy="161883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65836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617462" cy="1618742"/>
            </a:xfrm>
            <a:custGeom>
              <a:avLst/>
              <a:gdLst/>
              <a:ahLst/>
              <a:cxnLst/>
              <a:rect r="r" b="b" t="t" l="l"/>
              <a:pathLst>
                <a:path h="1618742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601851"/>
                  </a:lnTo>
                  <a:cubicBezTo>
                    <a:pt x="6617462" y="1611249"/>
                    <a:pt x="6609842" y="1618742"/>
                    <a:pt x="6600572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600572" y="1584960"/>
                  </a:lnTo>
                  <a:lnTo>
                    <a:pt x="6600572" y="1601851"/>
                  </a:lnTo>
                  <a:lnTo>
                    <a:pt x="6583680" y="1601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2606023" y="3004823"/>
            <a:ext cx="135131" cy="1214123"/>
            <a:chOff x="0" y="0"/>
            <a:chExt cx="180175" cy="161883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463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80086" cy="1618742"/>
            </a:xfrm>
            <a:custGeom>
              <a:avLst/>
              <a:gdLst/>
              <a:ahLst/>
              <a:cxnLst/>
              <a:rect r="r" b="b" t="t" l="l"/>
              <a:pathLst>
                <a:path h="16187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838176" y="3054096"/>
            <a:ext cx="4663440" cy="1133856"/>
            <a:chOff x="0" y="0"/>
            <a:chExt cx="6217920" cy="151180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217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40" r="0" b="-3014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621792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Establish written Investment Policy Statement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2606023" y="4431287"/>
            <a:ext cx="4963163" cy="1214123"/>
            <a:chOff x="0" y="0"/>
            <a:chExt cx="6617551" cy="161883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65836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617462" cy="1618742"/>
            </a:xfrm>
            <a:custGeom>
              <a:avLst/>
              <a:gdLst/>
              <a:ahLst/>
              <a:cxnLst/>
              <a:rect r="r" b="b" t="t" l="l"/>
              <a:pathLst>
                <a:path h="1618742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601851"/>
                  </a:lnTo>
                  <a:cubicBezTo>
                    <a:pt x="6617462" y="1611249"/>
                    <a:pt x="6609842" y="1618742"/>
                    <a:pt x="6600572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600572" y="1584960"/>
                  </a:lnTo>
                  <a:lnTo>
                    <a:pt x="6600572" y="1601851"/>
                  </a:lnTo>
                  <a:lnTo>
                    <a:pt x="6583680" y="1601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2606023" y="4431287"/>
            <a:ext cx="135131" cy="1214123"/>
            <a:chOff x="0" y="0"/>
            <a:chExt cx="180175" cy="161883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463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80086" cy="1618742"/>
            </a:xfrm>
            <a:custGeom>
              <a:avLst/>
              <a:gdLst/>
              <a:ahLst/>
              <a:cxnLst/>
              <a:rect r="r" b="b" t="t" l="l"/>
              <a:pathLst>
                <a:path h="16187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2838176" y="4480560"/>
            <a:ext cx="4663440" cy="1133856"/>
            <a:chOff x="0" y="0"/>
            <a:chExt cx="6217920" cy="151180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6217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40" r="0" b="-3014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621792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Automate rebalancing where possible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606023" y="5857751"/>
            <a:ext cx="4963163" cy="1214123"/>
            <a:chOff x="0" y="0"/>
            <a:chExt cx="6617551" cy="161883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65836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617462" cy="1618742"/>
            </a:xfrm>
            <a:custGeom>
              <a:avLst/>
              <a:gdLst/>
              <a:ahLst/>
              <a:cxnLst/>
              <a:rect r="r" b="b" t="t" l="l"/>
              <a:pathLst>
                <a:path h="1618742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601851"/>
                  </a:lnTo>
                  <a:cubicBezTo>
                    <a:pt x="6617462" y="1611249"/>
                    <a:pt x="6609842" y="1618742"/>
                    <a:pt x="6600572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600572" y="1584960"/>
                  </a:lnTo>
                  <a:lnTo>
                    <a:pt x="6600572" y="1601851"/>
                  </a:lnTo>
                  <a:lnTo>
                    <a:pt x="6583680" y="1601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2606023" y="5857751"/>
            <a:ext cx="135131" cy="1214123"/>
            <a:chOff x="0" y="0"/>
            <a:chExt cx="180175" cy="161883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1463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80086" cy="1618742"/>
            </a:xfrm>
            <a:custGeom>
              <a:avLst/>
              <a:gdLst/>
              <a:ahLst/>
              <a:cxnLst/>
              <a:rect r="r" b="b" t="t" l="l"/>
              <a:pathLst>
                <a:path h="16187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2838176" y="5907024"/>
            <a:ext cx="4663440" cy="1133856"/>
            <a:chOff x="0" y="0"/>
            <a:chExt cx="6217920" cy="151180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217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40" r="0" b="-3014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621792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Conduct first full pre-mortem exercise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2606023" y="7284215"/>
            <a:ext cx="4963163" cy="1214123"/>
            <a:chOff x="0" y="0"/>
            <a:chExt cx="6617551" cy="161883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65836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617462" cy="1618742"/>
            </a:xfrm>
            <a:custGeom>
              <a:avLst/>
              <a:gdLst/>
              <a:ahLst/>
              <a:cxnLst/>
              <a:rect r="r" b="b" t="t" l="l"/>
              <a:pathLst>
                <a:path h="1618742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601851"/>
                  </a:lnTo>
                  <a:cubicBezTo>
                    <a:pt x="6617462" y="1611249"/>
                    <a:pt x="6609842" y="1618742"/>
                    <a:pt x="6600572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600572" y="1584960"/>
                  </a:lnTo>
                  <a:lnTo>
                    <a:pt x="6600572" y="1601851"/>
                  </a:lnTo>
                  <a:lnTo>
                    <a:pt x="6583680" y="1601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2606023" y="7284215"/>
            <a:ext cx="135131" cy="1214123"/>
            <a:chOff x="0" y="0"/>
            <a:chExt cx="180175" cy="1618831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1463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7B3F00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80086" cy="1618742"/>
            </a:xfrm>
            <a:custGeom>
              <a:avLst/>
              <a:gdLst/>
              <a:ahLst/>
              <a:cxnLst/>
              <a:rect r="r" b="b" t="t" l="l"/>
              <a:pathLst>
                <a:path h="16187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3F00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2838176" y="7333488"/>
            <a:ext cx="4663440" cy="1133856"/>
            <a:chOff x="0" y="0"/>
            <a:chExt cx="6217920" cy="151180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17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40" r="0" b="-3014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9525"/>
              <a:ext cx="621792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Review and score all open position theses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432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8B45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1596647"/>
            <a:ext cx="8437883" cy="1451867"/>
            <a:chOff x="0" y="0"/>
            <a:chExt cx="11250511" cy="19358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918843"/>
                  </a:lnTo>
                  <a:cubicBezTo>
                    <a:pt x="11250422" y="1928241"/>
                    <a:pt x="11242802" y="1935734"/>
                    <a:pt x="112335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233531" y="1901952"/>
                  </a:lnTo>
                  <a:lnTo>
                    <a:pt x="11233531" y="1918843"/>
                  </a:lnTo>
                  <a:lnTo>
                    <a:pt x="11216640" y="19188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1596647"/>
            <a:ext cx="135131" cy="1451867"/>
            <a:chOff x="0" y="0"/>
            <a:chExt cx="180175" cy="19358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46304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086" cy="1935734"/>
            </a:xfrm>
            <a:custGeom>
              <a:avLst/>
              <a:gdLst/>
              <a:ahLst/>
              <a:cxnLst/>
              <a:rect r="r" b="b" t="t" l="l"/>
              <a:pathLst>
                <a:path h="193573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918843"/>
                  </a:lnTo>
                  <a:cubicBezTo>
                    <a:pt x="180086" y="1928241"/>
                    <a:pt x="172466" y="1935734"/>
                    <a:pt x="163195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3195" y="1901952"/>
                  </a:lnTo>
                  <a:lnTo>
                    <a:pt x="163195" y="1918843"/>
                  </a:lnTo>
                  <a:lnTo>
                    <a:pt x="146304" y="191884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42416" y="1700403"/>
            <a:ext cx="7900416" cy="123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5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Barber, B. M., &amp; Odean, T. (2000). Trading Is Hazardous to Your Wealth: The Common Stock Investment Performance of Individual Investors. Journal of Finance, 55(2), 773–806.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18823" y="3187703"/>
            <a:ext cx="8437883" cy="1451867"/>
            <a:chOff x="0" y="0"/>
            <a:chExt cx="11250511" cy="19358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112166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504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918843"/>
                  </a:lnTo>
                  <a:cubicBezTo>
                    <a:pt x="11250422" y="1928241"/>
                    <a:pt x="11242802" y="1935734"/>
                    <a:pt x="112335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233531" y="1901952"/>
                  </a:lnTo>
                  <a:lnTo>
                    <a:pt x="11233531" y="1918843"/>
                  </a:lnTo>
                  <a:lnTo>
                    <a:pt x="11216640" y="19188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18823" y="3187703"/>
            <a:ext cx="135131" cy="1451867"/>
            <a:chOff x="0" y="0"/>
            <a:chExt cx="180175" cy="193582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46304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0086" cy="1935734"/>
            </a:xfrm>
            <a:custGeom>
              <a:avLst/>
              <a:gdLst/>
              <a:ahLst/>
              <a:cxnLst/>
              <a:rect r="r" b="b" t="t" l="l"/>
              <a:pathLst>
                <a:path h="193573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918843"/>
                  </a:lnTo>
                  <a:cubicBezTo>
                    <a:pt x="180086" y="1928241"/>
                    <a:pt x="172466" y="1935734"/>
                    <a:pt x="163195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3195" y="1901952"/>
                  </a:lnTo>
                  <a:lnTo>
                    <a:pt x="163195" y="1918843"/>
                  </a:lnTo>
                  <a:lnTo>
                    <a:pt x="146304" y="191884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42416" y="3291459"/>
            <a:ext cx="7900416" cy="123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5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Barber, B. M., &amp; Odean, T. (2001). Boys Will Be Boys: Gender, Overconfidence, and Common Stock Investment. Quarterly Journal of Economics, 116(1), 261–292.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18823" y="4778759"/>
            <a:ext cx="8437883" cy="1451867"/>
            <a:chOff x="0" y="0"/>
            <a:chExt cx="11250511" cy="19358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12166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504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918843"/>
                  </a:lnTo>
                  <a:cubicBezTo>
                    <a:pt x="11250422" y="1928241"/>
                    <a:pt x="11242802" y="1935734"/>
                    <a:pt x="112335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233531" y="1901952"/>
                  </a:lnTo>
                  <a:lnTo>
                    <a:pt x="11233531" y="1918843"/>
                  </a:lnTo>
                  <a:lnTo>
                    <a:pt x="11216640" y="19188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18823" y="4778759"/>
            <a:ext cx="135131" cy="1451867"/>
            <a:chOff x="0" y="0"/>
            <a:chExt cx="180175" cy="19358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46304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0086" cy="1935734"/>
            </a:xfrm>
            <a:custGeom>
              <a:avLst/>
              <a:gdLst/>
              <a:ahLst/>
              <a:cxnLst/>
              <a:rect r="r" b="b" t="t" l="l"/>
              <a:pathLst>
                <a:path h="193573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918843"/>
                  </a:lnTo>
                  <a:cubicBezTo>
                    <a:pt x="180086" y="1928241"/>
                    <a:pt x="172466" y="1935734"/>
                    <a:pt x="163195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3195" y="1901952"/>
                  </a:lnTo>
                  <a:lnTo>
                    <a:pt x="163195" y="1918843"/>
                  </a:lnTo>
                  <a:lnTo>
                    <a:pt x="146304" y="191884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42416" y="4882515"/>
            <a:ext cx="7900416" cy="123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5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Glaser, M., &amp; Weber, M. (2007). Overconfidence and Trading Volume. Geneva Risk and Insurance Review, 32(1), 1–36.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18823" y="6369815"/>
            <a:ext cx="8437883" cy="1451867"/>
            <a:chOff x="0" y="0"/>
            <a:chExt cx="11250511" cy="193582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12166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2504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918843"/>
                  </a:lnTo>
                  <a:cubicBezTo>
                    <a:pt x="11250422" y="1928241"/>
                    <a:pt x="11242802" y="1935734"/>
                    <a:pt x="112335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233531" y="1901952"/>
                  </a:lnTo>
                  <a:lnTo>
                    <a:pt x="11233531" y="1918843"/>
                  </a:lnTo>
                  <a:lnTo>
                    <a:pt x="11216640" y="19188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18823" y="6369815"/>
            <a:ext cx="135131" cy="1451867"/>
            <a:chOff x="0" y="0"/>
            <a:chExt cx="180175" cy="193582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46304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0086" cy="1935734"/>
            </a:xfrm>
            <a:custGeom>
              <a:avLst/>
              <a:gdLst/>
              <a:ahLst/>
              <a:cxnLst/>
              <a:rect r="r" b="b" t="t" l="l"/>
              <a:pathLst>
                <a:path h="193573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918843"/>
                  </a:lnTo>
                  <a:cubicBezTo>
                    <a:pt x="180086" y="1928241"/>
                    <a:pt x="172466" y="1935734"/>
                    <a:pt x="163195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3195" y="1901952"/>
                  </a:lnTo>
                  <a:lnTo>
                    <a:pt x="163195" y="1918843"/>
                  </a:lnTo>
                  <a:lnTo>
                    <a:pt x="146304" y="191884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42416" y="6473571"/>
            <a:ext cx="7900416" cy="123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5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Kahneman, D. (2011). Thinking, Fast and Slow. Farrar, Straus and Giroux.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18823" y="7960871"/>
            <a:ext cx="8437883" cy="1451867"/>
            <a:chOff x="0" y="0"/>
            <a:chExt cx="11250511" cy="193582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112166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504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918843"/>
                  </a:lnTo>
                  <a:cubicBezTo>
                    <a:pt x="11250422" y="1928241"/>
                    <a:pt x="11242802" y="1935734"/>
                    <a:pt x="112335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233531" y="1901952"/>
                  </a:lnTo>
                  <a:lnTo>
                    <a:pt x="11233531" y="1918843"/>
                  </a:lnTo>
                  <a:lnTo>
                    <a:pt x="11216640" y="19188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18823" y="7960871"/>
            <a:ext cx="135131" cy="1451867"/>
            <a:chOff x="0" y="0"/>
            <a:chExt cx="180175" cy="193582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146304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0086" cy="1935734"/>
            </a:xfrm>
            <a:custGeom>
              <a:avLst/>
              <a:gdLst/>
              <a:ahLst/>
              <a:cxnLst/>
              <a:rect r="r" b="b" t="t" l="l"/>
              <a:pathLst>
                <a:path h="193573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918843"/>
                  </a:lnTo>
                  <a:cubicBezTo>
                    <a:pt x="180086" y="1928241"/>
                    <a:pt x="172466" y="1935734"/>
                    <a:pt x="163195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3195" y="1901952"/>
                  </a:lnTo>
                  <a:lnTo>
                    <a:pt x="163195" y="1918843"/>
                  </a:lnTo>
                  <a:lnTo>
                    <a:pt x="146304" y="191884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042416" y="8064627"/>
            <a:ext cx="7900416" cy="123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5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Shiller, R. J. (2000). Irrational Exuberance. Princeton University Press.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497063" y="1596647"/>
            <a:ext cx="8437883" cy="1451867"/>
            <a:chOff x="0" y="0"/>
            <a:chExt cx="11250511" cy="193582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12166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2504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918843"/>
                  </a:lnTo>
                  <a:cubicBezTo>
                    <a:pt x="11250422" y="1928241"/>
                    <a:pt x="11242802" y="1935734"/>
                    <a:pt x="112335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233531" y="1901952"/>
                  </a:lnTo>
                  <a:lnTo>
                    <a:pt x="11233531" y="1918843"/>
                  </a:lnTo>
                  <a:lnTo>
                    <a:pt x="11216640" y="19188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497063" y="1596647"/>
            <a:ext cx="135131" cy="1451867"/>
            <a:chOff x="0" y="0"/>
            <a:chExt cx="180175" cy="193582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46304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0086" cy="1935734"/>
            </a:xfrm>
            <a:custGeom>
              <a:avLst/>
              <a:gdLst/>
              <a:ahLst/>
              <a:cxnLst/>
              <a:rect r="r" b="b" t="t" l="l"/>
              <a:pathLst>
                <a:path h="193573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918843"/>
                  </a:lnTo>
                  <a:cubicBezTo>
                    <a:pt x="180086" y="1928241"/>
                    <a:pt x="172466" y="1935734"/>
                    <a:pt x="163195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3195" y="1901952"/>
                  </a:lnTo>
                  <a:lnTo>
                    <a:pt x="163195" y="1918843"/>
                  </a:lnTo>
                  <a:lnTo>
                    <a:pt x="146304" y="191884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9820656" y="1700403"/>
            <a:ext cx="7900416" cy="123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5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Statman, M., Thorley, S., &amp; Vorkink, K. (2006). Investor Overconfidence and Trading Volume. Review of Financial Studies, 19(4), 1531–1565.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497063" y="3187703"/>
            <a:ext cx="8437883" cy="1451867"/>
            <a:chOff x="0" y="0"/>
            <a:chExt cx="11250511" cy="193582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2166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2504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918843"/>
                  </a:lnTo>
                  <a:cubicBezTo>
                    <a:pt x="11250422" y="1928241"/>
                    <a:pt x="11242802" y="1935734"/>
                    <a:pt x="112335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233531" y="1901952"/>
                  </a:lnTo>
                  <a:lnTo>
                    <a:pt x="11233531" y="1918843"/>
                  </a:lnTo>
                  <a:lnTo>
                    <a:pt x="11216640" y="19188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97063" y="3187703"/>
            <a:ext cx="135131" cy="1451867"/>
            <a:chOff x="0" y="0"/>
            <a:chExt cx="180175" cy="193582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46304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0086" cy="1935734"/>
            </a:xfrm>
            <a:custGeom>
              <a:avLst/>
              <a:gdLst/>
              <a:ahLst/>
              <a:cxnLst/>
              <a:rect r="r" b="b" t="t" l="l"/>
              <a:pathLst>
                <a:path h="193573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918843"/>
                  </a:lnTo>
                  <a:cubicBezTo>
                    <a:pt x="180086" y="1928241"/>
                    <a:pt x="172466" y="1935734"/>
                    <a:pt x="163195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3195" y="1901952"/>
                  </a:lnTo>
                  <a:lnTo>
                    <a:pt x="163195" y="1918843"/>
                  </a:lnTo>
                  <a:lnTo>
                    <a:pt x="146304" y="191884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9820656" y="3291459"/>
            <a:ext cx="7900416" cy="123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5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Thaler, R. H., &amp; Sunstein, C. R. (2008). Nudge. Yale University Press.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497063" y="4778759"/>
            <a:ext cx="8437883" cy="1451867"/>
            <a:chOff x="0" y="0"/>
            <a:chExt cx="11250511" cy="193582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112166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2504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918843"/>
                  </a:lnTo>
                  <a:cubicBezTo>
                    <a:pt x="11250422" y="1928241"/>
                    <a:pt x="11242802" y="1935734"/>
                    <a:pt x="112335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233531" y="1901952"/>
                  </a:lnTo>
                  <a:lnTo>
                    <a:pt x="11233531" y="1918843"/>
                  </a:lnTo>
                  <a:lnTo>
                    <a:pt x="11216640" y="19188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497063" y="4778759"/>
            <a:ext cx="135131" cy="1451867"/>
            <a:chOff x="0" y="0"/>
            <a:chExt cx="180175" cy="193582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46304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0086" cy="1935734"/>
            </a:xfrm>
            <a:custGeom>
              <a:avLst/>
              <a:gdLst/>
              <a:ahLst/>
              <a:cxnLst/>
              <a:rect r="r" b="b" t="t" l="l"/>
              <a:pathLst>
                <a:path h="193573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918843"/>
                  </a:lnTo>
                  <a:cubicBezTo>
                    <a:pt x="180086" y="1928241"/>
                    <a:pt x="172466" y="1935734"/>
                    <a:pt x="163195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3195" y="1901952"/>
                  </a:lnTo>
                  <a:lnTo>
                    <a:pt x="163195" y="1918843"/>
                  </a:lnTo>
                  <a:lnTo>
                    <a:pt x="146304" y="191884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9820656" y="4882515"/>
            <a:ext cx="7900416" cy="123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5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DALBAR, Inc. (2023). Quantitative Analysis of Investor Behavior. DALBAR Annual Report.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497063" y="6369815"/>
            <a:ext cx="8437883" cy="1451867"/>
            <a:chOff x="0" y="0"/>
            <a:chExt cx="11250511" cy="193582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112166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2504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918843"/>
                  </a:lnTo>
                  <a:cubicBezTo>
                    <a:pt x="11250422" y="1928241"/>
                    <a:pt x="11242802" y="1935734"/>
                    <a:pt x="112335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233531" y="1901952"/>
                  </a:lnTo>
                  <a:lnTo>
                    <a:pt x="11233531" y="1918843"/>
                  </a:lnTo>
                  <a:lnTo>
                    <a:pt x="11216640" y="19188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497063" y="6369815"/>
            <a:ext cx="135131" cy="1451867"/>
            <a:chOff x="0" y="0"/>
            <a:chExt cx="180175" cy="193582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146304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80086" cy="1935734"/>
            </a:xfrm>
            <a:custGeom>
              <a:avLst/>
              <a:gdLst/>
              <a:ahLst/>
              <a:cxnLst/>
              <a:rect r="r" b="b" t="t" l="l"/>
              <a:pathLst>
                <a:path h="193573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918843"/>
                  </a:lnTo>
                  <a:cubicBezTo>
                    <a:pt x="180086" y="1928241"/>
                    <a:pt x="172466" y="1935734"/>
                    <a:pt x="163195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3195" y="1901952"/>
                  </a:lnTo>
                  <a:lnTo>
                    <a:pt x="163195" y="1918843"/>
                  </a:lnTo>
                  <a:lnTo>
                    <a:pt x="146304" y="191884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9820656" y="6473571"/>
            <a:ext cx="7900416" cy="123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5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Grinblatt, M., &amp; Keloharju, M. (2009). Sensation Seeking, Overconfidence, and Trading Activity. Journal of Finance, 64(2), 549–578.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9497063" y="7960871"/>
            <a:ext cx="8437883" cy="1451867"/>
            <a:chOff x="0" y="0"/>
            <a:chExt cx="11250511" cy="193582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12166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2504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918843"/>
                  </a:lnTo>
                  <a:cubicBezTo>
                    <a:pt x="11250422" y="1928241"/>
                    <a:pt x="11242802" y="1935734"/>
                    <a:pt x="112335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233531" y="1901952"/>
                  </a:lnTo>
                  <a:lnTo>
                    <a:pt x="11233531" y="1918843"/>
                  </a:lnTo>
                  <a:lnTo>
                    <a:pt x="11216640" y="19188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497063" y="7960871"/>
            <a:ext cx="135131" cy="1451867"/>
            <a:chOff x="0" y="0"/>
            <a:chExt cx="180175" cy="193582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46304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0086" cy="1935734"/>
            </a:xfrm>
            <a:custGeom>
              <a:avLst/>
              <a:gdLst/>
              <a:ahLst/>
              <a:cxnLst/>
              <a:rect r="r" b="b" t="t" l="l"/>
              <a:pathLst>
                <a:path h="193573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918843"/>
                  </a:lnTo>
                  <a:cubicBezTo>
                    <a:pt x="180086" y="1928241"/>
                    <a:pt x="172466" y="1935734"/>
                    <a:pt x="163195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63195" y="1901952"/>
                  </a:lnTo>
                  <a:lnTo>
                    <a:pt x="163195" y="1918843"/>
                  </a:lnTo>
                  <a:lnTo>
                    <a:pt x="146304" y="191884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9820656" y="8064627"/>
            <a:ext cx="7900416" cy="123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5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Moore, D. A., &amp; Healy, P. J. (2008). The Trouble with Overconfidence. Psychological Review, 115(2), 502–517.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1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60103" y="-927097"/>
            <a:ext cx="10998203" cy="10998203"/>
            <a:chOff x="0" y="0"/>
            <a:chExt cx="14664271" cy="14664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399" cy="14630401"/>
            </a:xfrm>
            <a:custGeom>
              <a:avLst/>
              <a:gdLst/>
              <a:ahLst/>
              <a:cxnLst/>
              <a:rect r="r" b="b" t="t" l="l"/>
              <a:pathLst>
                <a:path h="14630401" w="14630399">
                  <a:moveTo>
                    <a:pt x="0" y="7315200"/>
                  </a:moveTo>
                  <a:cubicBezTo>
                    <a:pt x="0" y="3275076"/>
                    <a:pt x="3275076" y="0"/>
                    <a:pt x="7315200" y="0"/>
                  </a:cubicBezTo>
                  <a:cubicBezTo>
                    <a:pt x="11355324" y="0"/>
                    <a:pt x="14630399" y="3275076"/>
                    <a:pt x="14630399" y="7315200"/>
                  </a:cubicBezTo>
                  <a:cubicBezTo>
                    <a:pt x="14630399" y="11355324"/>
                    <a:pt x="11355324" y="14630401"/>
                    <a:pt x="7315200" y="14630401"/>
                  </a:cubicBezTo>
                  <a:cubicBezTo>
                    <a:pt x="3275076" y="14630401"/>
                    <a:pt x="0" y="11355324"/>
                    <a:pt x="0" y="7315200"/>
                  </a:cubicBezTo>
                  <a:close/>
                </a:path>
              </a:pathLst>
            </a:custGeom>
            <a:solidFill>
              <a:srgbClr val="A0522D">
                <a:alpha val="4706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64182" cy="14664182"/>
            </a:xfrm>
            <a:custGeom>
              <a:avLst/>
              <a:gdLst/>
              <a:ahLst/>
              <a:cxnLst/>
              <a:rect r="r" b="b" t="t" l="l"/>
              <a:pathLst>
                <a:path h="14664182" w="14664182">
                  <a:moveTo>
                    <a:pt x="0" y="7332091"/>
                  </a:moveTo>
                  <a:cubicBezTo>
                    <a:pt x="0" y="3282696"/>
                    <a:pt x="3282696" y="0"/>
                    <a:pt x="7332091" y="0"/>
                  </a:cubicBezTo>
                  <a:lnTo>
                    <a:pt x="7332091" y="16891"/>
                  </a:lnTo>
                  <a:lnTo>
                    <a:pt x="7332091" y="0"/>
                  </a:lnTo>
                  <a:cubicBezTo>
                    <a:pt x="11381487" y="0"/>
                    <a:pt x="14664182" y="3282696"/>
                    <a:pt x="14664182" y="7332091"/>
                  </a:cubicBezTo>
                  <a:lnTo>
                    <a:pt x="14647292" y="7332091"/>
                  </a:lnTo>
                  <a:lnTo>
                    <a:pt x="14664182" y="7332091"/>
                  </a:lnTo>
                  <a:cubicBezTo>
                    <a:pt x="14664182" y="11381487"/>
                    <a:pt x="11381487" y="14664182"/>
                    <a:pt x="7332091" y="14664182"/>
                  </a:cubicBezTo>
                  <a:lnTo>
                    <a:pt x="7332091" y="14647292"/>
                  </a:lnTo>
                  <a:lnTo>
                    <a:pt x="7332091" y="14664182"/>
                  </a:lnTo>
                  <a:cubicBezTo>
                    <a:pt x="3282696" y="14664310"/>
                    <a:pt x="0" y="11381613"/>
                    <a:pt x="0" y="7332091"/>
                  </a:cubicBezTo>
                  <a:lnTo>
                    <a:pt x="16891" y="7332091"/>
                  </a:lnTo>
                  <a:lnTo>
                    <a:pt x="31115" y="7341235"/>
                  </a:lnTo>
                  <a:cubicBezTo>
                    <a:pt x="27051" y="7347585"/>
                    <a:pt x="19304" y="7350379"/>
                    <a:pt x="12065" y="7348348"/>
                  </a:cubicBezTo>
                  <a:cubicBezTo>
                    <a:pt x="4826" y="7346315"/>
                    <a:pt x="0" y="7339584"/>
                    <a:pt x="0" y="7332091"/>
                  </a:cubicBezTo>
                  <a:moveTo>
                    <a:pt x="33909" y="7332091"/>
                  </a:moveTo>
                  <a:lnTo>
                    <a:pt x="16891" y="7332091"/>
                  </a:lnTo>
                  <a:lnTo>
                    <a:pt x="2667" y="7322948"/>
                  </a:lnTo>
                  <a:cubicBezTo>
                    <a:pt x="6731" y="7316598"/>
                    <a:pt x="14478" y="7313803"/>
                    <a:pt x="21717" y="7315835"/>
                  </a:cubicBezTo>
                  <a:cubicBezTo>
                    <a:pt x="28956" y="7317867"/>
                    <a:pt x="33909" y="7324598"/>
                    <a:pt x="33909" y="7332091"/>
                  </a:cubicBezTo>
                  <a:cubicBezTo>
                    <a:pt x="33909" y="11362817"/>
                    <a:pt x="3301365" y="14630400"/>
                    <a:pt x="7332091" y="14630400"/>
                  </a:cubicBezTo>
                  <a:cubicBezTo>
                    <a:pt x="11362817" y="14630400"/>
                    <a:pt x="14630400" y="11362817"/>
                    <a:pt x="14630400" y="7332091"/>
                  </a:cubicBezTo>
                  <a:cubicBezTo>
                    <a:pt x="14630400" y="3301365"/>
                    <a:pt x="11362817" y="33909"/>
                    <a:pt x="7332091" y="33909"/>
                  </a:cubicBezTo>
                  <a:lnTo>
                    <a:pt x="7332091" y="16891"/>
                  </a:lnTo>
                  <a:lnTo>
                    <a:pt x="7332091" y="33909"/>
                  </a:lnTo>
                  <a:cubicBezTo>
                    <a:pt x="3301365" y="33909"/>
                    <a:pt x="33909" y="3301365"/>
                    <a:pt x="33909" y="7332091"/>
                  </a:cubicBezTo>
                  <a:close/>
                </a:path>
              </a:pathLst>
            </a:custGeom>
            <a:solidFill>
              <a:srgbClr val="A0522D">
                <a:alpha val="470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3670297" y="5473703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8B4513">
                <a:alpha val="313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8B4513">
                <a:alpha val="313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2697" y="10127999"/>
            <a:ext cx="18313403" cy="171707"/>
            <a:chOff x="0" y="0"/>
            <a:chExt cx="24417871" cy="2289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63040" y="1463040"/>
            <a:ext cx="15544800" cy="914400"/>
            <a:chOff x="0" y="0"/>
            <a:chExt cx="207264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07264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i="true">
                  <a:solidFill>
                    <a:srgbClr val="D4A87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The most dangerous words in investing: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2560320"/>
            <a:ext cx="16459200" cy="1645920"/>
            <a:chOff x="0" y="0"/>
            <a:chExt cx="2194560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194560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D4A01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"I know what I'm doing."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44903" y="4522727"/>
            <a:ext cx="10998203" cy="98555"/>
            <a:chOff x="0" y="0"/>
            <a:chExt cx="14664271" cy="1314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0399" cy="97536"/>
            </a:xfrm>
            <a:custGeom>
              <a:avLst/>
              <a:gdLst/>
              <a:ahLst/>
              <a:cxnLst/>
              <a:rect r="r" b="b" t="t" l="l"/>
              <a:pathLst>
                <a:path h="97536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64182" cy="131320"/>
            </a:xfrm>
            <a:custGeom>
              <a:avLst/>
              <a:gdLst/>
              <a:ahLst/>
              <a:cxnLst/>
              <a:rect r="r" b="b" t="t" l="l"/>
              <a:pathLst>
                <a:path h="131320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14427"/>
                  </a:lnTo>
                  <a:cubicBezTo>
                    <a:pt x="14664182" y="123825"/>
                    <a:pt x="14656563" y="131318"/>
                    <a:pt x="146472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4647290" y="97536"/>
                  </a:lnTo>
                  <a:lnTo>
                    <a:pt x="14647290" y="114427"/>
                  </a:lnTo>
                  <a:lnTo>
                    <a:pt x="14630400" y="114427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4846320"/>
            <a:ext cx="16459200" cy="822960"/>
            <a:chOff x="0" y="0"/>
            <a:chExt cx="2194560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1945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i="true">
                  <a:solidFill>
                    <a:srgbClr val="FFFF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The antidote to overconfidence is not under-confidence.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876105" y="6429251"/>
            <a:ext cx="9169403" cy="1397003"/>
            <a:chOff x="0" y="0"/>
            <a:chExt cx="12225871" cy="18626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2192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225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845691"/>
                  </a:lnTo>
                  <a:cubicBezTo>
                    <a:pt x="12225782" y="1855089"/>
                    <a:pt x="12218162" y="1862582"/>
                    <a:pt x="1220889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2208891" y="1828800"/>
                  </a:lnTo>
                  <a:lnTo>
                    <a:pt x="12208891" y="1845691"/>
                  </a:lnTo>
                  <a:lnTo>
                    <a:pt x="12192000" y="1845691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572000" y="6435938"/>
            <a:ext cx="9144000" cy="1371600"/>
            <a:chOff x="0" y="0"/>
            <a:chExt cx="1219200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21920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  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By : </a:t>
              </a:r>
              <a:r>
                <a:rPr lang="en-US" b="true" sz="2799" i="true">
                  <a:solidFill>
                    <a:srgbClr val="FFFFFF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RAHI</a:t>
              </a: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b="true" sz="2799" i="true">
                  <a:solidFill>
                    <a:srgbClr val="FFFFFF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BALLU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DAHGRqkTBVY</dc:identifier>
  <dcterms:modified xsi:type="dcterms:W3CDTF">2011-08-01T06:04:30Z</dcterms:modified>
  <cp:revision>1</cp:revision>
  <dc:title>Overconfidence_Bias_Terracotta.pptx</dc:title>
</cp:coreProperties>
</file>