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" charset="1" panose="020F0502020204030204"/>
      <p:regular r:id="rId24"/>
    </p:embeddedFont>
    <p:embeddedFont>
      <p:font typeface="Calibri (MS) Bold Italics" charset="1" panose="020F07020304040A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15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54663" y="-12697"/>
            <a:ext cx="5146043" cy="10312403"/>
            <a:chOff x="0" y="0"/>
            <a:chExt cx="68613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682752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C2B4A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61301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3732890"/>
                  </a:lnTo>
                  <a:cubicBezTo>
                    <a:pt x="6861301" y="13742290"/>
                    <a:pt x="6853682" y="13749782"/>
                    <a:pt x="684441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6844411" y="13716000"/>
                  </a:lnTo>
                  <a:lnTo>
                    <a:pt x="6844411" y="13732890"/>
                  </a:lnTo>
                  <a:lnTo>
                    <a:pt x="6827520" y="13732890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>
                <a:alpha val="4862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532103" y="-12697"/>
            <a:ext cx="2768603" cy="10312403"/>
            <a:chOff x="0" y="0"/>
            <a:chExt cx="369147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6576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2E4080">
                <a:alpha val="3568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913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3732890"/>
                  </a:lnTo>
                  <a:cubicBezTo>
                    <a:pt x="3691382" y="13742290"/>
                    <a:pt x="3683762" y="13749782"/>
                    <a:pt x="3674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674491" y="13716000"/>
                  </a:lnTo>
                  <a:lnTo>
                    <a:pt x="3674491" y="13732890"/>
                  </a:lnTo>
                  <a:lnTo>
                    <a:pt x="3657600" y="13732890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4080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18313403" cy="144275"/>
            <a:chOff x="0" y="0"/>
            <a:chExt cx="24417871" cy="1923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158496"/>
            </a:xfrm>
            <a:custGeom>
              <a:avLst/>
              <a:gdLst/>
              <a:ahLst/>
              <a:cxnLst/>
              <a:rect r="r" b="b" t="t" l="l"/>
              <a:pathLst>
                <a:path h="15849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8496"/>
                  </a:lnTo>
                  <a:lnTo>
                    <a:pt x="0" y="158496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192280"/>
            </a:xfrm>
            <a:custGeom>
              <a:avLst/>
              <a:gdLst/>
              <a:ahLst/>
              <a:cxnLst/>
              <a:rect r="r" b="b" t="t" l="l"/>
              <a:pathLst>
                <a:path h="19228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5387"/>
                  </a:lnTo>
                  <a:cubicBezTo>
                    <a:pt x="24417782" y="184785"/>
                    <a:pt x="24410163" y="192278"/>
                    <a:pt x="24400890" y="192278"/>
                  </a:cubicBezTo>
                  <a:lnTo>
                    <a:pt x="16891" y="192278"/>
                  </a:lnTo>
                  <a:cubicBezTo>
                    <a:pt x="7620" y="192405"/>
                    <a:pt x="0" y="184785"/>
                    <a:pt x="0" y="1753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5387"/>
                  </a:lnTo>
                  <a:lnTo>
                    <a:pt x="16891" y="175387"/>
                  </a:lnTo>
                  <a:lnTo>
                    <a:pt x="16891" y="158496"/>
                  </a:lnTo>
                  <a:lnTo>
                    <a:pt x="24400890" y="158496"/>
                  </a:lnTo>
                  <a:lnTo>
                    <a:pt x="24400890" y="175387"/>
                  </a:lnTo>
                  <a:lnTo>
                    <a:pt x="24384000" y="17538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2697" y="10155431"/>
            <a:ext cx="18313403" cy="144275"/>
            <a:chOff x="0" y="0"/>
            <a:chExt cx="24417871" cy="1923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4383999" cy="158496"/>
            </a:xfrm>
            <a:custGeom>
              <a:avLst/>
              <a:gdLst/>
              <a:ahLst/>
              <a:cxnLst/>
              <a:rect r="r" b="b" t="t" l="l"/>
              <a:pathLst>
                <a:path h="15849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8496"/>
                  </a:lnTo>
                  <a:lnTo>
                    <a:pt x="0" y="158496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17782" cy="192280"/>
            </a:xfrm>
            <a:custGeom>
              <a:avLst/>
              <a:gdLst/>
              <a:ahLst/>
              <a:cxnLst/>
              <a:rect r="r" b="b" t="t" l="l"/>
              <a:pathLst>
                <a:path h="19228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5387"/>
                  </a:lnTo>
                  <a:cubicBezTo>
                    <a:pt x="24417782" y="184785"/>
                    <a:pt x="24410163" y="192278"/>
                    <a:pt x="24400890" y="192278"/>
                  </a:cubicBezTo>
                  <a:lnTo>
                    <a:pt x="16891" y="192278"/>
                  </a:lnTo>
                  <a:cubicBezTo>
                    <a:pt x="7620" y="192405"/>
                    <a:pt x="0" y="184785"/>
                    <a:pt x="0" y="1753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5387"/>
                  </a:lnTo>
                  <a:lnTo>
                    <a:pt x="16891" y="175387"/>
                  </a:lnTo>
                  <a:lnTo>
                    <a:pt x="16891" y="158496"/>
                  </a:lnTo>
                  <a:lnTo>
                    <a:pt x="24400890" y="158496"/>
                  </a:lnTo>
                  <a:lnTo>
                    <a:pt x="24400890" y="175387"/>
                  </a:lnTo>
                  <a:lnTo>
                    <a:pt x="24384000" y="17538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3143" y="1907543"/>
            <a:ext cx="171707" cy="5877563"/>
            <a:chOff x="0" y="0"/>
            <a:chExt cx="228943" cy="78367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95072" cy="7802881"/>
            </a:xfrm>
            <a:custGeom>
              <a:avLst/>
              <a:gdLst/>
              <a:ahLst/>
              <a:cxnLst/>
              <a:rect r="r" b="b" t="t" l="l"/>
              <a:pathLst>
                <a:path h="7802881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854" cy="7836662"/>
            </a:xfrm>
            <a:custGeom>
              <a:avLst/>
              <a:gdLst/>
              <a:ahLst/>
              <a:cxnLst/>
              <a:rect r="r" b="b" t="t" l="l"/>
              <a:pathLst>
                <a:path h="783666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819772"/>
                  </a:lnTo>
                  <a:cubicBezTo>
                    <a:pt x="228854" y="7829169"/>
                    <a:pt x="221234" y="7836662"/>
                    <a:pt x="211963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211963" y="7802880"/>
                  </a:lnTo>
                  <a:lnTo>
                    <a:pt x="211963" y="7819772"/>
                  </a:lnTo>
                  <a:lnTo>
                    <a:pt x="195072" y="7819772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54480" y="1828800"/>
            <a:ext cx="11155680" cy="1499616"/>
            <a:chOff x="0" y="0"/>
            <a:chExt cx="14874240" cy="19994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874239" cy="1999488"/>
            </a:xfrm>
            <a:custGeom>
              <a:avLst/>
              <a:gdLst/>
              <a:ahLst/>
              <a:cxnLst/>
              <a:rect r="r" b="b" t="t" l="l"/>
              <a:pathLst>
                <a:path h="1999488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949" r="0" b="-9494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42875"/>
              <a:ext cx="14874240" cy="21423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 spc="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OVERCONFIDENCE BIAS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4480" y="3328416"/>
            <a:ext cx="11155680" cy="1060704"/>
            <a:chOff x="0" y="0"/>
            <a:chExt cx="14874240" cy="14142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874239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928" r="0" b="-15492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487424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B896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 INVESTMENT DECISIONS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41783" y="4687319"/>
            <a:ext cx="7706363" cy="80267"/>
            <a:chOff x="0" y="0"/>
            <a:chExt cx="10275151" cy="1070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241281" cy="73152"/>
            </a:xfrm>
            <a:custGeom>
              <a:avLst/>
              <a:gdLst/>
              <a:ahLst/>
              <a:cxnLst/>
              <a:rect r="r" b="b" t="t" l="l"/>
              <a:pathLst>
                <a:path h="7315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D4AF6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75062" cy="106936"/>
            </a:xfrm>
            <a:custGeom>
              <a:avLst/>
              <a:gdLst/>
              <a:ahLst/>
              <a:cxnLst/>
              <a:rect r="r" b="b" t="t" l="l"/>
              <a:pathLst>
                <a:path h="106936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90043"/>
                  </a:lnTo>
                  <a:cubicBezTo>
                    <a:pt x="10275062" y="99441"/>
                    <a:pt x="10267442" y="106934"/>
                    <a:pt x="10258172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10258172" y="73152"/>
                  </a:lnTo>
                  <a:lnTo>
                    <a:pt x="10258172" y="90043"/>
                  </a:lnTo>
                  <a:lnTo>
                    <a:pt x="10241280" y="9004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AF6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54480" y="4974336"/>
            <a:ext cx="10972800" cy="731520"/>
            <a:chOff x="0" y="0"/>
            <a:chExt cx="1463040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46304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840"/>
                </a:lnSpc>
              </a:pPr>
              <a:r>
                <a:rPr lang="en-US" sz="3200" i="true">
                  <a:solidFill>
                    <a:srgbClr val="A0B0C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Concise Summary 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-12697" y="8984999"/>
            <a:ext cx="18313403" cy="1195835"/>
            <a:chOff x="0" y="0"/>
            <a:chExt cx="24417871" cy="15944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4383999" cy="1560576"/>
            </a:xfrm>
            <a:custGeom>
              <a:avLst/>
              <a:gdLst/>
              <a:ahLst/>
              <a:cxnLst/>
              <a:rect r="r" b="b" t="t" l="l"/>
              <a:pathLst>
                <a:path h="156057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60576"/>
                  </a:lnTo>
                  <a:lnTo>
                    <a:pt x="0" y="156057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417782" cy="1594358"/>
            </a:xfrm>
            <a:custGeom>
              <a:avLst/>
              <a:gdLst/>
              <a:ahLst/>
              <a:cxnLst/>
              <a:rect r="r" b="b" t="t" l="l"/>
              <a:pathLst>
                <a:path h="1594358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77467"/>
                  </a:lnTo>
                  <a:cubicBezTo>
                    <a:pt x="24417782" y="1586865"/>
                    <a:pt x="24410163" y="1594358"/>
                    <a:pt x="24400890" y="1594358"/>
                  </a:cubicBezTo>
                  <a:lnTo>
                    <a:pt x="16891" y="1594358"/>
                  </a:lnTo>
                  <a:cubicBezTo>
                    <a:pt x="7493" y="1594358"/>
                    <a:pt x="0" y="1586738"/>
                    <a:pt x="0" y="1577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7467"/>
                  </a:lnTo>
                  <a:lnTo>
                    <a:pt x="16891" y="1577467"/>
                  </a:lnTo>
                  <a:lnTo>
                    <a:pt x="16891" y="1560576"/>
                  </a:lnTo>
                  <a:lnTo>
                    <a:pt x="24400890" y="1560576"/>
                  </a:lnTo>
                  <a:lnTo>
                    <a:pt x="24400890" y="1577467"/>
                  </a:lnTo>
                  <a:lnTo>
                    <a:pt x="24384000" y="157746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9995"/>
            <a:chOff x="0" y="0"/>
            <a:chExt cx="24417871" cy="253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"/>
            </a:xfrm>
            <a:custGeom>
              <a:avLst/>
              <a:gdLst/>
              <a:ahLst/>
              <a:cxnLst/>
              <a:rect r="r" b="b" t="t" l="l"/>
              <a:pathLst>
                <a:path h="21945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53240"/>
            </a:xfrm>
            <a:custGeom>
              <a:avLst/>
              <a:gdLst/>
              <a:ahLst/>
              <a:cxnLst/>
              <a:rect r="r" b="b" t="t" l="l"/>
              <a:pathLst>
                <a:path h="25324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36347"/>
                  </a:lnTo>
                  <a:cubicBezTo>
                    <a:pt x="24417782" y="245745"/>
                    <a:pt x="24410163" y="253238"/>
                    <a:pt x="24400890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4400890" y="219456"/>
                  </a:lnTo>
                  <a:lnTo>
                    <a:pt x="24400890" y="236347"/>
                  </a:lnTo>
                  <a:lnTo>
                    <a:pt x="24384000" y="23634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1895"/>
            <a:ext cx="18313403" cy="71123"/>
            <a:chOff x="0" y="0"/>
            <a:chExt cx="24417871" cy="94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60960"/>
            </a:xfrm>
            <a:custGeom>
              <a:avLst/>
              <a:gdLst/>
              <a:ahLst/>
              <a:cxnLst/>
              <a:rect r="r" b="b" t="t" l="l"/>
              <a:pathLst>
                <a:path h="609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94744"/>
            </a:xfrm>
            <a:custGeom>
              <a:avLst/>
              <a:gdLst/>
              <a:ahLst/>
              <a:cxnLst/>
              <a:rect r="r" b="b" t="t" l="l"/>
              <a:pathLst>
                <a:path h="947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7851"/>
                  </a:lnTo>
                  <a:cubicBezTo>
                    <a:pt x="24417782" y="87249"/>
                    <a:pt x="24410163" y="94742"/>
                    <a:pt x="2440089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4400890" y="60960"/>
                  </a:lnTo>
                  <a:lnTo>
                    <a:pt x="24400890" y="77851"/>
                  </a:lnTo>
                  <a:lnTo>
                    <a:pt x="24384000" y="778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9972551"/>
            <a:ext cx="18313403" cy="327155"/>
            <a:chOff x="0" y="0"/>
            <a:chExt cx="24417871" cy="4362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02336"/>
            </a:xfrm>
            <a:custGeom>
              <a:avLst/>
              <a:gdLst/>
              <a:ahLst/>
              <a:cxnLst/>
              <a:rect r="r" b="b" t="t" l="l"/>
              <a:pathLst>
                <a:path h="4023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EF1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36120"/>
            </a:xfrm>
            <a:custGeom>
              <a:avLst/>
              <a:gdLst/>
              <a:ahLst/>
              <a:cxnLst/>
              <a:rect r="r" b="b" t="t" l="l"/>
              <a:pathLst>
                <a:path h="4361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19227"/>
                  </a:lnTo>
                  <a:cubicBezTo>
                    <a:pt x="24417782" y="428625"/>
                    <a:pt x="24410163" y="436118"/>
                    <a:pt x="24400890" y="436118"/>
                  </a:cubicBezTo>
                  <a:lnTo>
                    <a:pt x="16891" y="436118"/>
                  </a:lnTo>
                  <a:cubicBezTo>
                    <a:pt x="7620" y="436245"/>
                    <a:pt x="0" y="428625"/>
                    <a:pt x="0" y="419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9227"/>
                  </a:lnTo>
                  <a:lnTo>
                    <a:pt x="16891" y="419227"/>
                  </a:lnTo>
                  <a:lnTo>
                    <a:pt x="16891" y="402336"/>
                  </a:lnTo>
                  <a:lnTo>
                    <a:pt x="24400890" y="402336"/>
                  </a:lnTo>
                  <a:lnTo>
                    <a:pt x="24400890" y="419227"/>
                  </a:lnTo>
                  <a:lnTo>
                    <a:pt x="24384000" y="4192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65760"/>
            <a:ext cx="16642080" cy="914400"/>
            <a:chOff x="0" y="0"/>
            <a:chExt cx="221894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Overview: What is Overconfidence Bias?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1243584"/>
            <a:ext cx="16642080" cy="475488"/>
            <a:chOff x="0" y="0"/>
            <a:chExt cx="2218944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633984"/>
            </a:xfrm>
            <a:custGeom>
              <a:avLst/>
              <a:gdLst/>
              <a:ahLst/>
              <a:cxnLst/>
              <a:rect r="r" b="b" t="t" l="l"/>
              <a:pathLst>
                <a:path h="63398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most documented and costly cognitive bias in financial markets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823" y="1852679"/>
            <a:ext cx="10083803" cy="2805179"/>
            <a:chOff x="0" y="0"/>
            <a:chExt cx="13445071" cy="37402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3411199" cy="3706368"/>
            </a:xfrm>
            <a:custGeom>
              <a:avLst/>
              <a:gdLst/>
              <a:ahLst/>
              <a:cxnLst/>
              <a:rect r="r" b="b" t="t" l="l"/>
              <a:pathLst>
                <a:path h="3706368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3706368"/>
                  </a:lnTo>
                  <a:lnTo>
                    <a:pt x="0" y="3706368"/>
                  </a:lnTo>
                  <a:close/>
                </a:path>
              </a:pathLst>
            </a:custGeom>
            <a:solidFill>
              <a:srgbClr val="F5EDD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4982" cy="3740150"/>
            </a:xfrm>
            <a:custGeom>
              <a:avLst/>
              <a:gdLst/>
              <a:ahLst/>
              <a:cxnLst/>
              <a:rect r="r" b="b" t="t" l="l"/>
              <a:pathLst>
                <a:path h="3740150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3723259"/>
                  </a:lnTo>
                  <a:cubicBezTo>
                    <a:pt x="13444982" y="3732657"/>
                    <a:pt x="13437363" y="3740150"/>
                    <a:pt x="13428090" y="3740150"/>
                  </a:cubicBezTo>
                  <a:lnTo>
                    <a:pt x="16891" y="3740150"/>
                  </a:lnTo>
                  <a:cubicBezTo>
                    <a:pt x="7493" y="3740150"/>
                    <a:pt x="0" y="3732530"/>
                    <a:pt x="0" y="37232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23259"/>
                  </a:lnTo>
                  <a:lnTo>
                    <a:pt x="16891" y="3723259"/>
                  </a:lnTo>
                  <a:lnTo>
                    <a:pt x="16891" y="3706368"/>
                  </a:lnTo>
                  <a:lnTo>
                    <a:pt x="13428090" y="3706368"/>
                  </a:lnTo>
                  <a:lnTo>
                    <a:pt x="13428090" y="3723259"/>
                  </a:lnTo>
                  <a:lnTo>
                    <a:pt x="13411200" y="3723259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18823" y="1852679"/>
            <a:ext cx="171707" cy="2805179"/>
            <a:chOff x="0" y="0"/>
            <a:chExt cx="228943" cy="37402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95072" cy="3706368"/>
            </a:xfrm>
            <a:custGeom>
              <a:avLst/>
              <a:gdLst/>
              <a:ahLst/>
              <a:cxnLst/>
              <a:rect r="r" b="b" t="t" l="l"/>
              <a:pathLst>
                <a:path h="37063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706368"/>
                  </a:lnTo>
                  <a:lnTo>
                    <a:pt x="0" y="3706368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854" cy="3740150"/>
            </a:xfrm>
            <a:custGeom>
              <a:avLst/>
              <a:gdLst/>
              <a:ahLst/>
              <a:cxnLst/>
              <a:rect r="r" b="b" t="t" l="l"/>
              <a:pathLst>
                <a:path h="37401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3723259"/>
                  </a:lnTo>
                  <a:cubicBezTo>
                    <a:pt x="228854" y="3732657"/>
                    <a:pt x="221234" y="3740150"/>
                    <a:pt x="211963" y="3740150"/>
                  </a:cubicBezTo>
                  <a:lnTo>
                    <a:pt x="16891" y="3740150"/>
                  </a:lnTo>
                  <a:cubicBezTo>
                    <a:pt x="7493" y="3740150"/>
                    <a:pt x="0" y="3732530"/>
                    <a:pt x="0" y="37232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23259"/>
                  </a:lnTo>
                  <a:lnTo>
                    <a:pt x="16891" y="3723259"/>
                  </a:lnTo>
                  <a:lnTo>
                    <a:pt x="16891" y="3706368"/>
                  </a:lnTo>
                  <a:lnTo>
                    <a:pt x="211963" y="3706368"/>
                  </a:lnTo>
                  <a:lnTo>
                    <a:pt x="211963" y="3723259"/>
                  </a:lnTo>
                  <a:lnTo>
                    <a:pt x="195072" y="37232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7280" y="1956816"/>
            <a:ext cx="9509760" cy="512064"/>
            <a:chOff x="0" y="0"/>
            <a:chExt cx="1267968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679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5" r="0" b="-3118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679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Definition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2505456"/>
            <a:ext cx="9418320" cy="2011680"/>
            <a:chOff x="0" y="0"/>
            <a:chExt cx="12557760" cy="2682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5577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25" r="0" b="-412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255776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Overconfidence bias is a well-documented cognitive error where investors overestimate the accuracy of their judgments, the quality of their information, and their ability to predict market outcomes — leading to systematically poor decisions.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325863" y="1852679"/>
            <a:ext cx="6243323" cy="1067819"/>
            <a:chOff x="0" y="0"/>
            <a:chExt cx="8324431" cy="14237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8290560" cy="1389888"/>
            </a:xfrm>
            <a:custGeom>
              <a:avLst/>
              <a:gdLst/>
              <a:ahLst/>
              <a:cxnLst/>
              <a:rect r="r" b="b" t="t" l="l"/>
              <a:pathLst>
                <a:path h="138988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24342" cy="1423670"/>
            </a:xfrm>
            <a:custGeom>
              <a:avLst/>
              <a:gdLst/>
              <a:ahLst/>
              <a:cxnLst/>
              <a:rect r="r" b="b" t="t" l="l"/>
              <a:pathLst>
                <a:path h="1423670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406779"/>
                  </a:lnTo>
                  <a:cubicBezTo>
                    <a:pt x="8324342" y="1416177"/>
                    <a:pt x="8316722" y="1423670"/>
                    <a:pt x="8307451" y="1423670"/>
                  </a:cubicBezTo>
                  <a:lnTo>
                    <a:pt x="16891" y="1423670"/>
                  </a:lnTo>
                  <a:cubicBezTo>
                    <a:pt x="7493" y="1423670"/>
                    <a:pt x="0" y="1416050"/>
                    <a:pt x="0" y="1406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06779"/>
                  </a:lnTo>
                  <a:lnTo>
                    <a:pt x="16891" y="1406779"/>
                  </a:lnTo>
                  <a:lnTo>
                    <a:pt x="16891" y="1389888"/>
                  </a:lnTo>
                  <a:lnTo>
                    <a:pt x="8307451" y="1389888"/>
                  </a:lnTo>
                  <a:lnTo>
                    <a:pt x="8307451" y="1406779"/>
                  </a:lnTo>
                  <a:lnTo>
                    <a:pt x="8290560" y="1406779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325863" y="1852679"/>
            <a:ext cx="153419" cy="1067819"/>
            <a:chOff x="0" y="0"/>
            <a:chExt cx="204559" cy="14237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70688" cy="1389888"/>
            </a:xfrm>
            <a:custGeom>
              <a:avLst/>
              <a:gdLst/>
              <a:ahLst/>
              <a:cxnLst/>
              <a:rect r="r" b="b" t="t" l="l"/>
              <a:pathLst>
                <a:path h="13898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4470" cy="1423670"/>
            </a:xfrm>
            <a:custGeom>
              <a:avLst/>
              <a:gdLst/>
              <a:ahLst/>
              <a:cxnLst/>
              <a:rect r="r" b="b" t="t" l="l"/>
              <a:pathLst>
                <a:path h="14236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406779"/>
                  </a:lnTo>
                  <a:cubicBezTo>
                    <a:pt x="204470" y="1416177"/>
                    <a:pt x="196850" y="1423670"/>
                    <a:pt x="187579" y="1423670"/>
                  </a:cubicBezTo>
                  <a:lnTo>
                    <a:pt x="16891" y="1423670"/>
                  </a:lnTo>
                  <a:cubicBezTo>
                    <a:pt x="7493" y="1423670"/>
                    <a:pt x="0" y="1416050"/>
                    <a:pt x="0" y="1406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06779"/>
                  </a:lnTo>
                  <a:lnTo>
                    <a:pt x="16891" y="1406779"/>
                  </a:lnTo>
                  <a:lnTo>
                    <a:pt x="16891" y="1389888"/>
                  </a:lnTo>
                  <a:lnTo>
                    <a:pt x="187579" y="1389888"/>
                  </a:lnTo>
                  <a:lnTo>
                    <a:pt x="187579" y="1406779"/>
                  </a:lnTo>
                  <a:lnTo>
                    <a:pt x="170688" y="14067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631168" y="1956816"/>
            <a:ext cx="5760720" cy="438912"/>
            <a:chOff x="0" y="0"/>
            <a:chExt cx="768096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80960" cy="585216"/>
            </a:xfrm>
            <a:custGeom>
              <a:avLst/>
              <a:gdLst/>
              <a:ahLst/>
              <a:cxnLst/>
              <a:rect r="r" b="b" t="t" l="l"/>
              <a:pathLst>
                <a:path h="585216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6809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Overestimation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631168" y="2395728"/>
            <a:ext cx="5760720" cy="402336"/>
            <a:chOff x="0" y="0"/>
            <a:chExt cx="7680960" cy="5364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0" cy="536448"/>
            </a:xfrm>
            <a:custGeom>
              <a:avLst/>
              <a:gdLst/>
              <a:ahLst/>
              <a:cxnLst/>
              <a:rect r="r" b="b" t="t" l="l"/>
              <a:pathLst>
                <a:path h="53644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990" r="0" b="-22899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6809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Overrating own skill &amp; accuracy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325863" y="3077975"/>
            <a:ext cx="6243323" cy="1067819"/>
            <a:chOff x="0" y="0"/>
            <a:chExt cx="8324431" cy="14237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8290560" cy="1389888"/>
            </a:xfrm>
            <a:custGeom>
              <a:avLst/>
              <a:gdLst/>
              <a:ahLst/>
              <a:cxnLst/>
              <a:rect r="r" b="b" t="t" l="l"/>
              <a:pathLst>
                <a:path h="138988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24342" cy="1423670"/>
            </a:xfrm>
            <a:custGeom>
              <a:avLst/>
              <a:gdLst/>
              <a:ahLst/>
              <a:cxnLst/>
              <a:rect r="r" b="b" t="t" l="l"/>
              <a:pathLst>
                <a:path h="1423670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406779"/>
                  </a:lnTo>
                  <a:cubicBezTo>
                    <a:pt x="8324342" y="1416177"/>
                    <a:pt x="8316722" y="1423670"/>
                    <a:pt x="8307451" y="1423670"/>
                  </a:cubicBezTo>
                  <a:lnTo>
                    <a:pt x="16891" y="1423670"/>
                  </a:lnTo>
                  <a:cubicBezTo>
                    <a:pt x="7493" y="1423670"/>
                    <a:pt x="0" y="1416050"/>
                    <a:pt x="0" y="1406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06779"/>
                  </a:lnTo>
                  <a:lnTo>
                    <a:pt x="16891" y="1406779"/>
                  </a:lnTo>
                  <a:lnTo>
                    <a:pt x="16891" y="1389888"/>
                  </a:lnTo>
                  <a:lnTo>
                    <a:pt x="8307451" y="1389888"/>
                  </a:lnTo>
                  <a:lnTo>
                    <a:pt x="8307451" y="1406779"/>
                  </a:lnTo>
                  <a:lnTo>
                    <a:pt x="8290560" y="1406779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325863" y="3077975"/>
            <a:ext cx="153419" cy="1067819"/>
            <a:chOff x="0" y="0"/>
            <a:chExt cx="204559" cy="14237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1389888"/>
            </a:xfrm>
            <a:custGeom>
              <a:avLst/>
              <a:gdLst/>
              <a:ahLst/>
              <a:cxnLst/>
              <a:rect r="r" b="b" t="t" l="l"/>
              <a:pathLst>
                <a:path h="13898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2E408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1423670"/>
            </a:xfrm>
            <a:custGeom>
              <a:avLst/>
              <a:gdLst/>
              <a:ahLst/>
              <a:cxnLst/>
              <a:rect r="r" b="b" t="t" l="l"/>
              <a:pathLst>
                <a:path h="14236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406779"/>
                  </a:lnTo>
                  <a:cubicBezTo>
                    <a:pt x="204470" y="1416177"/>
                    <a:pt x="196850" y="1423670"/>
                    <a:pt x="187579" y="1423670"/>
                  </a:cubicBezTo>
                  <a:lnTo>
                    <a:pt x="16891" y="1423670"/>
                  </a:lnTo>
                  <a:cubicBezTo>
                    <a:pt x="7493" y="1423670"/>
                    <a:pt x="0" y="1416050"/>
                    <a:pt x="0" y="1406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06779"/>
                  </a:lnTo>
                  <a:lnTo>
                    <a:pt x="16891" y="1406779"/>
                  </a:lnTo>
                  <a:lnTo>
                    <a:pt x="16891" y="1389888"/>
                  </a:lnTo>
                  <a:lnTo>
                    <a:pt x="187579" y="1389888"/>
                  </a:lnTo>
                  <a:lnTo>
                    <a:pt x="187579" y="1406779"/>
                  </a:lnTo>
                  <a:lnTo>
                    <a:pt x="170688" y="14067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408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31168" y="3182112"/>
            <a:ext cx="5760720" cy="438912"/>
            <a:chOff x="0" y="0"/>
            <a:chExt cx="7680960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80960" cy="585216"/>
            </a:xfrm>
            <a:custGeom>
              <a:avLst/>
              <a:gdLst/>
              <a:ahLst/>
              <a:cxnLst/>
              <a:rect r="r" b="b" t="t" l="l"/>
              <a:pathLst>
                <a:path h="585216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76809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Overplacement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631168" y="3621024"/>
            <a:ext cx="5760720" cy="402336"/>
            <a:chOff x="0" y="0"/>
            <a:chExt cx="7680960" cy="5364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80960" cy="536448"/>
            </a:xfrm>
            <a:custGeom>
              <a:avLst/>
              <a:gdLst/>
              <a:ahLst/>
              <a:cxnLst/>
              <a:rect r="r" b="b" t="t" l="l"/>
              <a:pathLst>
                <a:path h="53644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990" r="0" b="-22899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6809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Believing you're better than peers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325863" y="4303271"/>
            <a:ext cx="6243323" cy="1067819"/>
            <a:chOff x="0" y="0"/>
            <a:chExt cx="8324431" cy="14237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8290560" cy="1389888"/>
            </a:xfrm>
            <a:custGeom>
              <a:avLst/>
              <a:gdLst/>
              <a:ahLst/>
              <a:cxnLst/>
              <a:rect r="r" b="b" t="t" l="l"/>
              <a:pathLst>
                <a:path h="138988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324342" cy="1423670"/>
            </a:xfrm>
            <a:custGeom>
              <a:avLst/>
              <a:gdLst/>
              <a:ahLst/>
              <a:cxnLst/>
              <a:rect r="r" b="b" t="t" l="l"/>
              <a:pathLst>
                <a:path h="1423670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406779"/>
                  </a:lnTo>
                  <a:cubicBezTo>
                    <a:pt x="8324342" y="1416177"/>
                    <a:pt x="8316722" y="1423670"/>
                    <a:pt x="8307451" y="1423670"/>
                  </a:cubicBezTo>
                  <a:lnTo>
                    <a:pt x="16891" y="1423670"/>
                  </a:lnTo>
                  <a:cubicBezTo>
                    <a:pt x="7493" y="1423670"/>
                    <a:pt x="0" y="1416050"/>
                    <a:pt x="0" y="1406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06779"/>
                  </a:lnTo>
                  <a:lnTo>
                    <a:pt x="16891" y="1406779"/>
                  </a:lnTo>
                  <a:lnTo>
                    <a:pt x="16891" y="1389888"/>
                  </a:lnTo>
                  <a:lnTo>
                    <a:pt x="8307451" y="1389888"/>
                  </a:lnTo>
                  <a:lnTo>
                    <a:pt x="8307451" y="1406779"/>
                  </a:lnTo>
                  <a:lnTo>
                    <a:pt x="8290560" y="1406779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325863" y="4303271"/>
            <a:ext cx="153419" cy="1067819"/>
            <a:chOff x="0" y="0"/>
            <a:chExt cx="204559" cy="14237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70688" cy="1389888"/>
            </a:xfrm>
            <a:custGeom>
              <a:avLst/>
              <a:gdLst/>
              <a:ahLst/>
              <a:cxnLst/>
              <a:rect r="r" b="b" t="t" l="l"/>
              <a:pathLst>
                <a:path h="13898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470" cy="1423670"/>
            </a:xfrm>
            <a:custGeom>
              <a:avLst/>
              <a:gdLst/>
              <a:ahLst/>
              <a:cxnLst/>
              <a:rect r="r" b="b" t="t" l="l"/>
              <a:pathLst>
                <a:path h="14236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406779"/>
                  </a:lnTo>
                  <a:cubicBezTo>
                    <a:pt x="204470" y="1416177"/>
                    <a:pt x="196850" y="1423670"/>
                    <a:pt x="187579" y="1423670"/>
                  </a:cubicBezTo>
                  <a:lnTo>
                    <a:pt x="16891" y="1423670"/>
                  </a:lnTo>
                  <a:cubicBezTo>
                    <a:pt x="7493" y="1423670"/>
                    <a:pt x="0" y="1416050"/>
                    <a:pt x="0" y="14067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06779"/>
                  </a:lnTo>
                  <a:lnTo>
                    <a:pt x="16891" y="1406779"/>
                  </a:lnTo>
                  <a:lnTo>
                    <a:pt x="16891" y="1389888"/>
                  </a:lnTo>
                  <a:lnTo>
                    <a:pt x="187579" y="1389888"/>
                  </a:lnTo>
                  <a:lnTo>
                    <a:pt x="187579" y="1406779"/>
                  </a:lnTo>
                  <a:lnTo>
                    <a:pt x="170688" y="14067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631168" y="4407408"/>
            <a:ext cx="5760720" cy="438912"/>
            <a:chOff x="0" y="0"/>
            <a:chExt cx="768096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680960" cy="585216"/>
            </a:xfrm>
            <a:custGeom>
              <a:avLst/>
              <a:gdLst/>
              <a:ahLst/>
              <a:cxnLst/>
              <a:rect r="r" b="b" t="t" l="l"/>
              <a:pathLst>
                <a:path h="585216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6809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Overprecision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631168" y="4846320"/>
            <a:ext cx="5760720" cy="402336"/>
            <a:chOff x="0" y="0"/>
            <a:chExt cx="7680960" cy="5364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680960" cy="536448"/>
            </a:xfrm>
            <a:custGeom>
              <a:avLst/>
              <a:gdLst/>
              <a:ahLst/>
              <a:cxnLst/>
              <a:rect r="r" b="b" t="t" l="l"/>
              <a:pathLst>
                <a:path h="53644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990" r="0" b="-22899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6809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Too-narrow confidence intervals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18823" y="6374035"/>
            <a:ext cx="5237483" cy="2622299"/>
            <a:chOff x="0" y="0"/>
            <a:chExt cx="6983311" cy="349639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6949440" cy="3462528"/>
            </a:xfrm>
            <a:custGeom>
              <a:avLst/>
              <a:gdLst/>
              <a:ahLst/>
              <a:cxnLst/>
              <a:rect r="r" b="b" t="t" l="l"/>
              <a:pathLst>
                <a:path h="346252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983222" cy="3496310"/>
            </a:xfrm>
            <a:custGeom>
              <a:avLst/>
              <a:gdLst/>
              <a:ahLst/>
              <a:cxnLst/>
              <a:rect r="r" b="b" t="t" l="l"/>
              <a:pathLst>
                <a:path h="349631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3479419"/>
                  </a:lnTo>
                  <a:cubicBezTo>
                    <a:pt x="6983222" y="3488817"/>
                    <a:pt x="6975602" y="3496310"/>
                    <a:pt x="6966331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6966331" y="3462528"/>
                  </a:lnTo>
                  <a:lnTo>
                    <a:pt x="6966331" y="3479419"/>
                  </a:lnTo>
                  <a:lnTo>
                    <a:pt x="6949440" y="347941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18823" y="6261497"/>
            <a:ext cx="5237483" cy="135131"/>
            <a:chOff x="0" y="0"/>
            <a:chExt cx="6983311" cy="18017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6949440" cy="146304"/>
            </a:xfrm>
            <a:custGeom>
              <a:avLst/>
              <a:gdLst/>
              <a:ahLst/>
              <a:cxnLst/>
              <a:rect r="r" b="b" t="t" l="l"/>
              <a:pathLst>
                <a:path h="14630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983222" cy="180088"/>
            </a:xfrm>
            <a:custGeom>
              <a:avLst/>
              <a:gdLst/>
              <a:ahLst/>
              <a:cxnLst/>
              <a:rect r="r" b="b" t="t" l="l"/>
              <a:pathLst>
                <a:path h="180088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63195"/>
                  </a:lnTo>
                  <a:cubicBezTo>
                    <a:pt x="6983222" y="172593"/>
                    <a:pt x="6975602" y="180086"/>
                    <a:pt x="69663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966331" y="146304"/>
                  </a:lnTo>
                  <a:lnTo>
                    <a:pt x="6966331" y="163195"/>
                  </a:lnTo>
                  <a:lnTo>
                    <a:pt x="6949440" y="163195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31520" y="6606188"/>
            <a:ext cx="5212080" cy="1170432"/>
            <a:chOff x="0" y="0"/>
            <a:chExt cx="6949440" cy="156057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949440" cy="1560576"/>
            </a:xfrm>
            <a:custGeom>
              <a:avLst/>
              <a:gdLst/>
              <a:ahLst/>
              <a:cxnLst/>
              <a:rect r="r" b="b" t="t" l="l"/>
              <a:pathLst>
                <a:path h="156057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9" r="0" b="-3676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23825"/>
              <a:ext cx="6949440" cy="1684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80%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31520" y="7659872"/>
            <a:ext cx="5212080" cy="1005840"/>
            <a:chOff x="0" y="0"/>
            <a:chExt cx="6949440" cy="13411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949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7" r="0" b="-5096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9494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investors think they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 above average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406391" y="6404981"/>
            <a:ext cx="5237483" cy="2622299"/>
            <a:chOff x="0" y="0"/>
            <a:chExt cx="6983311" cy="349639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6949440" cy="3462528"/>
            </a:xfrm>
            <a:custGeom>
              <a:avLst/>
              <a:gdLst/>
              <a:ahLst/>
              <a:cxnLst/>
              <a:rect r="r" b="b" t="t" l="l"/>
              <a:pathLst>
                <a:path h="346252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983222" cy="3496310"/>
            </a:xfrm>
            <a:custGeom>
              <a:avLst/>
              <a:gdLst/>
              <a:ahLst/>
              <a:cxnLst/>
              <a:rect r="r" b="b" t="t" l="l"/>
              <a:pathLst>
                <a:path h="349631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3479419"/>
                  </a:lnTo>
                  <a:cubicBezTo>
                    <a:pt x="6983222" y="3488817"/>
                    <a:pt x="6975602" y="3496310"/>
                    <a:pt x="6966331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6966331" y="3462528"/>
                  </a:lnTo>
                  <a:lnTo>
                    <a:pt x="6966331" y="3479419"/>
                  </a:lnTo>
                  <a:lnTo>
                    <a:pt x="6949440" y="347941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02172" y="6303702"/>
            <a:ext cx="5237483" cy="135131"/>
            <a:chOff x="0" y="0"/>
            <a:chExt cx="6983311" cy="18017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6949440" cy="146304"/>
            </a:xfrm>
            <a:custGeom>
              <a:avLst/>
              <a:gdLst/>
              <a:ahLst/>
              <a:cxnLst/>
              <a:rect r="r" b="b" t="t" l="l"/>
              <a:pathLst>
                <a:path h="14630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9B2335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983222" cy="180088"/>
            </a:xfrm>
            <a:custGeom>
              <a:avLst/>
              <a:gdLst/>
              <a:ahLst/>
              <a:cxnLst/>
              <a:rect r="r" b="b" t="t" l="l"/>
              <a:pathLst>
                <a:path h="180088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63195"/>
                  </a:lnTo>
                  <a:cubicBezTo>
                    <a:pt x="6983222" y="172593"/>
                    <a:pt x="6975602" y="180086"/>
                    <a:pt x="69663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966331" y="146304"/>
                  </a:lnTo>
                  <a:lnTo>
                    <a:pt x="6966331" y="163195"/>
                  </a:lnTo>
                  <a:lnTo>
                    <a:pt x="6949440" y="163195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2335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400800" y="6521787"/>
            <a:ext cx="5212080" cy="1170432"/>
            <a:chOff x="0" y="0"/>
            <a:chExt cx="6949440" cy="156057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949440" cy="1560576"/>
            </a:xfrm>
            <a:custGeom>
              <a:avLst/>
              <a:gdLst/>
              <a:ahLst/>
              <a:cxnLst/>
              <a:rect r="r" b="b" t="t" l="l"/>
              <a:pathLst>
                <a:path h="156057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9" r="0" b="-3676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23825"/>
              <a:ext cx="6949440" cy="1684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9B23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−6.5%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400800" y="7645794"/>
            <a:ext cx="5212080" cy="1005840"/>
            <a:chOff x="0" y="0"/>
            <a:chExt cx="6949440" cy="13411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949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7" r="0" b="-5096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69494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annual return lost by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high-turnover investors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057383" y="6388094"/>
            <a:ext cx="5237483" cy="2622299"/>
            <a:chOff x="0" y="0"/>
            <a:chExt cx="6983311" cy="349639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6949440" cy="3462528"/>
            </a:xfrm>
            <a:custGeom>
              <a:avLst/>
              <a:gdLst/>
              <a:ahLst/>
              <a:cxnLst/>
              <a:rect r="r" b="b" t="t" l="l"/>
              <a:pathLst>
                <a:path h="346252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983222" cy="3496310"/>
            </a:xfrm>
            <a:custGeom>
              <a:avLst/>
              <a:gdLst/>
              <a:ahLst/>
              <a:cxnLst/>
              <a:rect r="r" b="b" t="t" l="l"/>
              <a:pathLst>
                <a:path h="349631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3479419"/>
                  </a:lnTo>
                  <a:cubicBezTo>
                    <a:pt x="6983222" y="3488817"/>
                    <a:pt x="6975602" y="3496310"/>
                    <a:pt x="6966331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6966331" y="3462528"/>
                  </a:lnTo>
                  <a:lnTo>
                    <a:pt x="6966331" y="3479419"/>
                  </a:lnTo>
                  <a:lnTo>
                    <a:pt x="6949440" y="347941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057383" y="6317780"/>
            <a:ext cx="5237483" cy="135131"/>
            <a:chOff x="0" y="0"/>
            <a:chExt cx="6983311" cy="1801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6949440" cy="146304"/>
            </a:xfrm>
            <a:custGeom>
              <a:avLst/>
              <a:gdLst/>
              <a:ahLst/>
              <a:cxnLst/>
              <a:rect r="r" b="b" t="t" l="l"/>
              <a:pathLst>
                <a:path h="14630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4080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983222" cy="180088"/>
            </a:xfrm>
            <a:custGeom>
              <a:avLst/>
              <a:gdLst/>
              <a:ahLst/>
              <a:cxnLst/>
              <a:rect r="r" b="b" t="t" l="l"/>
              <a:pathLst>
                <a:path h="180088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63195"/>
                  </a:lnTo>
                  <a:cubicBezTo>
                    <a:pt x="6983222" y="172593"/>
                    <a:pt x="6975602" y="180086"/>
                    <a:pt x="69663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966331" y="146304"/>
                  </a:lnTo>
                  <a:lnTo>
                    <a:pt x="6966331" y="163195"/>
                  </a:lnTo>
                  <a:lnTo>
                    <a:pt x="6949440" y="163195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408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070080" y="6521787"/>
            <a:ext cx="5212080" cy="1170432"/>
            <a:chOff x="0" y="0"/>
            <a:chExt cx="6949440" cy="156057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949440" cy="1560576"/>
            </a:xfrm>
            <a:custGeom>
              <a:avLst/>
              <a:gdLst/>
              <a:ahLst/>
              <a:cxnLst/>
              <a:rect r="r" b="b" t="t" l="l"/>
              <a:pathLst>
                <a:path h="156057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9" r="0" b="-3676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23825"/>
              <a:ext cx="6949440" cy="1684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E4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45%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070080" y="7716136"/>
            <a:ext cx="5212080" cy="1005840"/>
            <a:chOff x="0" y="0"/>
            <a:chExt cx="6949440" cy="13411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949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7" r="0" b="-5096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69494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more trades made by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overconfident investors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31520" y="9326880"/>
            <a:ext cx="16824960" cy="402336"/>
            <a:chOff x="0" y="0"/>
            <a:chExt cx="22433280" cy="53644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2433280" cy="536448"/>
            </a:xfrm>
            <a:custGeom>
              <a:avLst/>
              <a:gdLst/>
              <a:ahLst/>
              <a:cxnLst/>
              <a:rect r="r" b="b" t="t" l="l"/>
              <a:pathLst>
                <a:path h="53644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4828" r="0" b="-76482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2433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Barber &amp; Odean (2000, 2001); Moore &amp; Healy (2008)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9995"/>
            <a:chOff x="0" y="0"/>
            <a:chExt cx="24417871" cy="253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"/>
            </a:xfrm>
            <a:custGeom>
              <a:avLst/>
              <a:gdLst/>
              <a:ahLst/>
              <a:cxnLst/>
              <a:rect r="r" b="b" t="t" l="l"/>
              <a:pathLst>
                <a:path h="21945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53240"/>
            </a:xfrm>
            <a:custGeom>
              <a:avLst/>
              <a:gdLst/>
              <a:ahLst/>
              <a:cxnLst/>
              <a:rect r="r" b="b" t="t" l="l"/>
              <a:pathLst>
                <a:path h="25324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36347"/>
                  </a:lnTo>
                  <a:cubicBezTo>
                    <a:pt x="24417782" y="245745"/>
                    <a:pt x="24410163" y="253238"/>
                    <a:pt x="24400890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4400890" y="219456"/>
                  </a:lnTo>
                  <a:lnTo>
                    <a:pt x="24400890" y="236347"/>
                  </a:lnTo>
                  <a:lnTo>
                    <a:pt x="24384000" y="23634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1895"/>
            <a:ext cx="18313403" cy="71123"/>
            <a:chOff x="0" y="0"/>
            <a:chExt cx="24417871" cy="94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60960"/>
            </a:xfrm>
            <a:custGeom>
              <a:avLst/>
              <a:gdLst/>
              <a:ahLst/>
              <a:cxnLst/>
              <a:rect r="r" b="b" t="t" l="l"/>
              <a:pathLst>
                <a:path h="609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94744"/>
            </a:xfrm>
            <a:custGeom>
              <a:avLst/>
              <a:gdLst/>
              <a:ahLst/>
              <a:cxnLst/>
              <a:rect r="r" b="b" t="t" l="l"/>
              <a:pathLst>
                <a:path h="947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7851"/>
                  </a:lnTo>
                  <a:cubicBezTo>
                    <a:pt x="24417782" y="87249"/>
                    <a:pt x="24410163" y="94742"/>
                    <a:pt x="2440089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4400890" y="60960"/>
                  </a:lnTo>
                  <a:lnTo>
                    <a:pt x="24400890" y="77851"/>
                  </a:lnTo>
                  <a:lnTo>
                    <a:pt x="24384000" y="778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9926831"/>
            <a:ext cx="18313403" cy="327155"/>
            <a:chOff x="0" y="0"/>
            <a:chExt cx="24417871" cy="4362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02336"/>
            </a:xfrm>
            <a:custGeom>
              <a:avLst/>
              <a:gdLst/>
              <a:ahLst/>
              <a:cxnLst/>
              <a:rect r="r" b="b" t="t" l="l"/>
              <a:pathLst>
                <a:path h="4023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EF1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36120"/>
            </a:xfrm>
            <a:custGeom>
              <a:avLst/>
              <a:gdLst/>
              <a:ahLst/>
              <a:cxnLst/>
              <a:rect r="r" b="b" t="t" l="l"/>
              <a:pathLst>
                <a:path h="4361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19227"/>
                  </a:lnTo>
                  <a:cubicBezTo>
                    <a:pt x="24417782" y="428625"/>
                    <a:pt x="24410163" y="436118"/>
                    <a:pt x="24400890" y="436118"/>
                  </a:cubicBezTo>
                  <a:lnTo>
                    <a:pt x="16891" y="436118"/>
                  </a:lnTo>
                  <a:cubicBezTo>
                    <a:pt x="7620" y="436245"/>
                    <a:pt x="0" y="428625"/>
                    <a:pt x="0" y="419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9227"/>
                  </a:lnTo>
                  <a:lnTo>
                    <a:pt x="16891" y="419227"/>
                  </a:lnTo>
                  <a:lnTo>
                    <a:pt x="16891" y="402336"/>
                  </a:lnTo>
                  <a:lnTo>
                    <a:pt x="24400890" y="402336"/>
                  </a:lnTo>
                  <a:lnTo>
                    <a:pt x="24400890" y="419227"/>
                  </a:lnTo>
                  <a:lnTo>
                    <a:pt x="24384000" y="4192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65760"/>
            <a:ext cx="16642080" cy="914400"/>
            <a:chOff x="0" y="0"/>
            <a:chExt cx="221894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Root Causes of Overconfidence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1243584"/>
            <a:ext cx="16642080" cy="475488"/>
            <a:chOff x="0" y="0"/>
            <a:chExt cx="2218944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633984"/>
            </a:xfrm>
            <a:custGeom>
              <a:avLst/>
              <a:gdLst/>
              <a:ahLst/>
              <a:cxnLst/>
              <a:rect r="r" b="b" t="t" l="l"/>
              <a:pathLst>
                <a:path h="63398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Four psychological drivers that fuel investor overconfidence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823" y="1962407"/>
            <a:ext cx="8163563" cy="3408683"/>
            <a:chOff x="0" y="0"/>
            <a:chExt cx="10884751" cy="45449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850881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846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4527931"/>
                  </a:lnTo>
                  <a:cubicBezTo>
                    <a:pt x="10884662" y="4537329"/>
                    <a:pt x="10877042" y="4544822"/>
                    <a:pt x="10867772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867772" y="4511040"/>
                  </a:lnTo>
                  <a:lnTo>
                    <a:pt x="10867772" y="4527931"/>
                  </a:lnTo>
                  <a:lnTo>
                    <a:pt x="10850880" y="452793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18823" y="1962407"/>
            <a:ext cx="8163563" cy="1031243"/>
            <a:chOff x="0" y="0"/>
            <a:chExt cx="10884751" cy="1374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850881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8466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358011"/>
                  </a:lnTo>
                  <a:cubicBezTo>
                    <a:pt x="10884662" y="1367409"/>
                    <a:pt x="10877042" y="1374902"/>
                    <a:pt x="10867772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867772" y="1341120"/>
                  </a:lnTo>
                  <a:lnTo>
                    <a:pt x="10867772" y="1358011"/>
                  </a:lnTo>
                  <a:lnTo>
                    <a:pt x="10850880" y="135801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0976" y="2157984"/>
            <a:ext cx="658368" cy="658368"/>
            <a:chOff x="0" y="0"/>
            <a:chExt cx="877824" cy="877824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92224" y="2194560"/>
            <a:ext cx="6858000" cy="621792"/>
            <a:chOff x="0" y="0"/>
            <a:chExt cx="9144000" cy="8290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0" cy="829056"/>
            </a:xfrm>
            <a:custGeom>
              <a:avLst/>
              <a:gdLst/>
              <a:ahLst/>
              <a:cxnLst/>
              <a:rect r="r" b="b" t="t" l="l"/>
              <a:pathLst>
                <a:path h="82905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08" r="0" b="-1649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14400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Illusion of Knowledge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7552" y="3145536"/>
            <a:ext cx="7607808" cy="2048256"/>
            <a:chOff x="0" y="0"/>
            <a:chExt cx="10143744" cy="27310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43744" cy="2731008"/>
            </a:xfrm>
            <a:custGeom>
              <a:avLst/>
              <a:gdLst/>
              <a:ahLst/>
              <a:cxnLst/>
              <a:rect r="r" b="b" t="t" l="l"/>
              <a:pathLst>
                <a:path h="2731008" w="10143744">
                  <a:moveTo>
                    <a:pt x="0" y="0"/>
                  </a:moveTo>
                  <a:lnTo>
                    <a:pt x="10143744" y="0"/>
                  </a:lnTo>
                  <a:lnTo>
                    <a:pt x="10143744" y="2731008"/>
                  </a:lnTo>
                  <a:lnTo>
                    <a:pt x="0" y="2731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143744" cy="2778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More data feels like more certainty — but accuracy rarely improves with volume of information.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14183" y="1962407"/>
            <a:ext cx="8163563" cy="3408683"/>
            <a:chOff x="0" y="0"/>
            <a:chExt cx="10884751" cy="45449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0850881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846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4527931"/>
                  </a:lnTo>
                  <a:cubicBezTo>
                    <a:pt x="10884662" y="4537329"/>
                    <a:pt x="10877042" y="4544822"/>
                    <a:pt x="10867772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867772" y="4511040"/>
                  </a:lnTo>
                  <a:lnTo>
                    <a:pt x="10867772" y="4527931"/>
                  </a:lnTo>
                  <a:lnTo>
                    <a:pt x="10850880" y="452793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14183" y="1962407"/>
            <a:ext cx="8163563" cy="1031243"/>
            <a:chOff x="0" y="0"/>
            <a:chExt cx="10884751" cy="13749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0850881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408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8466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358011"/>
                  </a:lnTo>
                  <a:cubicBezTo>
                    <a:pt x="10884662" y="1367409"/>
                    <a:pt x="10877042" y="1374902"/>
                    <a:pt x="10867772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867772" y="1341120"/>
                  </a:lnTo>
                  <a:lnTo>
                    <a:pt x="10867772" y="1358011"/>
                  </a:lnTo>
                  <a:lnTo>
                    <a:pt x="10850880" y="135801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408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546336" y="2157984"/>
            <a:ext cx="658368" cy="658368"/>
            <a:chOff x="0" y="0"/>
            <a:chExt cx="877824" cy="877824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387584" y="2194560"/>
            <a:ext cx="6858000" cy="621792"/>
            <a:chOff x="0" y="0"/>
            <a:chExt cx="9144000" cy="8290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0" cy="829056"/>
            </a:xfrm>
            <a:custGeom>
              <a:avLst/>
              <a:gdLst/>
              <a:ahLst/>
              <a:cxnLst/>
              <a:rect r="r" b="b" t="t" l="l"/>
              <a:pathLst>
                <a:path h="82905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08" r="0" b="-16490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914400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Illusion of Control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582912" y="3145536"/>
            <a:ext cx="7607808" cy="2048256"/>
            <a:chOff x="0" y="0"/>
            <a:chExt cx="10143744" cy="27310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43744" cy="2731008"/>
            </a:xfrm>
            <a:custGeom>
              <a:avLst/>
              <a:gdLst/>
              <a:ahLst/>
              <a:cxnLst/>
              <a:rect r="r" b="b" t="t" l="l"/>
              <a:pathLst>
                <a:path h="2731008" w="10143744">
                  <a:moveTo>
                    <a:pt x="0" y="0"/>
                  </a:moveTo>
                  <a:lnTo>
                    <a:pt x="10143744" y="0"/>
                  </a:lnTo>
                  <a:lnTo>
                    <a:pt x="10143744" y="2731008"/>
                  </a:lnTo>
                  <a:lnTo>
                    <a:pt x="0" y="2731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143744" cy="2778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Investors believe active decisions influence outcomes, even in largely random markets.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18823" y="5711447"/>
            <a:ext cx="8163563" cy="3408683"/>
            <a:chOff x="0" y="0"/>
            <a:chExt cx="10884751" cy="45449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10850881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8846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4527931"/>
                  </a:lnTo>
                  <a:cubicBezTo>
                    <a:pt x="10884662" y="4537329"/>
                    <a:pt x="10877042" y="4544822"/>
                    <a:pt x="10867772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867772" y="4511040"/>
                  </a:lnTo>
                  <a:lnTo>
                    <a:pt x="10867772" y="4527931"/>
                  </a:lnTo>
                  <a:lnTo>
                    <a:pt x="10850880" y="452793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18823" y="5711447"/>
            <a:ext cx="8163563" cy="1031243"/>
            <a:chOff x="0" y="0"/>
            <a:chExt cx="10884751" cy="13749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0850881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88466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358011"/>
                  </a:lnTo>
                  <a:cubicBezTo>
                    <a:pt x="10884662" y="1367409"/>
                    <a:pt x="10877042" y="1374902"/>
                    <a:pt x="10867772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867772" y="1341120"/>
                  </a:lnTo>
                  <a:lnTo>
                    <a:pt x="10867772" y="1358011"/>
                  </a:lnTo>
                  <a:lnTo>
                    <a:pt x="10850880" y="135801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50976" y="5907024"/>
            <a:ext cx="658368" cy="658368"/>
            <a:chOff x="0" y="0"/>
            <a:chExt cx="877824" cy="877824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792224" y="5943600"/>
            <a:ext cx="6858000" cy="621792"/>
            <a:chOff x="0" y="0"/>
            <a:chExt cx="9144000" cy="8290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0" cy="829056"/>
            </a:xfrm>
            <a:custGeom>
              <a:avLst/>
              <a:gdLst/>
              <a:ahLst/>
              <a:cxnLst/>
              <a:rect r="r" b="b" t="t" l="l"/>
              <a:pathLst>
                <a:path h="82905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08" r="0" b="-16490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14400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Self-Attribution Bias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87552" y="6894576"/>
            <a:ext cx="7607808" cy="2048256"/>
            <a:chOff x="0" y="0"/>
            <a:chExt cx="10143744" cy="27310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43744" cy="2731008"/>
            </a:xfrm>
            <a:custGeom>
              <a:avLst/>
              <a:gdLst/>
              <a:ahLst/>
              <a:cxnLst/>
              <a:rect r="r" b="b" t="t" l="l"/>
              <a:pathLst>
                <a:path h="2731008" w="10143744">
                  <a:moveTo>
                    <a:pt x="0" y="0"/>
                  </a:moveTo>
                  <a:lnTo>
                    <a:pt x="10143744" y="0"/>
                  </a:lnTo>
                  <a:lnTo>
                    <a:pt x="10143744" y="2731008"/>
                  </a:lnTo>
                  <a:lnTo>
                    <a:pt x="0" y="2731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143744" cy="2778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Wins = skill. Losses = bad luck. This one-sided accounting inflates confidence over time.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14183" y="5711447"/>
            <a:ext cx="8163563" cy="3408683"/>
            <a:chOff x="0" y="0"/>
            <a:chExt cx="10884751" cy="45449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0850881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8846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4527931"/>
                  </a:lnTo>
                  <a:cubicBezTo>
                    <a:pt x="10884662" y="4537329"/>
                    <a:pt x="10877042" y="4544822"/>
                    <a:pt x="10867772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867772" y="4511040"/>
                  </a:lnTo>
                  <a:lnTo>
                    <a:pt x="10867772" y="4527931"/>
                  </a:lnTo>
                  <a:lnTo>
                    <a:pt x="10850880" y="452793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314183" y="5711447"/>
            <a:ext cx="8163563" cy="1031243"/>
            <a:chOff x="0" y="0"/>
            <a:chExt cx="10884751" cy="137499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850881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A6B7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88466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358011"/>
                  </a:lnTo>
                  <a:cubicBezTo>
                    <a:pt x="10884662" y="1367409"/>
                    <a:pt x="10877042" y="1374902"/>
                    <a:pt x="10867772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867772" y="1341120"/>
                  </a:lnTo>
                  <a:lnTo>
                    <a:pt x="10867772" y="1358011"/>
                  </a:lnTo>
                  <a:lnTo>
                    <a:pt x="10850880" y="135801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7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546336" y="5907024"/>
            <a:ext cx="658368" cy="658368"/>
            <a:chOff x="0" y="0"/>
            <a:chExt cx="877824" cy="877824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387584" y="5943600"/>
            <a:ext cx="6858000" cy="621792"/>
            <a:chOff x="0" y="0"/>
            <a:chExt cx="9144000" cy="8290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0" cy="829056"/>
            </a:xfrm>
            <a:custGeom>
              <a:avLst/>
              <a:gdLst/>
              <a:ahLst/>
              <a:cxnLst/>
              <a:rect r="r" b="b" t="t" l="l"/>
              <a:pathLst>
                <a:path h="82905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08" r="0" b="-16490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14400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Hindsight Bias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582912" y="6894576"/>
            <a:ext cx="7607808" cy="2048256"/>
            <a:chOff x="0" y="0"/>
            <a:chExt cx="10143744" cy="273100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143744" cy="2731008"/>
            </a:xfrm>
            <a:custGeom>
              <a:avLst/>
              <a:gdLst/>
              <a:ahLst/>
              <a:cxnLst/>
              <a:rect r="r" b="b" t="t" l="l"/>
              <a:pathLst>
                <a:path h="2731008" w="10143744">
                  <a:moveTo>
                    <a:pt x="0" y="0"/>
                  </a:moveTo>
                  <a:lnTo>
                    <a:pt x="10143744" y="0"/>
                  </a:lnTo>
                  <a:lnTo>
                    <a:pt x="10143744" y="2731008"/>
                  </a:lnTo>
                  <a:lnTo>
                    <a:pt x="0" y="2731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10143744" cy="2778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Past events seem obvious in retrospect, creating false belief future events are predictable.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9995"/>
            <a:chOff x="0" y="0"/>
            <a:chExt cx="24417871" cy="253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"/>
            </a:xfrm>
            <a:custGeom>
              <a:avLst/>
              <a:gdLst/>
              <a:ahLst/>
              <a:cxnLst/>
              <a:rect r="r" b="b" t="t" l="l"/>
              <a:pathLst>
                <a:path h="21945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53240"/>
            </a:xfrm>
            <a:custGeom>
              <a:avLst/>
              <a:gdLst/>
              <a:ahLst/>
              <a:cxnLst/>
              <a:rect r="r" b="b" t="t" l="l"/>
              <a:pathLst>
                <a:path h="25324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36347"/>
                  </a:lnTo>
                  <a:cubicBezTo>
                    <a:pt x="24417782" y="245745"/>
                    <a:pt x="24410163" y="253238"/>
                    <a:pt x="24400890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4400890" y="219456"/>
                  </a:lnTo>
                  <a:lnTo>
                    <a:pt x="24400890" y="236347"/>
                  </a:lnTo>
                  <a:lnTo>
                    <a:pt x="24384000" y="23634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1895"/>
            <a:ext cx="18313403" cy="71123"/>
            <a:chOff x="0" y="0"/>
            <a:chExt cx="24417871" cy="94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60960"/>
            </a:xfrm>
            <a:custGeom>
              <a:avLst/>
              <a:gdLst/>
              <a:ahLst/>
              <a:cxnLst/>
              <a:rect r="r" b="b" t="t" l="l"/>
              <a:pathLst>
                <a:path h="609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94744"/>
            </a:xfrm>
            <a:custGeom>
              <a:avLst/>
              <a:gdLst/>
              <a:ahLst/>
              <a:cxnLst/>
              <a:rect r="r" b="b" t="t" l="l"/>
              <a:pathLst>
                <a:path h="947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7851"/>
                  </a:lnTo>
                  <a:cubicBezTo>
                    <a:pt x="24417782" y="87249"/>
                    <a:pt x="24410163" y="94742"/>
                    <a:pt x="2440089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4400890" y="60960"/>
                  </a:lnTo>
                  <a:lnTo>
                    <a:pt x="24400890" y="77851"/>
                  </a:lnTo>
                  <a:lnTo>
                    <a:pt x="24384000" y="778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9972551"/>
            <a:ext cx="18313403" cy="327155"/>
            <a:chOff x="0" y="0"/>
            <a:chExt cx="24417871" cy="4362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02336"/>
            </a:xfrm>
            <a:custGeom>
              <a:avLst/>
              <a:gdLst/>
              <a:ahLst/>
              <a:cxnLst/>
              <a:rect r="r" b="b" t="t" l="l"/>
              <a:pathLst>
                <a:path h="4023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EF1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36120"/>
            </a:xfrm>
            <a:custGeom>
              <a:avLst/>
              <a:gdLst/>
              <a:ahLst/>
              <a:cxnLst/>
              <a:rect r="r" b="b" t="t" l="l"/>
              <a:pathLst>
                <a:path h="4361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19227"/>
                  </a:lnTo>
                  <a:cubicBezTo>
                    <a:pt x="24417782" y="428625"/>
                    <a:pt x="24410163" y="436118"/>
                    <a:pt x="24400890" y="436118"/>
                  </a:cubicBezTo>
                  <a:lnTo>
                    <a:pt x="16891" y="436118"/>
                  </a:lnTo>
                  <a:cubicBezTo>
                    <a:pt x="7620" y="436245"/>
                    <a:pt x="0" y="428625"/>
                    <a:pt x="0" y="419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9227"/>
                  </a:lnTo>
                  <a:lnTo>
                    <a:pt x="16891" y="419227"/>
                  </a:lnTo>
                  <a:lnTo>
                    <a:pt x="16891" y="402336"/>
                  </a:lnTo>
                  <a:lnTo>
                    <a:pt x="24400890" y="402336"/>
                  </a:lnTo>
                  <a:lnTo>
                    <a:pt x="24400890" y="419227"/>
                  </a:lnTo>
                  <a:lnTo>
                    <a:pt x="24384000" y="4192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65760"/>
            <a:ext cx="16642080" cy="914400"/>
            <a:chOff x="0" y="0"/>
            <a:chExt cx="221894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Effects on Investment Decisions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1243584"/>
            <a:ext cx="16642080" cy="475488"/>
            <a:chOff x="0" y="0"/>
            <a:chExt cx="2218944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633984"/>
            </a:xfrm>
            <a:custGeom>
              <a:avLst/>
              <a:gdLst/>
              <a:ahLst/>
              <a:cxnLst/>
              <a:rect r="r" b="b" t="t" l="l"/>
              <a:pathLst>
                <a:path h="63398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overconfidence manifests as costly investment behaviour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823" y="1907543"/>
            <a:ext cx="10632443" cy="1634747"/>
            <a:chOff x="0" y="0"/>
            <a:chExt cx="14176591" cy="21796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4142719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765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2162683"/>
                  </a:lnTo>
                  <a:cubicBezTo>
                    <a:pt x="14176502" y="2172081"/>
                    <a:pt x="14168882" y="2179574"/>
                    <a:pt x="14159610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4159610" y="2145792"/>
                  </a:lnTo>
                  <a:lnTo>
                    <a:pt x="14159610" y="2162683"/>
                  </a:lnTo>
                  <a:lnTo>
                    <a:pt x="14142720" y="2162683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18823" y="1907543"/>
            <a:ext cx="153419" cy="1634747"/>
            <a:chOff x="0" y="0"/>
            <a:chExt cx="204559" cy="21796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9B233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233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7280" y="2249424"/>
            <a:ext cx="804672" cy="804672"/>
            <a:chOff x="0" y="0"/>
            <a:chExt cx="1072896" cy="107289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03120" y="2084832"/>
            <a:ext cx="8961120" cy="512064"/>
            <a:chOff x="0" y="0"/>
            <a:chExt cx="1194816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1948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Excessive Trading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103120" y="2651760"/>
            <a:ext cx="8961120" cy="768096"/>
            <a:chOff x="0" y="0"/>
            <a:chExt cx="11948160" cy="10241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948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948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Overconfident investors trade up to 45% more, eroding 2–6% of annual returns through transaction costs alone.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8823" y="3809495"/>
            <a:ext cx="10632443" cy="1634747"/>
            <a:chOff x="0" y="0"/>
            <a:chExt cx="14176591" cy="21796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4142719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1765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2162683"/>
                  </a:lnTo>
                  <a:cubicBezTo>
                    <a:pt x="14176502" y="2172081"/>
                    <a:pt x="14168882" y="2179574"/>
                    <a:pt x="14159610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4159610" y="2145792"/>
                  </a:lnTo>
                  <a:lnTo>
                    <a:pt x="14159610" y="2162683"/>
                  </a:lnTo>
                  <a:lnTo>
                    <a:pt x="14142720" y="2162683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18823" y="3809495"/>
            <a:ext cx="153419" cy="1634747"/>
            <a:chOff x="0" y="0"/>
            <a:chExt cx="204559" cy="21796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97280" y="4151376"/>
            <a:ext cx="804672" cy="804672"/>
            <a:chOff x="0" y="0"/>
            <a:chExt cx="1072896" cy="1072896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103120" y="3986784"/>
            <a:ext cx="8961120" cy="512064"/>
            <a:chOff x="0" y="0"/>
            <a:chExt cx="11948160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1948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Underdiversification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103120" y="4553712"/>
            <a:ext cx="8961120" cy="768096"/>
            <a:chOff x="0" y="0"/>
            <a:chExt cx="11948160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948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1948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Conviction in 'sure bets' leads to concentrated portfolios — increasing volatility 2× vs. a diversified approach.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18823" y="5711447"/>
            <a:ext cx="10632443" cy="1634747"/>
            <a:chOff x="0" y="0"/>
            <a:chExt cx="14176591" cy="21796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14142719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1765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2162683"/>
                  </a:lnTo>
                  <a:cubicBezTo>
                    <a:pt x="14176502" y="2172081"/>
                    <a:pt x="14168882" y="2179574"/>
                    <a:pt x="14159610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4159610" y="2145792"/>
                  </a:lnTo>
                  <a:lnTo>
                    <a:pt x="14159610" y="2162683"/>
                  </a:lnTo>
                  <a:lnTo>
                    <a:pt x="14142720" y="2162683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18823" y="5711447"/>
            <a:ext cx="153419" cy="1634747"/>
            <a:chOff x="0" y="0"/>
            <a:chExt cx="204559" cy="217966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2E408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408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97280" y="6053328"/>
            <a:ext cx="804672" cy="804672"/>
            <a:chOff x="0" y="0"/>
            <a:chExt cx="1072896" cy="1072896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103120" y="5888736"/>
            <a:ext cx="8961120" cy="512064"/>
            <a:chOff x="0" y="0"/>
            <a:chExt cx="1194816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1948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Poor Market Timing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103120" y="6455664"/>
            <a:ext cx="8961120" cy="768096"/>
            <a:chOff x="0" y="0"/>
            <a:chExt cx="11948160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948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1948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94% of market timers underperform buy-and-hold strategies over a 10-year period.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8823" y="7613399"/>
            <a:ext cx="10632443" cy="1634747"/>
            <a:chOff x="0" y="0"/>
            <a:chExt cx="14176591" cy="21796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4142719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1765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2162683"/>
                  </a:lnTo>
                  <a:cubicBezTo>
                    <a:pt x="14176502" y="2172081"/>
                    <a:pt x="14168882" y="2179574"/>
                    <a:pt x="14159610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4159610" y="2145792"/>
                  </a:lnTo>
                  <a:lnTo>
                    <a:pt x="14159610" y="2162683"/>
                  </a:lnTo>
                  <a:lnTo>
                    <a:pt x="14142720" y="2162683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18823" y="7613399"/>
            <a:ext cx="153419" cy="1634747"/>
            <a:chOff x="0" y="0"/>
            <a:chExt cx="204559" cy="21796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A6B7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7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97280" y="7955280"/>
            <a:ext cx="804672" cy="804672"/>
            <a:chOff x="0" y="0"/>
            <a:chExt cx="1072896" cy="1072896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2103120" y="7790688"/>
            <a:ext cx="8961120" cy="512064"/>
            <a:chOff x="0" y="0"/>
            <a:chExt cx="1194816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1948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Ignoring Risk Signals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103120" y="8357616"/>
            <a:ext cx="8961120" cy="768096"/>
            <a:chOff x="0" y="0"/>
            <a:chExt cx="11948160" cy="102412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948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1948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Overconfident traders dismiss stop-losses, analyst warnings, and portfolio limits — amplifying losses.</a:t>
              </a:r>
            </a:p>
          </p:txBody>
        </p:sp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045952" y="1170432"/>
            <a:ext cx="7443216" cy="8997696"/>
          </a:xfrm>
          <a:prstGeom prst="rect">
            <a:avLst/>
          </a:prstGeom>
        </p:spPr>
      </p:pic>
      <p:grpSp>
        <p:nvGrpSpPr>
          <p:cNvPr name="Group 74" id="74"/>
          <p:cNvGrpSpPr/>
          <p:nvPr/>
        </p:nvGrpSpPr>
        <p:grpSpPr>
          <a:xfrm rot="0">
            <a:off x="11795760" y="9418320"/>
            <a:ext cx="5943600" cy="365760"/>
            <a:chOff x="0" y="0"/>
            <a:chExt cx="7924800" cy="4876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924800" cy="487680"/>
            </a:xfrm>
            <a:custGeom>
              <a:avLst/>
              <a:gdLst/>
              <a:ahLst/>
              <a:cxnLst/>
              <a:rect r="r" b="b" t="t" l="l"/>
              <a:pathLst>
                <a:path h="48768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79248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Barber &amp; Odean (2000)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9995"/>
            <a:chOff x="0" y="0"/>
            <a:chExt cx="24417871" cy="253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"/>
            </a:xfrm>
            <a:custGeom>
              <a:avLst/>
              <a:gdLst/>
              <a:ahLst/>
              <a:cxnLst/>
              <a:rect r="r" b="b" t="t" l="l"/>
              <a:pathLst>
                <a:path h="21945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53240"/>
            </a:xfrm>
            <a:custGeom>
              <a:avLst/>
              <a:gdLst/>
              <a:ahLst/>
              <a:cxnLst/>
              <a:rect r="r" b="b" t="t" l="l"/>
              <a:pathLst>
                <a:path h="25324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36347"/>
                  </a:lnTo>
                  <a:cubicBezTo>
                    <a:pt x="24417782" y="245745"/>
                    <a:pt x="24410163" y="253238"/>
                    <a:pt x="24400890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4400890" y="219456"/>
                  </a:lnTo>
                  <a:lnTo>
                    <a:pt x="24400890" y="236347"/>
                  </a:lnTo>
                  <a:lnTo>
                    <a:pt x="24384000" y="23634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1895"/>
            <a:ext cx="18313403" cy="71123"/>
            <a:chOff x="0" y="0"/>
            <a:chExt cx="24417871" cy="94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60960"/>
            </a:xfrm>
            <a:custGeom>
              <a:avLst/>
              <a:gdLst/>
              <a:ahLst/>
              <a:cxnLst/>
              <a:rect r="r" b="b" t="t" l="l"/>
              <a:pathLst>
                <a:path h="609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94744"/>
            </a:xfrm>
            <a:custGeom>
              <a:avLst/>
              <a:gdLst/>
              <a:ahLst/>
              <a:cxnLst/>
              <a:rect r="r" b="b" t="t" l="l"/>
              <a:pathLst>
                <a:path h="947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7851"/>
                  </a:lnTo>
                  <a:cubicBezTo>
                    <a:pt x="24417782" y="87249"/>
                    <a:pt x="24410163" y="94742"/>
                    <a:pt x="2440089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4400890" y="60960"/>
                  </a:lnTo>
                  <a:lnTo>
                    <a:pt x="24400890" y="77851"/>
                  </a:lnTo>
                  <a:lnTo>
                    <a:pt x="24384000" y="778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9972551"/>
            <a:ext cx="18313403" cy="327155"/>
            <a:chOff x="0" y="0"/>
            <a:chExt cx="24417871" cy="4362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02336"/>
            </a:xfrm>
            <a:custGeom>
              <a:avLst/>
              <a:gdLst/>
              <a:ahLst/>
              <a:cxnLst/>
              <a:rect r="r" b="b" t="t" l="l"/>
              <a:pathLst>
                <a:path h="4023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EF1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36120"/>
            </a:xfrm>
            <a:custGeom>
              <a:avLst/>
              <a:gdLst/>
              <a:ahLst/>
              <a:cxnLst/>
              <a:rect r="r" b="b" t="t" l="l"/>
              <a:pathLst>
                <a:path h="4361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19227"/>
                  </a:lnTo>
                  <a:cubicBezTo>
                    <a:pt x="24417782" y="428625"/>
                    <a:pt x="24410163" y="436118"/>
                    <a:pt x="24400890" y="436118"/>
                  </a:cubicBezTo>
                  <a:lnTo>
                    <a:pt x="16891" y="436118"/>
                  </a:lnTo>
                  <a:cubicBezTo>
                    <a:pt x="7620" y="436245"/>
                    <a:pt x="0" y="428625"/>
                    <a:pt x="0" y="419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9227"/>
                  </a:lnTo>
                  <a:lnTo>
                    <a:pt x="16891" y="419227"/>
                  </a:lnTo>
                  <a:lnTo>
                    <a:pt x="16891" y="402336"/>
                  </a:lnTo>
                  <a:lnTo>
                    <a:pt x="24400890" y="402336"/>
                  </a:lnTo>
                  <a:lnTo>
                    <a:pt x="24400890" y="419227"/>
                  </a:lnTo>
                  <a:lnTo>
                    <a:pt x="24384000" y="4192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65760"/>
            <a:ext cx="16642080" cy="914400"/>
            <a:chOff x="0" y="0"/>
            <a:chExt cx="221894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 the Numbers: The Cost of Overconfidence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1243584"/>
            <a:ext cx="16642080" cy="475488"/>
            <a:chOff x="0" y="0"/>
            <a:chExt cx="2218944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633984"/>
            </a:xfrm>
            <a:custGeom>
              <a:avLst/>
              <a:gdLst/>
              <a:ahLst/>
              <a:cxnLst/>
              <a:rect r="r" b="b" t="t" l="l"/>
              <a:pathLst>
                <a:path h="63398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Research-backed evidence across investor types and markets</a:t>
              </a: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47472" y="786384"/>
            <a:ext cx="12947904" cy="9656064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 rot="0">
            <a:off x="731520" y="9326880"/>
            <a:ext cx="10789920" cy="402336"/>
            <a:chOff x="0" y="0"/>
            <a:chExt cx="1438656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386561" cy="536448"/>
            </a:xfrm>
            <a:custGeom>
              <a:avLst/>
              <a:gdLst/>
              <a:ahLst/>
              <a:cxnLst/>
              <a:rect r="r" b="b" t="t" l="l"/>
              <a:pathLst>
                <a:path h="536448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2553" r="0" b="-4725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3865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Perception vs. Reality: Investor Self-Assessment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57383" y="1852679"/>
            <a:ext cx="5603243" cy="1579883"/>
            <a:chOff x="0" y="0"/>
            <a:chExt cx="7470991" cy="21065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7437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70901" cy="2106422"/>
            </a:xfrm>
            <a:custGeom>
              <a:avLst/>
              <a:gdLst/>
              <a:ahLst/>
              <a:cxnLst/>
              <a:rect r="r" b="b" t="t" l="l"/>
              <a:pathLst>
                <a:path h="210642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2089531"/>
                  </a:lnTo>
                  <a:cubicBezTo>
                    <a:pt x="7470901" y="2098929"/>
                    <a:pt x="7463282" y="2106422"/>
                    <a:pt x="745401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7454011" y="2072640"/>
                  </a:lnTo>
                  <a:lnTo>
                    <a:pt x="7454011" y="2089531"/>
                  </a:lnTo>
                  <a:lnTo>
                    <a:pt x="7437120" y="208953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57383" y="1852679"/>
            <a:ext cx="153419" cy="1579883"/>
            <a:chOff x="0" y="0"/>
            <a:chExt cx="204559" cy="21065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706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4470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089531"/>
                  </a:lnTo>
                  <a:cubicBezTo>
                    <a:pt x="204470" y="2098929"/>
                    <a:pt x="196850" y="2106422"/>
                    <a:pt x="187579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87579" y="2072640"/>
                  </a:lnTo>
                  <a:lnTo>
                    <a:pt x="187579" y="2089531"/>
                  </a:lnTo>
                  <a:lnTo>
                    <a:pt x="170688" y="2089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344400" y="2011680"/>
            <a:ext cx="1828800" cy="914400"/>
            <a:chOff x="0" y="0"/>
            <a:chExt cx="243840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2438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58%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045184" y="2084832"/>
            <a:ext cx="3438144" cy="1133856"/>
            <a:chOff x="0" y="0"/>
            <a:chExt cx="4584192" cy="15118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84192" cy="1511808"/>
            </a:xfrm>
            <a:custGeom>
              <a:avLst/>
              <a:gdLst/>
              <a:ahLst/>
              <a:cxnLst/>
              <a:rect r="r" b="b" t="t" l="l"/>
              <a:pathLst>
                <a:path h="1511808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83" r="0" b="-908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584192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Overconfidence gap for amateur investors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057383" y="3718055"/>
            <a:ext cx="5603243" cy="1579883"/>
            <a:chOff x="0" y="0"/>
            <a:chExt cx="7470991" cy="21065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7437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70901" cy="2106422"/>
            </a:xfrm>
            <a:custGeom>
              <a:avLst/>
              <a:gdLst/>
              <a:ahLst/>
              <a:cxnLst/>
              <a:rect r="r" b="b" t="t" l="l"/>
              <a:pathLst>
                <a:path h="210642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2089531"/>
                  </a:lnTo>
                  <a:cubicBezTo>
                    <a:pt x="7470901" y="2098929"/>
                    <a:pt x="7463282" y="2106422"/>
                    <a:pt x="745401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7454011" y="2072640"/>
                  </a:lnTo>
                  <a:lnTo>
                    <a:pt x="7454011" y="2089531"/>
                  </a:lnTo>
                  <a:lnTo>
                    <a:pt x="7437120" y="208953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057383" y="3718055"/>
            <a:ext cx="153419" cy="1579883"/>
            <a:chOff x="0" y="0"/>
            <a:chExt cx="204559" cy="21065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1706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9B2335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4470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089531"/>
                  </a:lnTo>
                  <a:cubicBezTo>
                    <a:pt x="204470" y="2098929"/>
                    <a:pt x="196850" y="2106422"/>
                    <a:pt x="187579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87579" y="2072640"/>
                  </a:lnTo>
                  <a:lnTo>
                    <a:pt x="187579" y="2089531"/>
                  </a:lnTo>
                  <a:lnTo>
                    <a:pt x="170688" y="2089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233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0" y="3877056"/>
            <a:ext cx="1828800" cy="914400"/>
            <a:chOff x="0" y="0"/>
            <a:chExt cx="243840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2438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9B23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78%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045184" y="3950208"/>
            <a:ext cx="3438144" cy="1133856"/>
            <a:chOff x="0" y="0"/>
            <a:chExt cx="4584192" cy="15118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84192" cy="1511808"/>
            </a:xfrm>
            <a:custGeom>
              <a:avLst/>
              <a:gdLst/>
              <a:ahLst/>
              <a:cxnLst/>
              <a:rect r="r" b="b" t="t" l="l"/>
              <a:pathLst>
                <a:path h="1511808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83" r="0" b="-908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584192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Gap for day traders — the worst group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57383" y="5583431"/>
            <a:ext cx="5603243" cy="1579883"/>
            <a:chOff x="0" y="0"/>
            <a:chExt cx="7470991" cy="21065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7437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470901" cy="2106422"/>
            </a:xfrm>
            <a:custGeom>
              <a:avLst/>
              <a:gdLst/>
              <a:ahLst/>
              <a:cxnLst/>
              <a:rect r="r" b="b" t="t" l="l"/>
              <a:pathLst>
                <a:path h="210642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2089531"/>
                  </a:lnTo>
                  <a:cubicBezTo>
                    <a:pt x="7470901" y="2098929"/>
                    <a:pt x="7463282" y="2106422"/>
                    <a:pt x="745401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7454011" y="2072640"/>
                  </a:lnTo>
                  <a:lnTo>
                    <a:pt x="7454011" y="2089531"/>
                  </a:lnTo>
                  <a:lnTo>
                    <a:pt x="7437120" y="208953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057383" y="5583431"/>
            <a:ext cx="153419" cy="1579883"/>
            <a:chOff x="0" y="0"/>
            <a:chExt cx="204559" cy="210651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706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4470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089531"/>
                  </a:lnTo>
                  <a:cubicBezTo>
                    <a:pt x="204470" y="2098929"/>
                    <a:pt x="196850" y="2106422"/>
                    <a:pt x="187579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87579" y="2072640"/>
                  </a:lnTo>
                  <a:lnTo>
                    <a:pt x="187579" y="2089531"/>
                  </a:lnTo>
                  <a:lnTo>
                    <a:pt x="170688" y="2089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344400" y="5742432"/>
            <a:ext cx="1828800" cy="914400"/>
            <a:chOff x="0" y="0"/>
            <a:chExt cx="243840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85725"/>
              <a:ext cx="2438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B896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$5T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045184" y="5815584"/>
            <a:ext cx="3438144" cy="1133856"/>
            <a:chOff x="0" y="0"/>
            <a:chExt cx="4584192" cy="151180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584192" cy="1511808"/>
            </a:xfrm>
            <a:custGeom>
              <a:avLst/>
              <a:gdLst/>
              <a:ahLst/>
              <a:cxnLst/>
              <a:rect r="r" b="b" t="t" l="l"/>
              <a:pathLst>
                <a:path h="1511808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83" r="0" b="-908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584192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Wealth destroyed in dot-com crash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057383" y="7448807"/>
            <a:ext cx="5603243" cy="1579883"/>
            <a:chOff x="0" y="0"/>
            <a:chExt cx="7470991" cy="210651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7437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470901" cy="2106422"/>
            </a:xfrm>
            <a:custGeom>
              <a:avLst/>
              <a:gdLst/>
              <a:ahLst/>
              <a:cxnLst/>
              <a:rect r="r" b="b" t="t" l="l"/>
              <a:pathLst>
                <a:path h="210642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2089531"/>
                  </a:lnTo>
                  <a:cubicBezTo>
                    <a:pt x="7470901" y="2098929"/>
                    <a:pt x="7463282" y="2106422"/>
                    <a:pt x="745401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7454011" y="2072640"/>
                  </a:lnTo>
                  <a:lnTo>
                    <a:pt x="7454011" y="2089531"/>
                  </a:lnTo>
                  <a:lnTo>
                    <a:pt x="7437120" y="208953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057383" y="7448807"/>
            <a:ext cx="153419" cy="1579883"/>
            <a:chOff x="0" y="0"/>
            <a:chExt cx="204559" cy="21065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170688" cy="2072640"/>
            </a:xfrm>
            <a:custGeom>
              <a:avLst/>
              <a:gdLst/>
              <a:ahLst/>
              <a:cxnLst/>
              <a:rect r="r" b="b" t="t" l="l"/>
              <a:pathLst>
                <a:path h="2072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A6B72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4470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089531"/>
                  </a:lnTo>
                  <a:cubicBezTo>
                    <a:pt x="204470" y="2098929"/>
                    <a:pt x="196850" y="2106422"/>
                    <a:pt x="187579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87579" y="2072640"/>
                  </a:lnTo>
                  <a:lnTo>
                    <a:pt x="187579" y="2089531"/>
                  </a:lnTo>
                  <a:lnTo>
                    <a:pt x="170688" y="2089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7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344400" y="7607808"/>
            <a:ext cx="1828800" cy="914400"/>
            <a:chOff x="0" y="0"/>
            <a:chExt cx="2438400" cy="1219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85725"/>
              <a:ext cx="2438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6B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1.4%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045184" y="7680960"/>
            <a:ext cx="3438144" cy="1133856"/>
            <a:chOff x="0" y="0"/>
            <a:chExt cx="4584192" cy="15118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584192" cy="1511808"/>
            </a:xfrm>
            <a:custGeom>
              <a:avLst/>
              <a:gdLst/>
              <a:ahLst/>
              <a:cxnLst/>
              <a:rect r="r" b="b" t="t" l="l"/>
              <a:pathLst>
                <a:path h="1511808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83" r="0" b="-908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584192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 return women earn over men annually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9995"/>
            <a:chOff x="0" y="0"/>
            <a:chExt cx="24417871" cy="253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"/>
            </a:xfrm>
            <a:custGeom>
              <a:avLst/>
              <a:gdLst/>
              <a:ahLst/>
              <a:cxnLst/>
              <a:rect r="r" b="b" t="t" l="l"/>
              <a:pathLst>
                <a:path h="21945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53240"/>
            </a:xfrm>
            <a:custGeom>
              <a:avLst/>
              <a:gdLst/>
              <a:ahLst/>
              <a:cxnLst/>
              <a:rect r="r" b="b" t="t" l="l"/>
              <a:pathLst>
                <a:path h="25324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36347"/>
                  </a:lnTo>
                  <a:cubicBezTo>
                    <a:pt x="24417782" y="245745"/>
                    <a:pt x="24410163" y="253238"/>
                    <a:pt x="24400890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4400890" y="219456"/>
                  </a:lnTo>
                  <a:lnTo>
                    <a:pt x="24400890" y="236347"/>
                  </a:lnTo>
                  <a:lnTo>
                    <a:pt x="24384000" y="23634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1895"/>
            <a:ext cx="18313403" cy="71123"/>
            <a:chOff x="0" y="0"/>
            <a:chExt cx="24417871" cy="94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60960"/>
            </a:xfrm>
            <a:custGeom>
              <a:avLst/>
              <a:gdLst/>
              <a:ahLst/>
              <a:cxnLst/>
              <a:rect r="r" b="b" t="t" l="l"/>
              <a:pathLst>
                <a:path h="609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94744"/>
            </a:xfrm>
            <a:custGeom>
              <a:avLst/>
              <a:gdLst/>
              <a:ahLst/>
              <a:cxnLst/>
              <a:rect r="r" b="b" t="t" l="l"/>
              <a:pathLst>
                <a:path h="947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7851"/>
                  </a:lnTo>
                  <a:cubicBezTo>
                    <a:pt x="24417782" y="87249"/>
                    <a:pt x="24410163" y="94742"/>
                    <a:pt x="2440089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4400890" y="60960"/>
                  </a:lnTo>
                  <a:lnTo>
                    <a:pt x="24400890" y="77851"/>
                  </a:lnTo>
                  <a:lnTo>
                    <a:pt x="24384000" y="778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9972551"/>
            <a:ext cx="18313403" cy="327155"/>
            <a:chOff x="0" y="0"/>
            <a:chExt cx="24417871" cy="4362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02336"/>
            </a:xfrm>
            <a:custGeom>
              <a:avLst/>
              <a:gdLst/>
              <a:ahLst/>
              <a:cxnLst/>
              <a:rect r="r" b="b" t="t" l="l"/>
              <a:pathLst>
                <a:path h="4023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EF1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36120"/>
            </a:xfrm>
            <a:custGeom>
              <a:avLst/>
              <a:gdLst/>
              <a:ahLst/>
              <a:cxnLst/>
              <a:rect r="r" b="b" t="t" l="l"/>
              <a:pathLst>
                <a:path h="4361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19227"/>
                  </a:lnTo>
                  <a:cubicBezTo>
                    <a:pt x="24417782" y="428625"/>
                    <a:pt x="24410163" y="436118"/>
                    <a:pt x="24400890" y="436118"/>
                  </a:cubicBezTo>
                  <a:lnTo>
                    <a:pt x="16891" y="436118"/>
                  </a:lnTo>
                  <a:cubicBezTo>
                    <a:pt x="7620" y="436245"/>
                    <a:pt x="0" y="428625"/>
                    <a:pt x="0" y="419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9227"/>
                  </a:lnTo>
                  <a:lnTo>
                    <a:pt x="16891" y="419227"/>
                  </a:lnTo>
                  <a:lnTo>
                    <a:pt x="16891" y="402336"/>
                  </a:lnTo>
                  <a:lnTo>
                    <a:pt x="24400890" y="402336"/>
                  </a:lnTo>
                  <a:lnTo>
                    <a:pt x="24400890" y="419227"/>
                  </a:lnTo>
                  <a:lnTo>
                    <a:pt x="24384000" y="4192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65760"/>
            <a:ext cx="16642080" cy="914400"/>
            <a:chOff x="0" y="0"/>
            <a:chExt cx="221894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Takeaways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1243584"/>
            <a:ext cx="16642080" cy="475488"/>
            <a:chOff x="0" y="0"/>
            <a:chExt cx="2218944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633984"/>
            </a:xfrm>
            <a:custGeom>
              <a:avLst/>
              <a:gdLst/>
              <a:ahLst/>
              <a:cxnLst/>
              <a:rect r="r" b="b" t="t" l="l"/>
              <a:pathLst>
                <a:path h="63398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every investor must understand about overconfidence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823" y="1907543"/>
            <a:ext cx="16850363" cy="1378715"/>
            <a:chOff x="0" y="0"/>
            <a:chExt cx="22467151" cy="18382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4332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5EDD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467063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821307"/>
                  </a:lnTo>
                  <a:cubicBezTo>
                    <a:pt x="22467063" y="1830705"/>
                    <a:pt x="22459443" y="1838198"/>
                    <a:pt x="22450171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2450171" y="1804416"/>
                  </a:lnTo>
                  <a:lnTo>
                    <a:pt x="22450171" y="1821307"/>
                  </a:lnTo>
                  <a:lnTo>
                    <a:pt x="22433280" y="182130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18823" y="1907543"/>
            <a:ext cx="1122683" cy="1378715"/>
            <a:chOff x="0" y="0"/>
            <a:chExt cx="1496911" cy="18382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40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96822" cy="1838198"/>
            </a:xfrm>
            <a:custGeom>
              <a:avLst/>
              <a:gdLst/>
              <a:ahLst/>
              <a:cxnLst/>
              <a:rect r="r" b="b" t="t" l="l"/>
              <a:pathLst>
                <a:path h="1838198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821307"/>
                  </a:lnTo>
                  <a:cubicBezTo>
                    <a:pt x="1496822" y="1830705"/>
                    <a:pt x="1489202" y="1838198"/>
                    <a:pt x="1479931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1479931" y="1804416"/>
                  </a:lnTo>
                  <a:lnTo>
                    <a:pt x="1479931" y="1821307"/>
                  </a:lnTo>
                  <a:lnTo>
                    <a:pt x="1463040" y="1821307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31520" y="1920240"/>
            <a:ext cx="1097280" cy="1353312"/>
            <a:chOff x="0" y="0"/>
            <a:chExt cx="1463040" cy="1804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241" t="0" r="-10824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463040" cy="18615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B896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11680" y="2066544"/>
            <a:ext cx="4754880" cy="475488"/>
            <a:chOff x="0" y="0"/>
            <a:chExt cx="6339840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3398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It's Universal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011680" y="2596896"/>
            <a:ext cx="15325344" cy="548640"/>
            <a:chOff x="0" y="0"/>
            <a:chExt cx="20433792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433792" cy="731520"/>
            </a:xfrm>
            <a:custGeom>
              <a:avLst/>
              <a:gdLst/>
              <a:ahLst/>
              <a:cxnLst/>
              <a:rect r="r" b="b" t="t" l="l"/>
              <a:pathLst>
                <a:path h="731520" w="20433792">
                  <a:moveTo>
                    <a:pt x="0" y="0"/>
                  </a:moveTo>
                  <a:lnTo>
                    <a:pt x="20433792" y="0"/>
                  </a:lnTo>
                  <a:lnTo>
                    <a:pt x="204337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282" r="0" b="-49428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4337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Overconfidence affects 70–90% of investors regardless of education or experience. Awareness is the first step.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8823" y="3498599"/>
            <a:ext cx="16850363" cy="1378715"/>
            <a:chOff x="0" y="0"/>
            <a:chExt cx="22467151" cy="18382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24332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467063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821307"/>
                  </a:lnTo>
                  <a:cubicBezTo>
                    <a:pt x="22467063" y="1830705"/>
                    <a:pt x="22459443" y="1838198"/>
                    <a:pt x="22450171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2450171" y="1804416"/>
                  </a:lnTo>
                  <a:lnTo>
                    <a:pt x="22450171" y="1821307"/>
                  </a:lnTo>
                  <a:lnTo>
                    <a:pt x="22433280" y="182130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18823" y="3498599"/>
            <a:ext cx="1122683" cy="1378715"/>
            <a:chOff x="0" y="0"/>
            <a:chExt cx="1496911" cy="18382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463040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96822" cy="1838198"/>
            </a:xfrm>
            <a:custGeom>
              <a:avLst/>
              <a:gdLst/>
              <a:ahLst/>
              <a:cxnLst/>
              <a:rect r="r" b="b" t="t" l="l"/>
              <a:pathLst>
                <a:path h="1838198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821307"/>
                  </a:lnTo>
                  <a:cubicBezTo>
                    <a:pt x="1496822" y="1830705"/>
                    <a:pt x="1489202" y="1838198"/>
                    <a:pt x="1479931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1479931" y="1804416"/>
                  </a:lnTo>
                  <a:lnTo>
                    <a:pt x="1479931" y="1821307"/>
                  </a:lnTo>
                  <a:lnTo>
                    <a:pt x="1463040" y="1821307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3511296"/>
            <a:ext cx="1097280" cy="1353312"/>
            <a:chOff x="0" y="0"/>
            <a:chExt cx="1463040" cy="18044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241" t="0" r="-10824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463040" cy="18615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B896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011680" y="3657600"/>
            <a:ext cx="4754880" cy="475488"/>
            <a:chOff x="0" y="0"/>
            <a:chExt cx="6339840" cy="633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3398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Cost is Real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11680" y="4187952"/>
            <a:ext cx="15325344" cy="548640"/>
            <a:chOff x="0" y="0"/>
            <a:chExt cx="20433792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433792" cy="731520"/>
            </a:xfrm>
            <a:custGeom>
              <a:avLst/>
              <a:gdLst/>
              <a:ahLst/>
              <a:cxnLst/>
              <a:rect r="r" b="b" t="t" l="l"/>
              <a:pathLst>
                <a:path h="731520" w="20433792">
                  <a:moveTo>
                    <a:pt x="0" y="0"/>
                  </a:moveTo>
                  <a:lnTo>
                    <a:pt x="20433792" y="0"/>
                  </a:lnTo>
                  <a:lnTo>
                    <a:pt x="204337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282" r="0" b="-49428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04337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Overconfident investors lose 2–7% in annual returns vs. systematic strategies — enormous over a decade.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8823" y="5089655"/>
            <a:ext cx="16850363" cy="1378715"/>
            <a:chOff x="0" y="0"/>
            <a:chExt cx="22467151" cy="183828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24332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5EDD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467063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821307"/>
                  </a:lnTo>
                  <a:cubicBezTo>
                    <a:pt x="22467063" y="1830705"/>
                    <a:pt x="22459443" y="1838198"/>
                    <a:pt x="22450171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2450171" y="1804416"/>
                  </a:lnTo>
                  <a:lnTo>
                    <a:pt x="22450171" y="1821307"/>
                  </a:lnTo>
                  <a:lnTo>
                    <a:pt x="22433280" y="182130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18823" y="5089655"/>
            <a:ext cx="1122683" cy="1378715"/>
            <a:chOff x="0" y="0"/>
            <a:chExt cx="1496911" cy="183828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463040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96822" cy="1838198"/>
            </a:xfrm>
            <a:custGeom>
              <a:avLst/>
              <a:gdLst/>
              <a:ahLst/>
              <a:cxnLst/>
              <a:rect r="r" b="b" t="t" l="l"/>
              <a:pathLst>
                <a:path h="1838198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821307"/>
                  </a:lnTo>
                  <a:cubicBezTo>
                    <a:pt x="1496822" y="1830705"/>
                    <a:pt x="1489202" y="1838198"/>
                    <a:pt x="1479931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1479931" y="1804416"/>
                  </a:lnTo>
                  <a:lnTo>
                    <a:pt x="1479931" y="1821307"/>
                  </a:lnTo>
                  <a:lnTo>
                    <a:pt x="1463040" y="1821307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31520" y="5102352"/>
            <a:ext cx="1097280" cy="1353312"/>
            <a:chOff x="0" y="0"/>
            <a:chExt cx="1463040" cy="18044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0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241" t="0" r="-10824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463040" cy="18615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B896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011680" y="5248656"/>
            <a:ext cx="4754880" cy="475488"/>
            <a:chOff x="0" y="0"/>
            <a:chExt cx="6339840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3398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More Data ≠ Better Bets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011680" y="5779008"/>
            <a:ext cx="15325344" cy="548640"/>
            <a:chOff x="0" y="0"/>
            <a:chExt cx="20433792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433792" cy="731520"/>
            </a:xfrm>
            <a:custGeom>
              <a:avLst/>
              <a:gdLst/>
              <a:ahLst/>
              <a:cxnLst/>
              <a:rect r="r" b="b" t="t" l="l"/>
              <a:pathLst>
                <a:path h="731520" w="20433792">
                  <a:moveTo>
                    <a:pt x="0" y="0"/>
                  </a:moveTo>
                  <a:lnTo>
                    <a:pt x="20433792" y="0"/>
                  </a:lnTo>
                  <a:lnTo>
                    <a:pt x="204337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282" r="0" b="-49428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04337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Additional information increases confidence far more than it improves accuracy — a dangerous mismatch.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18823" y="6680711"/>
            <a:ext cx="16850363" cy="1378715"/>
            <a:chOff x="0" y="0"/>
            <a:chExt cx="22467151" cy="183828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224332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467063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821307"/>
                  </a:lnTo>
                  <a:cubicBezTo>
                    <a:pt x="22467063" y="1830705"/>
                    <a:pt x="22459443" y="1838198"/>
                    <a:pt x="22450171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2450171" y="1804416"/>
                  </a:lnTo>
                  <a:lnTo>
                    <a:pt x="22450171" y="1821307"/>
                  </a:lnTo>
                  <a:lnTo>
                    <a:pt x="22433280" y="182130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18823" y="6680711"/>
            <a:ext cx="1122683" cy="1378715"/>
            <a:chOff x="0" y="0"/>
            <a:chExt cx="1496911" cy="183828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463040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96822" cy="1838198"/>
            </a:xfrm>
            <a:custGeom>
              <a:avLst/>
              <a:gdLst/>
              <a:ahLst/>
              <a:cxnLst/>
              <a:rect r="r" b="b" t="t" l="l"/>
              <a:pathLst>
                <a:path h="1838198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821307"/>
                  </a:lnTo>
                  <a:cubicBezTo>
                    <a:pt x="1496822" y="1830705"/>
                    <a:pt x="1489202" y="1838198"/>
                    <a:pt x="1479931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1479931" y="1804416"/>
                  </a:lnTo>
                  <a:lnTo>
                    <a:pt x="1479931" y="1821307"/>
                  </a:lnTo>
                  <a:lnTo>
                    <a:pt x="1463040" y="1821307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31520" y="6693408"/>
            <a:ext cx="1097280" cy="1353312"/>
            <a:chOff x="0" y="0"/>
            <a:chExt cx="1463040" cy="18044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241" t="0" r="-10824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1463040" cy="18615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B896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011680" y="6839712"/>
            <a:ext cx="4754880" cy="475488"/>
            <a:chOff x="0" y="0"/>
            <a:chExt cx="6339840" cy="6339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3398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Past Success Amplifies It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011680" y="7370064"/>
            <a:ext cx="15325344" cy="548640"/>
            <a:chOff x="0" y="0"/>
            <a:chExt cx="20433792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433792" cy="731520"/>
            </a:xfrm>
            <a:custGeom>
              <a:avLst/>
              <a:gdLst/>
              <a:ahLst/>
              <a:cxnLst/>
              <a:rect r="r" b="b" t="t" l="l"/>
              <a:pathLst>
                <a:path h="731520" w="20433792">
                  <a:moveTo>
                    <a:pt x="0" y="0"/>
                  </a:moveTo>
                  <a:lnTo>
                    <a:pt x="20433792" y="0"/>
                  </a:lnTo>
                  <a:lnTo>
                    <a:pt x="204337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282" r="0" b="-49428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04337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Winning streaks are the biggest confidence booster — and the most dangerous precursor to large losses.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18823" y="8271767"/>
            <a:ext cx="16850363" cy="1378715"/>
            <a:chOff x="0" y="0"/>
            <a:chExt cx="22467151" cy="183828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22433280" cy="1804416"/>
            </a:xfrm>
            <a:custGeom>
              <a:avLst/>
              <a:gdLst/>
              <a:ahLst/>
              <a:cxnLst/>
              <a:rect r="r" b="b" t="t" l="l"/>
              <a:pathLst>
                <a:path h="180441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5EDD8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467063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821307"/>
                  </a:lnTo>
                  <a:cubicBezTo>
                    <a:pt x="22467063" y="1830705"/>
                    <a:pt x="22459443" y="1838198"/>
                    <a:pt x="22450171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2450171" y="1804416"/>
                  </a:lnTo>
                  <a:lnTo>
                    <a:pt x="22450171" y="1821307"/>
                  </a:lnTo>
                  <a:lnTo>
                    <a:pt x="22433280" y="182130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18823" y="8271767"/>
            <a:ext cx="1122683" cy="1378715"/>
            <a:chOff x="0" y="0"/>
            <a:chExt cx="1496911" cy="183828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463040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496822" cy="1838198"/>
            </a:xfrm>
            <a:custGeom>
              <a:avLst/>
              <a:gdLst/>
              <a:ahLst/>
              <a:cxnLst/>
              <a:rect r="r" b="b" t="t" l="l"/>
              <a:pathLst>
                <a:path h="1838198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821307"/>
                  </a:lnTo>
                  <a:cubicBezTo>
                    <a:pt x="1496822" y="1830705"/>
                    <a:pt x="1489202" y="1838198"/>
                    <a:pt x="1479931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1479931" y="1804416"/>
                  </a:lnTo>
                  <a:lnTo>
                    <a:pt x="1479931" y="1821307"/>
                  </a:lnTo>
                  <a:lnTo>
                    <a:pt x="1463040" y="1821307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31520" y="8284464"/>
            <a:ext cx="1097280" cy="1353312"/>
            <a:chOff x="0" y="0"/>
            <a:chExt cx="1463040" cy="180441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63040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241" t="0" r="-108241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1463040" cy="18615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B896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2011680" y="8430768"/>
            <a:ext cx="4754880" cy="475488"/>
            <a:chOff x="0" y="0"/>
            <a:chExt cx="6339840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63398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Systems Beat Instinct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2011680" y="8961120"/>
            <a:ext cx="15325344" cy="548640"/>
            <a:chOff x="0" y="0"/>
            <a:chExt cx="20433792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433792" cy="731520"/>
            </a:xfrm>
            <a:custGeom>
              <a:avLst/>
              <a:gdLst/>
              <a:ahLst/>
              <a:cxnLst/>
              <a:rect r="r" b="b" t="t" l="l"/>
              <a:pathLst>
                <a:path h="731520" w="20433792">
                  <a:moveTo>
                    <a:pt x="0" y="0"/>
                  </a:moveTo>
                  <a:lnTo>
                    <a:pt x="20433792" y="0"/>
                  </a:lnTo>
                  <a:lnTo>
                    <a:pt x="204337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282" r="0" b="-49428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04337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Rule-based investing consistently outperforms gut-feel trading. Automate discipline to remove emotional bias.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9995"/>
            <a:chOff x="0" y="0"/>
            <a:chExt cx="24417871" cy="253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"/>
            </a:xfrm>
            <a:custGeom>
              <a:avLst/>
              <a:gdLst/>
              <a:ahLst/>
              <a:cxnLst/>
              <a:rect r="r" b="b" t="t" l="l"/>
              <a:pathLst>
                <a:path h="21945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53240"/>
            </a:xfrm>
            <a:custGeom>
              <a:avLst/>
              <a:gdLst/>
              <a:ahLst/>
              <a:cxnLst/>
              <a:rect r="r" b="b" t="t" l="l"/>
              <a:pathLst>
                <a:path h="25324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36347"/>
                  </a:lnTo>
                  <a:cubicBezTo>
                    <a:pt x="24417782" y="245745"/>
                    <a:pt x="24410163" y="253238"/>
                    <a:pt x="24400890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4400890" y="219456"/>
                  </a:lnTo>
                  <a:lnTo>
                    <a:pt x="24400890" y="236347"/>
                  </a:lnTo>
                  <a:lnTo>
                    <a:pt x="24384000" y="23634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1895"/>
            <a:ext cx="18313403" cy="71123"/>
            <a:chOff x="0" y="0"/>
            <a:chExt cx="24417871" cy="94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60960"/>
            </a:xfrm>
            <a:custGeom>
              <a:avLst/>
              <a:gdLst/>
              <a:ahLst/>
              <a:cxnLst/>
              <a:rect r="r" b="b" t="t" l="l"/>
              <a:pathLst>
                <a:path h="609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94744"/>
            </a:xfrm>
            <a:custGeom>
              <a:avLst/>
              <a:gdLst/>
              <a:ahLst/>
              <a:cxnLst/>
              <a:rect r="r" b="b" t="t" l="l"/>
              <a:pathLst>
                <a:path h="947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7851"/>
                  </a:lnTo>
                  <a:cubicBezTo>
                    <a:pt x="24417782" y="87249"/>
                    <a:pt x="24410163" y="94742"/>
                    <a:pt x="2440089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4400890" y="60960"/>
                  </a:lnTo>
                  <a:lnTo>
                    <a:pt x="24400890" y="77851"/>
                  </a:lnTo>
                  <a:lnTo>
                    <a:pt x="24384000" y="778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9972551"/>
            <a:ext cx="18313403" cy="327155"/>
            <a:chOff x="0" y="0"/>
            <a:chExt cx="24417871" cy="4362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02336"/>
            </a:xfrm>
            <a:custGeom>
              <a:avLst/>
              <a:gdLst/>
              <a:ahLst/>
              <a:cxnLst/>
              <a:rect r="r" b="b" t="t" l="l"/>
              <a:pathLst>
                <a:path h="4023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EF1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36120"/>
            </a:xfrm>
            <a:custGeom>
              <a:avLst/>
              <a:gdLst/>
              <a:ahLst/>
              <a:cxnLst/>
              <a:rect r="r" b="b" t="t" l="l"/>
              <a:pathLst>
                <a:path h="4361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19227"/>
                  </a:lnTo>
                  <a:cubicBezTo>
                    <a:pt x="24417782" y="428625"/>
                    <a:pt x="24410163" y="436118"/>
                    <a:pt x="24400890" y="436118"/>
                  </a:cubicBezTo>
                  <a:lnTo>
                    <a:pt x="16891" y="436118"/>
                  </a:lnTo>
                  <a:cubicBezTo>
                    <a:pt x="7620" y="436245"/>
                    <a:pt x="0" y="428625"/>
                    <a:pt x="0" y="419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9227"/>
                  </a:lnTo>
                  <a:lnTo>
                    <a:pt x="16891" y="419227"/>
                  </a:lnTo>
                  <a:lnTo>
                    <a:pt x="16891" y="402336"/>
                  </a:lnTo>
                  <a:lnTo>
                    <a:pt x="24400890" y="402336"/>
                  </a:lnTo>
                  <a:lnTo>
                    <a:pt x="24400890" y="419227"/>
                  </a:lnTo>
                  <a:lnTo>
                    <a:pt x="24384000" y="4192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65760"/>
            <a:ext cx="16642080" cy="914400"/>
            <a:chOff x="0" y="0"/>
            <a:chExt cx="221894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Strategies to Mitigate Overconfidence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1243584"/>
            <a:ext cx="16642080" cy="475488"/>
            <a:chOff x="0" y="0"/>
            <a:chExt cx="2218944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633984"/>
            </a:xfrm>
            <a:custGeom>
              <a:avLst/>
              <a:gdLst/>
              <a:ahLst/>
              <a:cxnLst/>
              <a:rect r="r" b="b" t="t" l="l"/>
              <a:pathLst>
                <a:path h="63398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Six practical steps to invest with calibrated confidence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2247" y="1907543"/>
            <a:ext cx="5328923" cy="3426971"/>
            <a:chOff x="0" y="0"/>
            <a:chExt cx="7105231" cy="45692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071360" cy="4535424"/>
            </a:xfrm>
            <a:custGeom>
              <a:avLst/>
              <a:gdLst/>
              <a:ahLst/>
              <a:cxnLst/>
              <a:rect r="r" b="b" t="t" l="l"/>
              <a:pathLst>
                <a:path h="45354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535424"/>
                  </a:lnTo>
                  <a:lnTo>
                    <a:pt x="0" y="45354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05142" cy="4569206"/>
            </a:xfrm>
            <a:custGeom>
              <a:avLst/>
              <a:gdLst/>
              <a:ahLst/>
              <a:cxnLst/>
              <a:rect r="r" b="b" t="t" l="l"/>
              <a:pathLst>
                <a:path h="4569206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552315"/>
                  </a:lnTo>
                  <a:cubicBezTo>
                    <a:pt x="7105142" y="4561713"/>
                    <a:pt x="7097522" y="4569206"/>
                    <a:pt x="7088251" y="4569206"/>
                  </a:cubicBezTo>
                  <a:lnTo>
                    <a:pt x="16891" y="4569206"/>
                  </a:lnTo>
                  <a:cubicBezTo>
                    <a:pt x="7493" y="4569206"/>
                    <a:pt x="0" y="4561586"/>
                    <a:pt x="0" y="4552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2315"/>
                  </a:lnTo>
                  <a:lnTo>
                    <a:pt x="16891" y="4552315"/>
                  </a:lnTo>
                  <a:lnTo>
                    <a:pt x="16891" y="4535424"/>
                  </a:lnTo>
                  <a:lnTo>
                    <a:pt x="7088251" y="4535424"/>
                  </a:lnTo>
                  <a:lnTo>
                    <a:pt x="7088251" y="4552315"/>
                  </a:lnTo>
                  <a:lnTo>
                    <a:pt x="7071360" y="4552315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2247" y="1907543"/>
            <a:ext cx="5328923" cy="976379"/>
            <a:chOff x="0" y="0"/>
            <a:chExt cx="7105231" cy="13018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051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284859"/>
                  </a:lnTo>
                  <a:cubicBezTo>
                    <a:pt x="7105142" y="1294257"/>
                    <a:pt x="7097522" y="1301750"/>
                    <a:pt x="70882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088251" y="1267968"/>
                  </a:lnTo>
                  <a:lnTo>
                    <a:pt x="7088251" y="1284859"/>
                  </a:lnTo>
                  <a:lnTo>
                    <a:pt x="7071360" y="12848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96112" y="2084832"/>
            <a:ext cx="640080" cy="640080"/>
            <a:chOff x="0" y="0"/>
            <a:chExt cx="853440" cy="85344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00784" y="2103120"/>
            <a:ext cx="4151376" cy="621792"/>
            <a:chOff x="0" y="0"/>
            <a:chExt cx="5535168" cy="8290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35168" cy="829056"/>
            </a:xfrm>
            <a:custGeom>
              <a:avLst/>
              <a:gdLst/>
              <a:ahLst/>
              <a:cxnLst/>
              <a:rect r="r" b="b" t="t" l="l"/>
              <a:pathLst>
                <a:path h="829056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91" r="0" b="-8009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535168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Keep a Trade Journal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77824" y="3017520"/>
            <a:ext cx="4974336" cy="2157984"/>
            <a:chOff x="0" y="0"/>
            <a:chExt cx="6632448" cy="28773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32448" cy="2877312"/>
            </a:xfrm>
            <a:custGeom>
              <a:avLst/>
              <a:gdLst/>
              <a:ahLst/>
              <a:cxnLst/>
              <a:rect r="r" b="b" t="t" l="l"/>
              <a:pathLst>
                <a:path h="287731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61" t="0" r="-566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632448" cy="2924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 every decision &amp; rationale. Monthly review reveals overconfident patterns fast.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351527" y="1907543"/>
            <a:ext cx="5328923" cy="3426971"/>
            <a:chOff x="0" y="0"/>
            <a:chExt cx="7105231" cy="456929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071360" cy="4535424"/>
            </a:xfrm>
            <a:custGeom>
              <a:avLst/>
              <a:gdLst/>
              <a:ahLst/>
              <a:cxnLst/>
              <a:rect r="r" b="b" t="t" l="l"/>
              <a:pathLst>
                <a:path h="45354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535424"/>
                  </a:lnTo>
                  <a:lnTo>
                    <a:pt x="0" y="45354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05142" cy="4569206"/>
            </a:xfrm>
            <a:custGeom>
              <a:avLst/>
              <a:gdLst/>
              <a:ahLst/>
              <a:cxnLst/>
              <a:rect r="r" b="b" t="t" l="l"/>
              <a:pathLst>
                <a:path h="4569206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552315"/>
                  </a:lnTo>
                  <a:cubicBezTo>
                    <a:pt x="7105142" y="4561713"/>
                    <a:pt x="7097522" y="4569206"/>
                    <a:pt x="7088251" y="4569206"/>
                  </a:cubicBezTo>
                  <a:lnTo>
                    <a:pt x="16891" y="4569206"/>
                  </a:lnTo>
                  <a:cubicBezTo>
                    <a:pt x="7493" y="4569206"/>
                    <a:pt x="0" y="4561586"/>
                    <a:pt x="0" y="4552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2315"/>
                  </a:lnTo>
                  <a:lnTo>
                    <a:pt x="16891" y="4552315"/>
                  </a:lnTo>
                  <a:lnTo>
                    <a:pt x="16891" y="4535424"/>
                  </a:lnTo>
                  <a:lnTo>
                    <a:pt x="7088251" y="4535424"/>
                  </a:lnTo>
                  <a:lnTo>
                    <a:pt x="7088251" y="4552315"/>
                  </a:lnTo>
                  <a:lnTo>
                    <a:pt x="7071360" y="4552315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351527" y="1907543"/>
            <a:ext cx="5328923" cy="976379"/>
            <a:chOff x="0" y="0"/>
            <a:chExt cx="7105231" cy="13018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2E408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051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284859"/>
                  </a:lnTo>
                  <a:cubicBezTo>
                    <a:pt x="7105142" y="1294257"/>
                    <a:pt x="7097522" y="1301750"/>
                    <a:pt x="70882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088251" y="1267968"/>
                  </a:lnTo>
                  <a:lnTo>
                    <a:pt x="7088251" y="1284859"/>
                  </a:lnTo>
                  <a:lnTo>
                    <a:pt x="7071360" y="12848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408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565392" y="2084832"/>
            <a:ext cx="640080" cy="640080"/>
            <a:chOff x="0" y="0"/>
            <a:chExt cx="853440" cy="85344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370064" y="2103120"/>
            <a:ext cx="4151376" cy="621792"/>
            <a:chOff x="0" y="0"/>
            <a:chExt cx="5535168" cy="8290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35168" cy="829056"/>
            </a:xfrm>
            <a:custGeom>
              <a:avLst/>
              <a:gdLst/>
              <a:ahLst/>
              <a:cxnLst/>
              <a:rect r="r" b="b" t="t" l="l"/>
              <a:pathLst>
                <a:path h="829056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91" r="0" b="-8009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535168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Seek Disconfirming Views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547104" y="3017520"/>
            <a:ext cx="4974336" cy="2157984"/>
            <a:chOff x="0" y="0"/>
            <a:chExt cx="6632448" cy="28773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32448" cy="2877312"/>
            </a:xfrm>
            <a:custGeom>
              <a:avLst/>
              <a:gdLst/>
              <a:ahLst/>
              <a:cxnLst/>
              <a:rect r="r" b="b" t="t" l="l"/>
              <a:pathLst>
                <a:path h="287731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61" t="0" r="-566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632448" cy="2924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Actively challenge your thesis. Assign a devil's advocate before each major trade.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20807" y="1907543"/>
            <a:ext cx="5328923" cy="3426971"/>
            <a:chOff x="0" y="0"/>
            <a:chExt cx="7105231" cy="456929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7071360" cy="4535424"/>
            </a:xfrm>
            <a:custGeom>
              <a:avLst/>
              <a:gdLst/>
              <a:ahLst/>
              <a:cxnLst/>
              <a:rect r="r" b="b" t="t" l="l"/>
              <a:pathLst>
                <a:path h="45354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535424"/>
                  </a:lnTo>
                  <a:lnTo>
                    <a:pt x="0" y="45354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05142" cy="4569206"/>
            </a:xfrm>
            <a:custGeom>
              <a:avLst/>
              <a:gdLst/>
              <a:ahLst/>
              <a:cxnLst/>
              <a:rect r="r" b="b" t="t" l="l"/>
              <a:pathLst>
                <a:path h="4569206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552315"/>
                  </a:lnTo>
                  <a:cubicBezTo>
                    <a:pt x="7105142" y="4561713"/>
                    <a:pt x="7097522" y="4569206"/>
                    <a:pt x="7088251" y="4569206"/>
                  </a:cubicBezTo>
                  <a:lnTo>
                    <a:pt x="16891" y="4569206"/>
                  </a:lnTo>
                  <a:cubicBezTo>
                    <a:pt x="7493" y="4569206"/>
                    <a:pt x="0" y="4561586"/>
                    <a:pt x="0" y="4552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2315"/>
                  </a:lnTo>
                  <a:lnTo>
                    <a:pt x="16891" y="4552315"/>
                  </a:lnTo>
                  <a:lnTo>
                    <a:pt x="16891" y="4535424"/>
                  </a:lnTo>
                  <a:lnTo>
                    <a:pt x="7088251" y="4535424"/>
                  </a:lnTo>
                  <a:lnTo>
                    <a:pt x="7088251" y="4552315"/>
                  </a:lnTo>
                  <a:lnTo>
                    <a:pt x="7071360" y="4552315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020807" y="1907543"/>
            <a:ext cx="5328923" cy="976379"/>
            <a:chOff x="0" y="0"/>
            <a:chExt cx="7105231" cy="130183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051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284859"/>
                  </a:lnTo>
                  <a:cubicBezTo>
                    <a:pt x="7105142" y="1294257"/>
                    <a:pt x="7097522" y="1301750"/>
                    <a:pt x="70882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088251" y="1267968"/>
                  </a:lnTo>
                  <a:lnTo>
                    <a:pt x="7088251" y="1284859"/>
                  </a:lnTo>
                  <a:lnTo>
                    <a:pt x="7071360" y="12848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234672" y="2084832"/>
            <a:ext cx="640080" cy="640080"/>
            <a:chOff x="0" y="0"/>
            <a:chExt cx="853440" cy="853440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039344" y="2103120"/>
            <a:ext cx="4151376" cy="621792"/>
            <a:chOff x="0" y="0"/>
            <a:chExt cx="5535168" cy="8290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535168" cy="829056"/>
            </a:xfrm>
            <a:custGeom>
              <a:avLst/>
              <a:gdLst/>
              <a:ahLst/>
              <a:cxnLst/>
              <a:rect r="r" b="b" t="t" l="l"/>
              <a:pathLst>
                <a:path h="829056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91" r="0" b="-800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535168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Pre-Mortem Analysis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216384" y="3017520"/>
            <a:ext cx="4974336" cy="2157984"/>
            <a:chOff x="0" y="0"/>
            <a:chExt cx="6632448" cy="28773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632448" cy="2877312"/>
            </a:xfrm>
            <a:custGeom>
              <a:avLst/>
              <a:gdLst/>
              <a:ahLst/>
              <a:cxnLst/>
              <a:rect r="r" b="b" t="t" l="l"/>
              <a:pathLst>
                <a:path h="287731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61" t="0" r="-566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632448" cy="2924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Ask 'If this fails, why?' before every trade. Forces realistic scenario thinking.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2247" y="5656583"/>
            <a:ext cx="5328923" cy="3426971"/>
            <a:chOff x="0" y="0"/>
            <a:chExt cx="7105231" cy="456929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7071360" cy="4535424"/>
            </a:xfrm>
            <a:custGeom>
              <a:avLst/>
              <a:gdLst/>
              <a:ahLst/>
              <a:cxnLst/>
              <a:rect r="r" b="b" t="t" l="l"/>
              <a:pathLst>
                <a:path h="45354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535424"/>
                  </a:lnTo>
                  <a:lnTo>
                    <a:pt x="0" y="45354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05142" cy="4569206"/>
            </a:xfrm>
            <a:custGeom>
              <a:avLst/>
              <a:gdLst/>
              <a:ahLst/>
              <a:cxnLst/>
              <a:rect r="r" b="b" t="t" l="l"/>
              <a:pathLst>
                <a:path h="4569206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552315"/>
                  </a:lnTo>
                  <a:cubicBezTo>
                    <a:pt x="7105142" y="4561713"/>
                    <a:pt x="7097522" y="4569206"/>
                    <a:pt x="7088251" y="4569206"/>
                  </a:cubicBezTo>
                  <a:lnTo>
                    <a:pt x="16891" y="4569206"/>
                  </a:lnTo>
                  <a:cubicBezTo>
                    <a:pt x="7493" y="4569206"/>
                    <a:pt x="0" y="4561586"/>
                    <a:pt x="0" y="4552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2315"/>
                  </a:lnTo>
                  <a:lnTo>
                    <a:pt x="16891" y="4552315"/>
                  </a:lnTo>
                  <a:lnTo>
                    <a:pt x="16891" y="4535424"/>
                  </a:lnTo>
                  <a:lnTo>
                    <a:pt x="7088251" y="4535424"/>
                  </a:lnTo>
                  <a:lnTo>
                    <a:pt x="7088251" y="4552315"/>
                  </a:lnTo>
                  <a:lnTo>
                    <a:pt x="7071360" y="4552315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82247" y="5656583"/>
            <a:ext cx="5328923" cy="976379"/>
            <a:chOff x="0" y="0"/>
            <a:chExt cx="7105231" cy="130183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A6B7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1051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284859"/>
                  </a:lnTo>
                  <a:cubicBezTo>
                    <a:pt x="7105142" y="1294257"/>
                    <a:pt x="7097522" y="1301750"/>
                    <a:pt x="70882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088251" y="1267968"/>
                  </a:lnTo>
                  <a:lnTo>
                    <a:pt x="7088251" y="1284859"/>
                  </a:lnTo>
                  <a:lnTo>
                    <a:pt x="7071360" y="12848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7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96112" y="5833872"/>
            <a:ext cx="640080" cy="640080"/>
            <a:chOff x="0" y="0"/>
            <a:chExt cx="853440" cy="853440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700784" y="5852160"/>
            <a:ext cx="4151376" cy="621792"/>
            <a:chOff x="0" y="0"/>
            <a:chExt cx="5535168" cy="8290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535168" cy="829056"/>
            </a:xfrm>
            <a:custGeom>
              <a:avLst/>
              <a:gdLst/>
              <a:ahLst/>
              <a:cxnLst/>
              <a:rect r="r" b="b" t="t" l="l"/>
              <a:pathLst>
                <a:path h="829056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91" r="0" b="-8009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5535168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Rules-Based Investing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77824" y="6766560"/>
            <a:ext cx="4974336" cy="2157984"/>
            <a:chOff x="0" y="0"/>
            <a:chExt cx="6632448" cy="287731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632448" cy="2877312"/>
            </a:xfrm>
            <a:custGeom>
              <a:avLst/>
              <a:gdLst/>
              <a:ahLst/>
              <a:cxnLst/>
              <a:rect r="r" b="b" t="t" l="l"/>
              <a:pathLst>
                <a:path h="287731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61" t="0" r="-5661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632448" cy="2924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 max allocation caps and auto-rebalancing triggers to override emotional confidence.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351527" y="5656583"/>
            <a:ext cx="5328923" cy="3426971"/>
            <a:chOff x="0" y="0"/>
            <a:chExt cx="7105231" cy="456929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7071360" cy="4535424"/>
            </a:xfrm>
            <a:custGeom>
              <a:avLst/>
              <a:gdLst/>
              <a:ahLst/>
              <a:cxnLst/>
              <a:rect r="r" b="b" t="t" l="l"/>
              <a:pathLst>
                <a:path h="45354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535424"/>
                  </a:lnTo>
                  <a:lnTo>
                    <a:pt x="0" y="45354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105142" cy="4569206"/>
            </a:xfrm>
            <a:custGeom>
              <a:avLst/>
              <a:gdLst/>
              <a:ahLst/>
              <a:cxnLst/>
              <a:rect r="r" b="b" t="t" l="l"/>
              <a:pathLst>
                <a:path h="4569206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552315"/>
                  </a:lnTo>
                  <a:cubicBezTo>
                    <a:pt x="7105142" y="4561713"/>
                    <a:pt x="7097522" y="4569206"/>
                    <a:pt x="7088251" y="4569206"/>
                  </a:cubicBezTo>
                  <a:lnTo>
                    <a:pt x="16891" y="4569206"/>
                  </a:lnTo>
                  <a:cubicBezTo>
                    <a:pt x="7493" y="4569206"/>
                    <a:pt x="0" y="4561586"/>
                    <a:pt x="0" y="4552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2315"/>
                  </a:lnTo>
                  <a:lnTo>
                    <a:pt x="16891" y="4552315"/>
                  </a:lnTo>
                  <a:lnTo>
                    <a:pt x="16891" y="4535424"/>
                  </a:lnTo>
                  <a:lnTo>
                    <a:pt x="7088251" y="4535424"/>
                  </a:lnTo>
                  <a:lnTo>
                    <a:pt x="7088251" y="4552315"/>
                  </a:lnTo>
                  <a:lnTo>
                    <a:pt x="7071360" y="4552315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351527" y="5656583"/>
            <a:ext cx="5328923" cy="976379"/>
            <a:chOff x="0" y="0"/>
            <a:chExt cx="7105231" cy="130183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9B2335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1051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284859"/>
                  </a:lnTo>
                  <a:cubicBezTo>
                    <a:pt x="7105142" y="1294257"/>
                    <a:pt x="7097522" y="1301750"/>
                    <a:pt x="70882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088251" y="1267968"/>
                  </a:lnTo>
                  <a:lnTo>
                    <a:pt x="7088251" y="1284859"/>
                  </a:lnTo>
                  <a:lnTo>
                    <a:pt x="7071360" y="12848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2335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565392" y="5833872"/>
            <a:ext cx="640080" cy="640080"/>
            <a:chOff x="0" y="0"/>
            <a:chExt cx="853440" cy="853440"/>
          </a:xfrm>
        </p:grpSpPr>
        <p:sp>
          <p:nvSpPr>
            <p:cNvPr name="Freeform 80" id="80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7370064" y="5852160"/>
            <a:ext cx="4151376" cy="621792"/>
            <a:chOff x="0" y="0"/>
            <a:chExt cx="5535168" cy="82905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535168" cy="829056"/>
            </a:xfrm>
            <a:custGeom>
              <a:avLst/>
              <a:gdLst/>
              <a:ahLst/>
              <a:cxnLst/>
              <a:rect r="r" b="b" t="t" l="l"/>
              <a:pathLst>
                <a:path h="829056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91" r="0" b="-8009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5535168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Investment Committees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547104" y="6766560"/>
            <a:ext cx="4974336" cy="2157984"/>
            <a:chOff x="0" y="0"/>
            <a:chExt cx="6632448" cy="287731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632448" cy="2877312"/>
            </a:xfrm>
            <a:custGeom>
              <a:avLst/>
              <a:gdLst/>
              <a:ahLst/>
              <a:cxnLst/>
              <a:rect r="r" b="b" t="t" l="l"/>
              <a:pathLst>
                <a:path h="287731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61" t="0" r="-5661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632448" cy="2924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review counters individual overconfidence — diverse views improve accuracy.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020807" y="5656583"/>
            <a:ext cx="5328923" cy="3426971"/>
            <a:chOff x="0" y="0"/>
            <a:chExt cx="7105231" cy="456929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7071360" cy="4535424"/>
            </a:xfrm>
            <a:custGeom>
              <a:avLst/>
              <a:gdLst/>
              <a:ahLst/>
              <a:cxnLst/>
              <a:rect r="r" b="b" t="t" l="l"/>
              <a:pathLst>
                <a:path h="45354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535424"/>
                  </a:lnTo>
                  <a:lnTo>
                    <a:pt x="0" y="45354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105142" cy="4569206"/>
            </a:xfrm>
            <a:custGeom>
              <a:avLst/>
              <a:gdLst/>
              <a:ahLst/>
              <a:cxnLst/>
              <a:rect r="r" b="b" t="t" l="l"/>
              <a:pathLst>
                <a:path h="4569206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552315"/>
                  </a:lnTo>
                  <a:cubicBezTo>
                    <a:pt x="7105142" y="4561713"/>
                    <a:pt x="7097522" y="4569206"/>
                    <a:pt x="7088251" y="4569206"/>
                  </a:cubicBezTo>
                  <a:lnTo>
                    <a:pt x="16891" y="4569206"/>
                  </a:lnTo>
                  <a:cubicBezTo>
                    <a:pt x="7493" y="4569206"/>
                    <a:pt x="0" y="4561586"/>
                    <a:pt x="0" y="45523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2315"/>
                  </a:lnTo>
                  <a:lnTo>
                    <a:pt x="16891" y="4552315"/>
                  </a:lnTo>
                  <a:lnTo>
                    <a:pt x="16891" y="4535424"/>
                  </a:lnTo>
                  <a:lnTo>
                    <a:pt x="7088251" y="4535424"/>
                  </a:lnTo>
                  <a:lnTo>
                    <a:pt x="7088251" y="4552315"/>
                  </a:lnTo>
                  <a:lnTo>
                    <a:pt x="7071360" y="4552315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020807" y="5656583"/>
            <a:ext cx="5328923" cy="976379"/>
            <a:chOff x="0" y="0"/>
            <a:chExt cx="7105231" cy="130183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4A5568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1051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284859"/>
                  </a:lnTo>
                  <a:cubicBezTo>
                    <a:pt x="7105142" y="1294257"/>
                    <a:pt x="7097522" y="1301750"/>
                    <a:pt x="70882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088251" y="1267968"/>
                  </a:lnTo>
                  <a:lnTo>
                    <a:pt x="7088251" y="1284859"/>
                  </a:lnTo>
                  <a:lnTo>
                    <a:pt x="7071360" y="12848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5568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2234672" y="5833872"/>
            <a:ext cx="640080" cy="640080"/>
            <a:chOff x="0" y="0"/>
            <a:chExt cx="853440" cy="853440"/>
          </a:xfrm>
        </p:grpSpPr>
        <p:sp>
          <p:nvSpPr>
            <p:cNvPr name="Freeform 94" id="94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039344" y="5852160"/>
            <a:ext cx="4151376" cy="621792"/>
            <a:chOff x="0" y="0"/>
            <a:chExt cx="5535168" cy="8290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535168" cy="829056"/>
            </a:xfrm>
            <a:custGeom>
              <a:avLst/>
              <a:gdLst/>
              <a:ahLst/>
              <a:cxnLst/>
              <a:rect r="r" b="b" t="t" l="l"/>
              <a:pathLst>
                <a:path h="829056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91" r="0" b="-8009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5535168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 a Benchmark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216384" y="6766560"/>
            <a:ext cx="4974336" cy="2157984"/>
            <a:chOff x="0" y="0"/>
            <a:chExt cx="6632448" cy="287731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632448" cy="2877312"/>
            </a:xfrm>
            <a:custGeom>
              <a:avLst/>
              <a:gdLst/>
              <a:ahLst/>
              <a:cxnLst/>
              <a:rect r="r" b="b" t="t" l="l"/>
              <a:pathLst>
                <a:path h="2877312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61" t="0" r="-5661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6632448" cy="2924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 every decision against a passive index. Real data deflates overconfidence.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9995"/>
            <a:chOff x="0" y="0"/>
            <a:chExt cx="24417871" cy="253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"/>
            </a:xfrm>
            <a:custGeom>
              <a:avLst/>
              <a:gdLst/>
              <a:ahLst/>
              <a:cxnLst/>
              <a:rect r="r" b="b" t="t" l="l"/>
              <a:pathLst>
                <a:path h="21945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53240"/>
            </a:xfrm>
            <a:custGeom>
              <a:avLst/>
              <a:gdLst/>
              <a:ahLst/>
              <a:cxnLst/>
              <a:rect r="r" b="b" t="t" l="l"/>
              <a:pathLst>
                <a:path h="25324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36347"/>
                  </a:lnTo>
                  <a:cubicBezTo>
                    <a:pt x="24417782" y="245745"/>
                    <a:pt x="24410163" y="253238"/>
                    <a:pt x="24400890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4400890" y="219456"/>
                  </a:lnTo>
                  <a:lnTo>
                    <a:pt x="24400890" y="236347"/>
                  </a:lnTo>
                  <a:lnTo>
                    <a:pt x="24384000" y="23634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1895"/>
            <a:ext cx="18313403" cy="71123"/>
            <a:chOff x="0" y="0"/>
            <a:chExt cx="24417871" cy="94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60960"/>
            </a:xfrm>
            <a:custGeom>
              <a:avLst/>
              <a:gdLst/>
              <a:ahLst/>
              <a:cxnLst/>
              <a:rect r="r" b="b" t="t" l="l"/>
              <a:pathLst>
                <a:path h="609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94744"/>
            </a:xfrm>
            <a:custGeom>
              <a:avLst/>
              <a:gdLst/>
              <a:ahLst/>
              <a:cxnLst/>
              <a:rect r="r" b="b" t="t" l="l"/>
              <a:pathLst>
                <a:path h="947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7851"/>
                  </a:lnTo>
                  <a:cubicBezTo>
                    <a:pt x="24417782" y="87249"/>
                    <a:pt x="24410163" y="94742"/>
                    <a:pt x="2440089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4400890" y="60960"/>
                  </a:lnTo>
                  <a:lnTo>
                    <a:pt x="24400890" y="77851"/>
                  </a:lnTo>
                  <a:lnTo>
                    <a:pt x="24384000" y="778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9972551"/>
            <a:ext cx="18313403" cy="327155"/>
            <a:chOff x="0" y="0"/>
            <a:chExt cx="24417871" cy="4362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02336"/>
            </a:xfrm>
            <a:custGeom>
              <a:avLst/>
              <a:gdLst/>
              <a:ahLst/>
              <a:cxnLst/>
              <a:rect r="r" b="b" t="t" l="l"/>
              <a:pathLst>
                <a:path h="4023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EF1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36120"/>
            </a:xfrm>
            <a:custGeom>
              <a:avLst/>
              <a:gdLst/>
              <a:ahLst/>
              <a:cxnLst/>
              <a:rect r="r" b="b" t="t" l="l"/>
              <a:pathLst>
                <a:path h="4361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19227"/>
                  </a:lnTo>
                  <a:cubicBezTo>
                    <a:pt x="24417782" y="428625"/>
                    <a:pt x="24410163" y="436118"/>
                    <a:pt x="24400890" y="436118"/>
                  </a:cubicBezTo>
                  <a:lnTo>
                    <a:pt x="16891" y="436118"/>
                  </a:lnTo>
                  <a:cubicBezTo>
                    <a:pt x="7620" y="436245"/>
                    <a:pt x="0" y="428625"/>
                    <a:pt x="0" y="419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9227"/>
                  </a:lnTo>
                  <a:lnTo>
                    <a:pt x="16891" y="419227"/>
                  </a:lnTo>
                  <a:lnTo>
                    <a:pt x="16891" y="402336"/>
                  </a:lnTo>
                  <a:lnTo>
                    <a:pt x="24400890" y="402336"/>
                  </a:lnTo>
                  <a:lnTo>
                    <a:pt x="24400890" y="419227"/>
                  </a:lnTo>
                  <a:lnTo>
                    <a:pt x="24384000" y="4192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65760"/>
            <a:ext cx="16642080" cy="914400"/>
            <a:chOff x="0" y="0"/>
            <a:chExt cx="221894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B.I.A.S. Reduction Framework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1243584"/>
            <a:ext cx="16642080" cy="475488"/>
            <a:chOff x="0" y="0"/>
            <a:chExt cx="2218944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633984"/>
            </a:xfrm>
            <a:custGeom>
              <a:avLst/>
              <a:gdLst/>
              <a:ahLst/>
              <a:cxnLst/>
              <a:rect r="r" b="b" t="t" l="l"/>
              <a:pathLst>
                <a:path h="63398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four-step model to build calibrated investment confidence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39847" y="4230119"/>
            <a:ext cx="665483" cy="153419"/>
            <a:chOff x="0" y="0"/>
            <a:chExt cx="887311" cy="2045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853440" cy="170688"/>
            </a:xfrm>
            <a:custGeom>
              <a:avLst/>
              <a:gdLst/>
              <a:ahLst/>
              <a:cxnLst/>
              <a:rect r="r" b="b" t="t" l="l"/>
              <a:pathLst>
                <a:path h="17068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7222" cy="204472"/>
            </a:xfrm>
            <a:custGeom>
              <a:avLst/>
              <a:gdLst/>
              <a:ahLst/>
              <a:cxnLst/>
              <a:rect r="r" b="b" t="t" l="l"/>
              <a:pathLst>
                <a:path h="204472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187579"/>
                  </a:lnTo>
                  <a:cubicBezTo>
                    <a:pt x="887222" y="196977"/>
                    <a:pt x="879602" y="204470"/>
                    <a:pt x="8703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870331" y="170688"/>
                  </a:lnTo>
                  <a:lnTo>
                    <a:pt x="870331" y="187579"/>
                  </a:lnTo>
                  <a:lnTo>
                    <a:pt x="853440" y="187579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2247" y="1962407"/>
            <a:ext cx="3774443" cy="7157723"/>
            <a:chOff x="0" y="0"/>
            <a:chExt cx="5032591" cy="95436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998720" cy="9509760"/>
            </a:xfrm>
            <a:custGeom>
              <a:avLst/>
              <a:gdLst/>
              <a:ahLst/>
              <a:cxnLst/>
              <a:rect r="r" b="b" t="t" l="l"/>
              <a:pathLst>
                <a:path h="95097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32502" cy="9543542"/>
            </a:xfrm>
            <a:custGeom>
              <a:avLst/>
              <a:gdLst/>
              <a:ahLst/>
              <a:cxnLst/>
              <a:rect r="r" b="b" t="t" l="l"/>
              <a:pathLst>
                <a:path h="9543542" w="5032502">
                  <a:moveTo>
                    <a:pt x="16891" y="0"/>
                  </a:moveTo>
                  <a:lnTo>
                    <a:pt x="5015611" y="0"/>
                  </a:lnTo>
                  <a:cubicBezTo>
                    <a:pt x="5025009" y="0"/>
                    <a:pt x="5032502" y="7620"/>
                    <a:pt x="5032502" y="16891"/>
                  </a:cubicBezTo>
                  <a:lnTo>
                    <a:pt x="5032502" y="9526651"/>
                  </a:lnTo>
                  <a:cubicBezTo>
                    <a:pt x="5032502" y="9536049"/>
                    <a:pt x="5024882" y="9543542"/>
                    <a:pt x="501561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5015611" y="9509760"/>
                  </a:lnTo>
                  <a:lnTo>
                    <a:pt x="5015611" y="9526651"/>
                  </a:lnTo>
                  <a:lnTo>
                    <a:pt x="4998720" y="9526651"/>
                  </a:lnTo>
                  <a:lnTo>
                    <a:pt x="4998720" y="16891"/>
                  </a:lnTo>
                  <a:lnTo>
                    <a:pt x="5015611" y="16891"/>
                  </a:lnTo>
                  <a:lnTo>
                    <a:pt x="5015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2247" y="1962407"/>
            <a:ext cx="3774443" cy="1049531"/>
            <a:chOff x="0" y="0"/>
            <a:chExt cx="5032591" cy="13993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9987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32502" cy="1399286"/>
            </a:xfrm>
            <a:custGeom>
              <a:avLst/>
              <a:gdLst/>
              <a:ahLst/>
              <a:cxnLst/>
              <a:rect r="r" b="b" t="t" l="l"/>
              <a:pathLst>
                <a:path h="1399286" w="5032502">
                  <a:moveTo>
                    <a:pt x="16891" y="0"/>
                  </a:moveTo>
                  <a:lnTo>
                    <a:pt x="5015611" y="0"/>
                  </a:lnTo>
                  <a:cubicBezTo>
                    <a:pt x="5025009" y="0"/>
                    <a:pt x="5032502" y="7620"/>
                    <a:pt x="5032502" y="16891"/>
                  </a:cubicBezTo>
                  <a:lnTo>
                    <a:pt x="5032502" y="1382395"/>
                  </a:lnTo>
                  <a:cubicBezTo>
                    <a:pt x="5032502" y="1391793"/>
                    <a:pt x="5024882" y="1399286"/>
                    <a:pt x="501561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5015611" y="1365504"/>
                  </a:lnTo>
                  <a:lnTo>
                    <a:pt x="5015611" y="1382395"/>
                  </a:lnTo>
                  <a:lnTo>
                    <a:pt x="4998720" y="1382395"/>
                  </a:lnTo>
                  <a:lnTo>
                    <a:pt x="4998720" y="16891"/>
                  </a:lnTo>
                  <a:lnTo>
                    <a:pt x="5015611" y="16891"/>
                  </a:lnTo>
                  <a:lnTo>
                    <a:pt x="5015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4944" y="1975104"/>
            <a:ext cx="3749040" cy="1024128"/>
            <a:chOff x="0" y="0"/>
            <a:chExt cx="4998720" cy="1365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987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29" r="0" b="-2132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4998720" cy="1451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41248" y="3145536"/>
            <a:ext cx="3474720" cy="731520"/>
            <a:chOff x="0" y="0"/>
            <a:chExt cx="463296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6329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7824" y="4023360"/>
            <a:ext cx="3383280" cy="4937760"/>
            <a:chOff x="0" y="0"/>
            <a:chExt cx="4511040" cy="6583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11040" cy="6583680"/>
            </a:xfrm>
            <a:custGeom>
              <a:avLst/>
              <a:gdLst/>
              <a:ahLst/>
              <a:cxnLst/>
              <a:rect r="r" b="b" t="t" l="l"/>
              <a:pathLst>
                <a:path h="658368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7253" t="0" r="-13725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511040" cy="6631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 your real past performance against a benchmark before making any new prediction.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637527" y="4230119"/>
            <a:ext cx="665483" cy="153419"/>
            <a:chOff x="0" y="0"/>
            <a:chExt cx="887311" cy="2045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853440" cy="170688"/>
            </a:xfrm>
            <a:custGeom>
              <a:avLst/>
              <a:gdLst/>
              <a:ahLst/>
              <a:cxnLst/>
              <a:rect r="r" b="b" t="t" l="l"/>
              <a:pathLst>
                <a:path h="17068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87222" cy="204472"/>
            </a:xfrm>
            <a:custGeom>
              <a:avLst/>
              <a:gdLst/>
              <a:ahLst/>
              <a:cxnLst/>
              <a:rect r="r" b="b" t="t" l="l"/>
              <a:pathLst>
                <a:path h="204472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187579"/>
                  </a:lnTo>
                  <a:cubicBezTo>
                    <a:pt x="887222" y="196977"/>
                    <a:pt x="879602" y="204470"/>
                    <a:pt x="8703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870331" y="170688"/>
                  </a:lnTo>
                  <a:lnTo>
                    <a:pt x="870331" y="187579"/>
                  </a:lnTo>
                  <a:lnTo>
                    <a:pt x="853440" y="187579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979927" y="1962407"/>
            <a:ext cx="3774443" cy="7157723"/>
            <a:chOff x="0" y="0"/>
            <a:chExt cx="5032591" cy="95436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4998720" cy="9509760"/>
            </a:xfrm>
            <a:custGeom>
              <a:avLst/>
              <a:gdLst/>
              <a:ahLst/>
              <a:cxnLst/>
              <a:rect r="r" b="b" t="t" l="l"/>
              <a:pathLst>
                <a:path h="95097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32502" cy="9543542"/>
            </a:xfrm>
            <a:custGeom>
              <a:avLst/>
              <a:gdLst/>
              <a:ahLst/>
              <a:cxnLst/>
              <a:rect r="r" b="b" t="t" l="l"/>
              <a:pathLst>
                <a:path h="9543542" w="5032502">
                  <a:moveTo>
                    <a:pt x="16891" y="0"/>
                  </a:moveTo>
                  <a:lnTo>
                    <a:pt x="5015611" y="0"/>
                  </a:lnTo>
                  <a:cubicBezTo>
                    <a:pt x="5025009" y="0"/>
                    <a:pt x="5032502" y="7620"/>
                    <a:pt x="5032502" y="16891"/>
                  </a:cubicBezTo>
                  <a:lnTo>
                    <a:pt x="5032502" y="9526651"/>
                  </a:lnTo>
                  <a:cubicBezTo>
                    <a:pt x="5032502" y="9536049"/>
                    <a:pt x="5024882" y="9543542"/>
                    <a:pt x="501561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5015611" y="9509760"/>
                  </a:lnTo>
                  <a:lnTo>
                    <a:pt x="5015611" y="9526651"/>
                  </a:lnTo>
                  <a:lnTo>
                    <a:pt x="4998720" y="9526651"/>
                  </a:lnTo>
                  <a:lnTo>
                    <a:pt x="4998720" y="16891"/>
                  </a:lnTo>
                  <a:lnTo>
                    <a:pt x="5015611" y="16891"/>
                  </a:lnTo>
                  <a:lnTo>
                    <a:pt x="5015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979927" y="1962407"/>
            <a:ext cx="3774443" cy="1049531"/>
            <a:chOff x="0" y="0"/>
            <a:chExt cx="5032591" cy="13993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49987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2E408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32502" cy="1399286"/>
            </a:xfrm>
            <a:custGeom>
              <a:avLst/>
              <a:gdLst/>
              <a:ahLst/>
              <a:cxnLst/>
              <a:rect r="r" b="b" t="t" l="l"/>
              <a:pathLst>
                <a:path h="1399286" w="5032502">
                  <a:moveTo>
                    <a:pt x="16891" y="0"/>
                  </a:moveTo>
                  <a:lnTo>
                    <a:pt x="5015611" y="0"/>
                  </a:lnTo>
                  <a:cubicBezTo>
                    <a:pt x="5025009" y="0"/>
                    <a:pt x="5032502" y="7620"/>
                    <a:pt x="5032502" y="16891"/>
                  </a:cubicBezTo>
                  <a:lnTo>
                    <a:pt x="5032502" y="1382395"/>
                  </a:lnTo>
                  <a:cubicBezTo>
                    <a:pt x="5032502" y="1391793"/>
                    <a:pt x="5024882" y="1399286"/>
                    <a:pt x="501561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5015611" y="1365504"/>
                  </a:lnTo>
                  <a:lnTo>
                    <a:pt x="5015611" y="1382395"/>
                  </a:lnTo>
                  <a:lnTo>
                    <a:pt x="4998720" y="1382395"/>
                  </a:lnTo>
                  <a:lnTo>
                    <a:pt x="4998720" y="16891"/>
                  </a:lnTo>
                  <a:lnTo>
                    <a:pt x="5015611" y="16891"/>
                  </a:lnTo>
                  <a:lnTo>
                    <a:pt x="5015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408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992624" y="1975104"/>
            <a:ext cx="3749040" cy="1024128"/>
            <a:chOff x="0" y="0"/>
            <a:chExt cx="4998720" cy="13655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987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29" r="0" b="-2132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4998720" cy="1451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138928" y="3145536"/>
            <a:ext cx="3474720" cy="731520"/>
            <a:chOff x="0" y="0"/>
            <a:chExt cx="463296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6329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E40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INVESTIGATE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175504" y="4023360"/>
            <a:ext cx="3383280" cy="4937760"/>
            <a:chOff x="0" y="0"/>
            <a:chExt cx="4511040" cy="6583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11040" cy="6583680"/>
            </a:xfrm>
            <a:custGeom>
              <a:avLst/>
              <a:gdLst/>
              <a:ahLst/>
              <a:cxnLst/>
              <a:rect r="r" b="b" t="t" l="l"/>
              <a:pathLst>
                <a:path h="658368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7253" t="0" r="-13725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511040" cy="6631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Actively research the opposing thesis with equal effort. Build explicit bear cases.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935207" y="4230119"/>
            <a:ext cx="665483" cy="153419"/>
            <a:chOff x="0" y="0"/>
            <a:chExt cx="887311" cy="2045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853440" cy="170688"/>
            </a:xfrm>
            <a:custGeom>
              <a:avLst/>
              <a:gdLst/>
              <a:ahLst/>
              <a:cxnLst/>
              <a:rect r="r" b="b" t="t" l="l"/>
              <a:pathLst>
                <a:path h="17068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87222" cy="204472"/>
            </a:xfrm>
            <a:custGeom>
              <a:avLst/>
              <a:gdLst/>
              <a:ahLst/>
              <a:cxnLst/>
              <a:rect r="r" b="b" t="t" l="l"/>
              <a:pathLst>
                <a:path h="204472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187579"/>
                  </a:lnTo>
                  <a:cubicBezTo>
                    <a:pt x="887222" y="196977"/>
                    <a:pt x="879602" y="204470"/>
                    <a:pt x="8703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870331" y="170688"/>
                  </a:lnTo>
                  <a:lnTo>
                    <a:pt x="870331" y="187579"/>
                  </a:lnTo>
                  <a:lnTo>
                    <a:pt x="853440" y="187579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DBDBD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277607" y="1962407"/>
            <a:ext cx="3774443" cy="7157723"/>
            <a:chOff x="0" y="0"/>
            <a:chExt cx="5032591" cy="954363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4998720" cy="9509760"/>
            </a:xfrm>
            <a:custGeom>
              <a:avLst/>
              <a:gdLst/>
              <a:ahLst/>
              <a:cxnLst/>
              <a:rect r="r" b="b" t="t" l="l"/>
              <a:pathLst>
                <a:path h="95097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032502" cy="9543542"/>
            </a:xfrm>
            <a:custGeom>
              <a:avLst/>
              <a:gdLst/>
              <a:ahLst/>
              <a:cxnLst/>
              <a:rect r="r" b="b" t="t" l="l"/>
              <a:pathLst>
                <a:path h="9543542" w="5032502">
                  <a:moveTo>
                    <a:pt x="16891" y="0"/>
                  </a:moveTo>
                  <a:lnTo>
                    <a:pt x="5015611" y="0"/>
                  </a:lnTo>
                  <a:cubicBezTo>
                    <a:pt x="5025009" y="0"/>
                    <a:pt x="5032502" y="7620"/>
                    <a:pt x="5032502" y="16891"/>
                  </a:cubicBezTo>
                  <a:lnTo>
                    <a:pt x="5032502" y="9526651"/>
                  </a:lnTo>
                  <a:cubicBezTo>
                    <a:pt x="5032502" y="9536049"/>
                    <a:pt x="5024882" y="9543542"/>
                    <a:pt x="501561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5015611" y="9509760"/>
                  </a:lnTo>
                  <a:lnTo>
                    <a:pt x="5015611" y="9526651"/>
                  </a:lnTo>
                  <a:lnTo>
                    <a:pt x="4998720" y="9526651"/>
                  </a:lnTo>
                  <a:lnTo>
                    <a:pt x="4998720" y="16891"/>
                  </a:lnTo>
                  <a:lnTo>
                    <a:pt x="5015611" y="16891"/>
                  </a:lnTo>
                  <a:lnTo>
                    <a:pt x="5015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277607" y="1962407"/>
            <a:ext cx="3774443" cy="1049531"/>
            <a:chOff x="0" y="0"/>
            <a:chExt cx="5032591" cy="13993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49987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32502" cy="1399286"/>
            </a:xfrm>
            <a:custGeom>
              <a:avLst/>
              <a:gdLst/>
              <a:ahLst/>
              <a:cxnLst/>
              <a:rect r="r" b="b" t="t" l="l"/>
              <a:pathLst>
                <a:path h="1399286" w="5032502">
                  <a:moveTo>
                    <a:pt x="16891" y="0"/>
                  </a:moveTo>
                  <a:lnTo>
                    <a:pt x="5015611" y="0"/>
                  </a:lnTo>
                  <a:cubicBezTo>
                    <a:pt x="5025009" y="0"/>
                    <a:pt x="5032502" y="7620"/>
                    <a:pt x="5032502" y="16891"/>
                  </a:cubicBezTo>
                  <a:lnTo>
                    <a:pt x="5032502" y="1382395"/>
                  </a:lnTo>
                  <a:cubicBezTo>
                    <a:pt x="5032502" y="1391793"/>
                    <a:pt x="5024882" y="1399286"/>
                    <a:pt x="501561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5015611" y="1365504"/>
                  </a:lnTo>
                  <a:lnTo>
                    <a:pt x="5015611" y="1382395"/>
                  </a:lnTo>
                  <a:lnTo>
                    <a:pt x="4998720" y="1382395"/>
                  </a:lnTo>
                  <a:lnTo>
                    <a:pt x="4998720" y="16891"/>
                  </a:lnTo>
                  <a:lnTo>
                    <a:pt x="5015611" y="16891"/>
                  </a:lnTo>
                  <a:lnTo>
                    <a:pt x="5015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290304" y="1975104"/>
            <a:ext cx="3749040" cy="1024128"/>
            <a:chOff x="0" y="0"/>
            <a:chExt cx="4998720" cy="136550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9987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29" r="0" b="-2132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85725"/>
              <a:ext cx="4998720" cy="1451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36608" y="3145536"/>
            <a:ext cx="3474720" cy="731520"/>
            <a:chOff x="0" y="0"/>
            <a:chExt cx="4632960" cy="975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6329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B896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ACCOUNTABILITY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73184" y="4023360"/>
            <a:ext cx="3383280" cy="4937760"/>
            <a:chOff x="0" y="0"/>
            <a:chExt cx="4511040" cy="65836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511040" cy="6583680"/>
            </a:xfrm>
            <a:custGeom>
              <a:avLst/>
              <a:gdLst/>
              <a:ahLst/>
              <a:cxnLst/>
              <a:rect r="r" b="b" t="t" l="l"/>
              <a:pathLst>
                <a:path h="658368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7253" t="0" r="-13725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4511040" cy="6631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 forecasts with peers, set reminders to review, and keep a public track record.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575287" y="1962407"/>
            <a:ext cx="3774443" cy="7157723"/>
            <a:chOff x="0" y="0"/>
            <a:chExt cx="5032591" cy="95436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4998720" cy="9509760"/>
            </a:xfrm>
            <a:custGeom>
              <a:avLst/>
              <a:gdLst/>
              <a:ahLst/>
              <a:cxnLst/>
              <a:rect r="r" b="b" t="t" l="l"/>
              <a:pathLst>
                <a:path h="95097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032502" cy="9543542"/>
            </a:xfrm>
            <a:custGeom>
              <a:avLst/>
              <a:gdLst/>
              <a:ahLst/>
              <a:cxnLst/>
              <a:rect r="r" b="b" t="t" l="l"/>
              <a:pathLst>
                <a:path h="9543542" w="5032502">
                  <a:moveTo>
                    <a:pt x="16891" y="0"/>
                  </a:moveTo>
                  <a:lnTo>
                    <a:pt x="5015611" y="0"/>
                  </a:lnTo>
                  <a:cubicBezTo>
                    <a:pt x="5025009" y="0"/>
                    <a:pt x="5032502" y="7620"/>
                    <a:pt x="5032502" y="16891"/>
                  </a:cubicBezTo>
                  <a:lnTo>
                    <a:pt x="5032502" y="9526651"/>
                  </a:lnTo>
                  <a:cubicBezTo>
                    <a:pt x="5032502" y="9536049"/>
                    <a:pt x="5024882" y="9543542"/>
                    <a:pt x="501561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5015611" y="9509760"/>
                  </a:lnTo>
                  <a:lnTo>
                    <a:pt x="5015611" y="9526651"/>
                  </a:lnTo>
                  <a:lnTo>
                    <a:pt x="4998720" y="9526651"/>
                  </a:lnTo>
                  <a:lnTo>
                    <a:pt x="4998720" y="16891"/>
                  </a:lnTo>
                  <a:lnTo>
                    <a:pt x="5015611" y="16891"/>
                  </a:lnTo>
                  <a:lnTo>
                    <a:pt x="5015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575287" y="1962407"/>
            <a:ext cx="3774443" cy="1049531"/>
            <a:chOff x="0" y="0"/>
            <a:chExt cx="5032591" cy="139937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49987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1A6B7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032502" cy="1399286"/>
            </a:xfrm>
            <a:custGeom>
              <a:avLst/>
              <a:gdLst/>
              <a:ahLst/>
              <a:cxnLst/>
              <a:rect r="r" b="b" t="t" l="l"/>
              <a:pathLst>
                <a:path h="1399286" w="5032502">
                  <a:moveTo>
                    <a:pt x="16891" y="0"/>
                  </a:moveTo>
                  <a:lnTo>
                    <a:pt x="5015611" y="0"/>
                  </a:lnTo>
                  <a:cubicBezTo>
                    <a:pt x="5025009" y="0"/>
                    <a:pt x="5032502" y="7620"/>
                    <a:pt x="5032502" y="16891"/>
                  </a:cubicBezTo>
                  <a:lnTo>
                    <a:pt x="5032502" y="1382395"/>
                  </a:lnTo>
                  <a:cubicBezTo>
                    <a:pt x="5032502" y="1391793"/>
                    <a:pt x="5024882" y="1399286"/>
                    <a:pt x="501561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5015611" y="1365504"/>
                  </a:lnTo>
                  <a:lnTo>
                    <a:pt x="5015611" y="1382395"/>
                  </a:lnTo>
                  <a:lnTo>
                    <a:pt x="4998720" y="1382395"/>
                  </a:lnTo>
                  <a:lnTo>
                    <a:pt x="4998720" y="16891"/>
                  </a:lnTo>
                  <a:lnTo>
                    <a:pt x="5015611" y="16891"/>
                  </a:lnTo>
                  <a:lnTo>
                    <a:pt x="5015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7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587984" y="1975104"/>
            <a:ext cx="3749040" cy="1024128"/>
            <a:chOff x="0" y="0"/>
            <a:chExt cx="4998720" cy="136550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9987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29" r="0" b="-2132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85725"/>
              <a:ext cx="4998720" cy="1451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734288" y="3145536"/>
            <a:ext cx="3474720" cy="731520"/>
            <a:chOff x="0" y="0"/>
            <a:chExt cx="4632960" cy="9753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632960" cy="975360"/>
            </a:xfrm>
            <a:custGeom>
              <a:avLst/>
              <a:gdLst/>
              <a:ahLst/>
              <a:cxnLst/>
              <a:rect r="r" b="b" t="t" l="l"/>
              <a:pathLst>
                <a:path h="9753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46329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6B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SYSTEMATIZE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770864" y="4023360"/>
            <a:ext cx="3383280" cy="4937760"/>
            <a:chOff x="0" y="0"/>
            <a:chExt cx="4511040" cy="6583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511040" cy="6583680"/>
            </a:xfrm>
            <a:custGeom>
              <a:avLst/>
              <a:gdLst/>
              <a:ahLst/>
              <a:cxnLst/>
              <a:rect r="r" b="b" t="t" l="l"/>
              <a:pathLst>
                <a:path h="658368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7253" t="0" r="-13725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4511040" cy="6631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Replace discretionary calls with rules, checklists, and automated triggers wherever possible.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31520" y="9290304"/>
            <a:ext cx="16824960" cy="512064"/>
            <a:chOff x="0" y="0"/>
            <a:chExt cx="22433280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433280" cy="682752"/>
            </a:xfrm>
            <a:custGeom>
              <a:avLst/>
              <a:gdLst/>
              <a:ahLst/>
              <a:cxnLst/>
              <a:rect r="r" b="b" t="t" l="l"/>
              <a:pathLst>
                <a:path h="6827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2433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Investors who journal, pre-mortem, and follow rules consistently outperform peers by 2–4% annually.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9995"/>
            <a:chOff x="0" y="0"/>
            <a:chExt cx="24417871" cy="253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"/>
            </a:xfrm>
            <a:custGeom>
              <a:avLst/>
              <a:gdLst/>
              <a:ahLst/>
              <a:cxnLst/>
              <a:rect r="r" b="b" t="t" l="l"/>
              <a:pathLst>
                <a:path h="21945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53240"/>
            </a:xfrm>
            <a:custGeom>
              <a:avLst/>
              <a:gdLst/>
              <a:ahLst/>
              <a:cxnLst/>
              <a:rect r="r" b="b" t="t" l="l"/>
              <a:pathLst>
                <a:path h="25324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36347"/>
                  </a:lnTo>
                  <a:cubicBezTo>
                    <a:pt x="24417782" y="245745"/>
                    <a:pt x="24410163" y="253238"/>
                    <a:pt x="24400890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4400890" y="219456"/>
                  </a:lnTo>
                  <a:lnTo>
                    <a:pt x="24400890" y="236347"/>
                  </a:lnTo>
                  <a:lnTo>
                    <a:pt x="24384000" y="23634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1895"/>
            <a:ext cx="18313403" cy="71123"/>
            <a:chOff x="0" y="0"/>
            <a:chExt cx="24417871" cy="94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60960"/>
            </a:xfrm>
            <a:custGeom>
              <a:avLst/>
              <a:gdLst/>
              <a:ahLst/>
              <a:cxnLst/>
              <a:rect r="r" b="b" t="t" l="l"/>
              <a:pathLst>
                <a:path h="609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94744"/>
            </a:xfrm>
            <a:custGeom>
              <a:avLst/>
              <a:gdLst/>
              <a:ahLst/>
              <a:cxnLst/>
              <a:rect r="r" b="b" t="t" l="l"/>
              <a:pathLst>
                <a:path h="947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7851"/>
                  </a:lnTo>
                  <a:cubicBezTo>
                    <a:pt x="24417782" y="87249"/>
                    <a:pt x="24410163" y="94742"/>
                    <a:pt x="2440089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4400890" y="60960"/>
                  </a:lnTo>
                  <a:lnTo>
                    <a:pt x="24400890" y="77851"/>
                  </a:lnTo>
                  <a:lnTo>
                    <a:pt x="24384000" y="778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9972551"/>
            <a:ext cx="18313403" cy="327155"/>
            <a:chOff x="0" y="0"/>
            <a:chExt cx="24417871" cy="4362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02336"/>
            </a:xfrm>
            <a:custGeom>
              <a:avLst/>
              <a:gdLst/>
              <a:ahLst/>
              <a:cxnLst/>
              <a:rect r="r" b="b" t="t" l="l"/>
              <a:pathLst>
                <a:path h="4023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EF1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36120"/>
            </a:xfrm>
            <a:custGeom>
              <a:avLst/>
              <a:gdLst/>
              <a:ahLst/>
              <a:cxnLst/>
              <a:rect r="r" b="b" t="t" l="l"/>
              <a:pathLst>
                <a:path h="4361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19227"/>
                  </a:lnTo>
                  <a:cubicBezTo>
                    <a:pt x="24417782" y="428625"/>
                    <a:pt x="24410163" y="436118"/>
                    <a:pt x="24400890" y="436118"/>
                  </a:cubicBezTo>
                  <a:lnTo>
                    <a:pt x="16891" y="436118"/>
                  </a:lnTo>
                  <a:cubicBezTo>
                    <a:pt x="7620" y="436245"/>
                    <a:pt x="0" y="428625"/>
                    <a:pt x="0" y="419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9227"/>
                  </a:lnTo>
                  <a:lnTo>
                    <a:pt x="16891" y="419227"/>
                  </a:lnTo>
                  <a:lnTo>
                    <a:pt x="16891" y="402336"/>
                  </a:lnTo>
                  <a:lnTo>
                    <a:pt x="24400890" y="402336"/>
                  </a:lnTo>
                  <a:lnTo>
                    <a:pt x="24400890" y="419227"/>
                  </a:lnTo>
                  <a:lnTo>
                    <a:pt x="24384000" y="4192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65760"/>
            <a:ext cx="16642080" cy="914400"/>
            <a:chOff x="0" y="0"/>
            <a:chExt cx="221894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Real-World Case Studies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1243584"/>
            <a:ext cx="16642080" cy="475488"/>
            <a:chOff x="0" y="0"/>
            <a:chExt cx="2218944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633984"/>
            </a:xfrm>
            <a:custGeom>
              <a:avLst/>
              <a:gdLst/>
              <a:ahLst/>
              <a:cxnLst/>
              <a:rect r="r" b="b" t="t" l="l"/>
              <a:pathLst>
                <a:path h="63398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When overconfidence met reality — three landmark failures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2247" y="1907543"/>
            <a:ext cx="5420363" cy="7706363"/>
            <a:chOff x="0" y="0"/>
            <a:chExt cx="7227151" cy="102751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193281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27062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0258172"/>
                  </a:lnTo>
                  <a:cubicBezTo>
                    <a:pt x="7227062" y="10267569"/>
                    <a:pt x="7219442" y="10275062"/>
                    <a:pt x="7210172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7210172" y="10241280"/>
                  </a:lnTo>
                  <a:lnTo>
                    <a:pt x="7210172" y="10258172"/>
                  </a:lnTo>
                  <a:lnTo>
                    <a:pt x="7193280" y="10258172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2247" y="1907543"/>
            <a:ext cx="5420363" cy="1159259"/>
            <a:chOff x="0" y="0"/>
            <a:chExt cx="7227151" cy="15456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193281" cy="1511808"/>
            </a:xfrm>
            <a:custGeom>
              <a:avLst/>
              <a:gdLst/>
              <a:ahLst/>
              <a:cxnLst/>
              <a:rect r="r" b="b" t="t" l="l"/>
              <a:pathLst>
                <a:path h="151180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9B233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27062" cy="1545590"/>
            </a:xfrm>
            <a:custGeom>
              <a:avLst/>
              <a:gdLst/>
              <a:ahLst/>
              <a:cxnLst/>
              <a:rect r="r" b="b" t="t" l="l"/>
              <a:pathLst>
                <a:path h="1545590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528699"/>
                  </a:lnTo>
                  <a:cubicBezTo>
                    <a:pt x="7227062" y="1538097"/>
                    <a:pt x="7219442" y="1545590"/>
                    <a:pt x="7210172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7210172" y="1511808"/>
                  </a:lnTo>
                  <a:lnTo>
                    <a:pt x="7210172" y="1528699"/>
                  </a:lnTo>
                  <a:lnTo>
                    <a:pt x="7193280" y="152869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233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77824" y="1975104"/>
            <a:ext cx="5029200" cy="548640"/>
            <a:chOff x="0" y="0"/>
            <a:chExt cx="67056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0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70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LTCM (1998)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7824" y="2523744"/>
            <a:ext cx="5029200" cy="402336"/>
            <a:chOff x="0" y="0"/>
            <a:chExt cx="6705600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0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70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Quantitative Overconfidence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05840" y="3216783"/>
            <a:ext cx="4791456" cy="608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28:1 leverage — extreme overprecision in models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2 Nobel laureates failed to account for tail risk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Lost $4.6B in 4 months; required Fed-led bailout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Lesson: Academic prestige ≠ market infallibility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442967" y="1907543"/>
            <a:ext cx="5420363" cy="7706363"/>
            <a:chOff x="0" y="0"/>
            <a:chExt cx="7227151" cy="102751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7193281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27062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0258172"/>
                  </a:lnTo>
                  <a:cubicBezTo>
                    <a:pt x="7227062" y="10267569"/>
                    <a:pt x="7219442" y="10275062"/>
                    <a:pt x="7210172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7210172" y="10241280"/>
                  </a:lnTo>
                  <a:lnTo>
                    <a:pt x="7210172" y="10258172"/>
                  </a:lnTo>
                  <a:lnTo>
                    <a:pt x="7193280" y="10258172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442967" y="1907543"/>
            <a:ext cx="5420363" cy="1159259"/>
            <a:chOff x="0" y="0"/>
            <a:chExt cx="7227151" cy="154567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7193281" cy="1511808"/>
            </a:xfrm>
            <a:custGeom>
              <a:avLst/>
              <a:gdLst/>
              <a:ahLst/>
              <a:cxnLst/>
              <a:rect r="r" b="b" t="t" l="l"/>
              <a:pathLst>
                <a:path h="151180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27062" cy="1545590"/>
            </a:xfrm>
            <a:custGeom>
              <a:avLst/>
              <a:gdLst/>
              <a:ahLst/>
              <a:cxnLst/>
              <a:rect r="r" b="b" t="t" l="l"/>
              <a:pathLst>
                <a:path h="1545590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528699"/>
                  </a:lnTo>
                  <a:cubicBezTo>
                    <a:pt x="7227062" y="1538097"/>
                    <a:pt x="7219442" y="1545590"/>
                    <a:pt x="7210172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7210172" y="1511808"/>
                  </a:lnTo>
                  <a:lnTo>
                    <a:pt x="7210172" y="1528699"/>
                  </a:lnTo>
                  <a:lnTo>
                    <a:pt x="7193280" y="152869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638544" y="1975104"/>
            <a:ext cx="5029200" cy="548640"/>
            <a:chOff x="0" y="0"/>
            <a:chExt cx="67056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0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70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Dot-Com Bubble (2000)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38544" y="2523744"/>
            <a:ext cx="5029200" cy="402336"/>
            <a:chOff x="0" y="0"/>
            <a:chExt cx="6705600" cy="5364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0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70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Collective Overestimation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766560" y="3216783"/>
            <a:ext cx="4791456" cy="608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P/E ratios &gt;100× for zero-earnings companies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52% of retail investors added tech at market peak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NASDAQ fell 78% peak-to-trough (2000–2002)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Lesson: 'This time is different' is always wrong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203687" y="1907543"/>
            <a:ext cx="5420363" cy="7706363"/>
            <a:chOff x="0" y="0"/>
            <a:chExt cx="7227151" cy="102751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7193281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27062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0258172"/>
                  </a:lnTo>
                  <a:cubicBezTo>
                    <a:pt x="7227062" y="10267569"/>
                    <a:pt x="7219442" y="10275062"/>
                    <a:pt x="7210172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7210172" y="10241280"/>
                  </a:lnTo>
                  <a:lnTo>
                    <a:pt x="7210172" y="10258172"/>
                  </a:lnTo>
                  <a:lnTo>
                    <a:pt x="7193280" y="10258172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203687" y="1907543"/>
            <a:ext cx="5420363" cy="1159259"/>
            <a:chOff x="0" y="0"/>
            <a:chExt cx="7227151" cy="154567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7193281" cy="1511808"/>
            </a:xfrm>
            <a:custGeom>
              <a:avLst/>
              <a:gdLst/>
              <a:ahLst/>
              <a:cxnLst/>
              <a:rect r="r" b="b" t="t" l="l"/>
              <a:pathLst>
                <a:path h="151180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227062" cy="1545590"/>
            </a:xfrm>
            <a:custGeom>
              <a:avLst/>
              <a:gdLst/>
              <a:ahLst/>
              <a:cxnLst/>
              <a:rect r="r" b="b" t="t" l="l"/>
              <a:pathLst>
                <a:path h="1545590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528699"/>
                  </a:lnTo>
                  <a:cubicBezTo>
                    <a:pt x="7227062" y="1538097"/>
                    <a:pt x="7219442" y="1545590"/>
                    <a:pt x="7210172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7210172" y="1511808"/>
                  </a:lnTo>
                  <a:lnTo>
                    <a:pt x="7210172" y="1528699"/>
                  </a:lnTo>
                  <a:lnTo>
                    <a:pt x="7193280" y="152869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399264" y="1975104"/>
            <a:ext cx="5029200" cy="548640"/>
            <a:chOff x="0" y="0"/>
            <a:chExt cx="67056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0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70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Jesse Livermore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399264" y="2523744"/>
            <a:ext cx="5029200" cy="402336"/>
            <a:chOff x="0" y="0"/>
            <a:chExt cx="6705600" cy="5364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70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705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Overplacement After Success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527280" y="3216783"/>
            <a:ext cx="4791456" cy="608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Made $100M shorting the 1929 crash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Broke own rules after a string of victories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Went bankrupt 3 times despite legendary wins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Lesson: Past success is the root of future overconfidence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9995"/>
            <a:chOff x="0" y="0"/>
            <a:chExt cx="24417871" cy="253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"/>
            </a:xfrm>
            <a:custGeom>
              <a:avLst/>
              <a:gdLst/>
              <a:ahLst/>
              <a:cxnLst/>
              <a:rect r="r" b="b" t="t" l="l"/>
              <a:pathLst>
                <a:path h="21945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53240"/>
            </a:xfrm>
            <a:custGeom>
              <a:avLst/>
              <a:gdLst/>
              <a:ahLst/>
              <a:cxnLst/>
              <a:rect r="r" b="b" t="t" l="l"/>
              <a:pathLst>
                <a:path h="25324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36347"/>
                  </a:lnTo>
                  <a:cubicBezTo>
                    <a:pt x="24417782" y="245745"/>
                    <a:pt x="24410163" y="253238"/>
                    <a:pt x="24400890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4400890" y="219456"/>
                  </a:lnTo>
                  <a:lnTo>
                    <a:pt x="24400890" y="236347"/>
                  </a:lnTo>
                  <a:lnTo>
                    <a:pt x="24384000" y="23634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1895"/>
            <a:ext cx="18313403" cy="71123"/>
            <a:chOff x="0" y="0"/>
            <a:chExt cx="24417871" cy="94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60960"/>
            </a:xfrm>
            <a:custGeom>
              <a:avLst/>
              <a:gdLst/>
              <a:ahLst/>
              <a:cxnLst/>
              <a:rect r="r" b="b" t="t" l="l"/>
              <a:pathLst>
                <a:path h="609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94744"/>
            </a:xfrm>
            <a:custGeom>
              <a:avLst/>
              <a:gdLst/>
              <a:ahLst/>
              <a:cxnLst/>
              <a:rect r="r" b="b" t="t" l="l"/>
              <a:pathLst>
                <a:path h="947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7851"/>
                  </a:lnTo>
                  <a:cubicBezTo>
                    <a:pt x="24417782" y="87249"/>
                    <a:pt x="24410163" y="94742"/>
                    <a:pt x="2440089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4400890" y="60960"/>
                  </a:lnTo>
                  <a:lnTo>
                    <a:pt x="24400890" y="77851"/>
                  </a:lnTo>
                  <a:lnTo>
                    <a:pt x="24384000" y="778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9972551"/>
            <a:ext cx="18313403" cy="327155"/>
            <a:chOff x="0" y="0"/>
            <a:chExt cx="24417871" cy="4362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02336"/>
            </a:xfrm>
            <a:custGeom>
              <a:avLst/>
              <a:gdLst/>
              <a:ahLst/>
              <a:cxnLst/>
              <a:rect r="r" b="b" t="t" l="l"/>
              <a:pathLst>
                <a:path h="4023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EF1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36120"/>
            </a:xfrm>
            <a:custGeom>
              <a:avLst/>
              <a:gdLst/>
              <a:ahLst/>
              <a:cxnLst/>
              <a:rect r="r" b="b" t="t" l="l"/>
              <a:pathLst>
                <a:path h="4361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19227"/>
                  </a:lnTo>
                  <a:cubicBezTo>
                    <a:pt x="24417782" y="428625"/>
                    <a:pt x="24410163" y="436118"/>
                    <a:pt x="24400890" y="436118"/>
                  </a:cubicBezTo>
                  <a:lnTo>
                    <a:pt x="16891" y="436118"/>
                  </a:lnTo>
                  <a:cubicBezTo>
                    <a:pt x="7620" y="436245"/>
                    <a:pt x="0" y="428625"/>
                    <a:pt x="0" y="419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9227"/>
                  </a:lnTo>
                  <a:lnTo>
                    <a:pt x="16891" y="419227"/>
                  </a:lnTo>
                  <a:lnTo>
                    <a:pt x="16891" y="402336"/>
                  </a:lnTo>
                  <a:lnTo>
                    <a:pt x="24400890" y="402336"/>
                  </a:lnTo>
                  <a:lnTo>
                    <a:pt x="24400890" y="419227"/>
                  </a:lnTo>
                  <a:lnTo>
                    <a:pt x="24384000" y="4192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65760"/>
            <a:ext cx="16642080" cy="914400"/>
            <a:chOff x="0" y="0"/>
            <a:chExt cx="221894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 · 60 · 90 Day Action Plan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1243584"/>
            <a:ext cx="16642080" cy="475488"/>
            <a:chOff x="0" y="0"/>
            <a:chExt cx="2218944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633984"/>
            </a:xfrm>
            <a:custGeom>
              <a:avLst/>
              <a:gdLst/>
              <a:ahLst/>
              <a:cxnLst/>
              <a:rect r="r" b="b" t="t" l="l"/>
              <a:pathLst>
                <a:path h="63398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Practical steps to start correcting overconfidence bias today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2247" y="1907543"/>
            <a:ext cx="5511803" cy="7742939"/>
            <a:chOff x="0" y="0"/>
            <a:chExt cx="7349071" cy="103239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315200" cy="10290048"/>
            </a:xfrm>
            <a:custGeom>
              <a:avLst/>
              <a:gdLst/>
              <a:ahLst/>
              <a:cxnLst/>
              <a:rect r="r" b="b" t="t" l="l"/>
              <a:pathLst>
                <a:path h="102900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90048"/>
                  </a:lnTo>
                  <a:lnTo>
                    <a:pt x="0" y="10290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48982" cy="10323830"/>
            </a:xfrm>
            <a:custGeom>
              <a:avLst/>
              <a:gdLst/>
              <a:ahLst/>
              <a:cxnLst/>
              <a:rect r="r" b="b" t="t" l="l"/>
              <a:pathLst>
                <a:path h="1032383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306939"/>
                  </a:lnTo>
                  <a:cubicBezTo>
                    <a:pt x="7348982" y="10316337"/>
                    <a:pt x="7341362" y="10323830"/>
                    <a:pt x="7332091" y="10323830"/>
                  </a:cubicBezTo>
                  <a:lnTo>
                    <a:pt x="16891" y="10323830"/>
                  </a:lnTo>
                  <a:cubicBezTo>
                    <a:pt x="7493" y="10323830"/>
                    <a:pt x="0" y="10316210"/>
                    <a:pt x="0" y="10306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06939"/>
                  </a:lnTo>
                  <a:lnTo>
                    <a:pt x="16891" y="10306939"/>
                  </a:lnTo>
                  <a:lnTo>
                    <a:pt x="16891" y="10290048"/>
                  </a:lnTo>
                  <a:lnTo>
                    <a:pt x="7332091" y="10290048"/>
                  </a:lnTo>
                  <a:lnTo>
                    <a:pt x="7332091" y="10306939"/>
                  </a:lnTo>
                  <a:lnTo>
                    <a:pt x="7315200" y="103069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2247" y="1907543"/>
            <a:ext cx="5511803" cy="1268987"/>
            <a:chOff x="0" y="0"/>
            <a:chExt cx="7349071" cy="16919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3152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48982" cy="1691894"/>
            </a:xfrm>
            <a:custGeom>
              <a:avLst/>
              <a:gdLst/>
              <a:ahLst/>
              <a:cxnLst/>
              <a:rect r="r" b="b" t="t" l="l"/>
              <a:pathLst>
                <a:path h="169189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75003"/>
                  </a:lnTo>
                  <a:cubicBezTo>
                    <a:pt x="7348982" y="1684401"/>
                    <a:pt x="7341362" y="1691894"/>
                    <a:pt x="733209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7332091" y="1658112"/>
                  </a:lnTo>
                  <a:lnTo>
                    <a:pt x="7332091" y="1675003"/>
                  </a:lnTo>
                  <a:lnTo>
                    <a:pt x="7315200" y="1675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2048256"/>
            <a:ext cx="768096" cy="768096"/>
            <a:chOff x="0" y="0"/>
            <a:chExt cx="1024128" cy="1024128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828800" y="2048256"/>
            <a:ext cx="4169664" cy="804672"/>
            <a:chOff x="0" y="0"/>
            <a:chExt cx="5559552" cy="10728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59552" cy="1072896"/>
            </a:xfrm>
            <a:custGeom>
              <a:avLst/>
              <a:gdLst/>
              <a:ahLst/>
              <a:cxnLst/>
              <a:rect r="r" b="b" t="t" l="l"/>
              <a:pathLst>
                <a:path h="1072896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7" r="0" b="-5096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5559552" cy="113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 Days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60704" y="3326511"/>
            <a:ext cx="4791456" cy="599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Audit last 12 months of trades vs. benchmark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Start a decision journal — record every rationale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Take a calibration quiz to assess your bias level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Calculate your actual alpha vs. subjective belief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442967" y="1907543"/>
            <a:ext cx="5511803" cy="7742939"/>
            <a:chOff x="0" y="0"/>
            <a:chExt cx="7349071" cy="103239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315200" cy="10290048"/>
            </a:xfrm>
            <a:custGeom>
              <a:avLst/>
              <a:gdLst/>
              <a:ahLst/>
              <a:cxnLst/>
              <a:rect r="r" b="b" t="t" l="l"/>
              <a:pathLst>
                <a:path h="102900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90048"/>
                  </a:lnTo>
                  <a:lnTo>
                    <a:pt x="0" y="10290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48982" cy="10323830"/>
            </a:xfrm>
            <a:custGeom>
              <a:avLst/>
              <a:gdLst/>
              <a:ahLst/>
              <a:cxnLst/>
              <a:rect r="r" b="b" t="t" l="l"/>
              <a:pathLst>
                <a:path h="1032383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306939"/>
                  </a:lnTo>
                  <a:cubicBezTo>
                    <a:pt x="7348982" y="10316337"/>
                    <a:pt x="7341362" y="10323830"/>
                    <a:pt x="7332091" y="10323830"/>
                  </a:cubicBezTo>
                  <a:lnTo>
                    <a:pt x="16891" y="10323830"/>
                  </a:lnTo>
                  <a:cubicBezTo>
                    <a:pt x="7493" y="10323830"/>
                    <a:pt x="0" y="10316210"/>
                    <a:pt x="0" y="10306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06939"/>
                  </a:lnTo>
                  <a:lnTo>
                    <a:pt x="16891" y="10306939"/>
                  </a:lnTo>
                  <a:lnTo>
                    <a:pt x="16891" y="10290048"/>
                  </a:lnTo>
                  <a:lnTo>
                    <a:pt x="7332091" y="10290048"/>
                  </a:lnTo>
                  <a:lnTo>
                    <a:pt x="7332091" y="10306939"/>
                  </a:lnTo>
                  <a:lnTo>
                    <a:pt x="7315200" y="103069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42967" y="1907543"/>
            <a:ext cx="5511803" cy="1268987"/>
            <a:chOff x="0" y="0"/>
            <a:chExt cx="7349071" cy="16919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3152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48982" cy="1691894"/>
            </a:xfrm>
            <a:custGeom>
              <a:avLst/>
              <a:gdLst/>
              <a:ahLst/>
              <a:cxnLst/>
              <a:rect r="r" b="b" t="t" l="l"/>
              <a:pathLst>
                <a:path h="169189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75003"/>
                  </a:lnTo>
                  <a:cubicBezTo>
                    <a:pt x="7348982" y="1684401"/>
                    <a:pt x="7341362" y="1691894"/>
                    <a:pt x="733209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7332091" y="1658112"/>
                  </a:lnTo>
                  <a:lnTo>
                    <a:pt x="7332091" y="1675003"/>
                  </a:lnTo>
                  <a:lnTo>
                    <a:pt x="7315200" y="1675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675120" y="2048256"/>
            <a:ext cx="768096" cy="768096"/>
            <a:chOff x="0" y="0"/>
            <a:chExt cx="1024128" cy="1024128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589520" y="2048256"/>
            <a:ext cx="4169664" cy="804672"/>
            <a:chOff x="0" y="0"/>
            <a:chExt cx="5559552" cy="10728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59552" cy="1072896"/>
            </a:xfrm>
            <a:custGeom>
              <a:avLst/>
              <a:gdLst/>
              <a:ahLst/>
              <a:cxnLst/>
              <a:rect r="r" b="b" t="t" l="l"/>
              <a:pathLst>
                <a:path h="1072896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7" r="0" b="-5096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5559552" cy="113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60 Days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821424" y="3326511"/>
            <a:ext cx="4791456" cy="599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Draft a pre-trade checklist (5 questions minimum)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Identify your 3 most concentrated positions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Set max allocation rules (e.g. 5% per stock cap)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Find an accountability partner for key decisions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203687" y="1907543"/>
            <a:ext cx="5511803" cy="7742939"/>
            <a:chOff x="0" y="0"/>
            <a:chExt cx="7349071" cy="103239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315200" cy="10290048"/>
            </a:xfrm>
            <a:custGeom>
              <a:avLst/>
              <a:gdLst/>
              <a:ahLst/>
              <a:cxnLst/>
              <a:rect r="r" b="b" t="t" l="l"/>
              <a:pathLst>
                <a:path h="102900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90048"/>
                  </a:lnTo>
                  <a:lnTo>
                    <a:pt x="0" y="10290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48982" cy="10323830"/>
            </a:xfrm>
            <a:custGeom>
              <a:avLst/>
              <a:gdLst/>
              <a:ahLst/>
              <a:cxnLst/>
              <a:rect r="r" b="b" t="t" l="l"/>
              <a:pathLst>
                <a:path h="1032383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306939"/>
                  </a:lnTo>
                  <a:cubicBezTo>
                    <a:pt x="7348982" y="10316337"/>
                    <a:pt x="7341362" y="10323830"/>
                    <a:pt x="7332091" y="10323830"/>
                  </a:cubicBezTo>
                  <a:lnTo>
                    <a:pt x="16891" y="10323830"/>
                  </a:lnTo>
                  <a:cubicBezTo>
                    <a:pt x="7493" y="10323830"/>
                    <a:pt x="0" y="10316210"/>
                    <a:pt x="0" y="10306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06939"/>
                  </a:lnTo>
                  <a:lnTo>
                    <a:pt x="16891" y="10306939"/>
                  </a:lnTo>
                  <a:lnTo>
                    <a:pt x="16891" y="10290048"/>
                  </a:lnTo>
                  <a:lnTo>
                    <a:pt x="7332091" y="10290048"/>
                  </a:lnTo>
                  <a:lnTo>
                    <a:pt x="7332091" y="10306939"/>
                  </a:lnTo>
                  <a:lnTo>
                    <a:pt x="7315200" y="103069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233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203687" y="1907543"/>
            <a:ext cx="5511803" cy="1268987"/>
            <a:chOff x="0" y="0"/>
            <a:chExt cx="7349071" cy="16919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3152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9B2335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48982" cy="1691894"/>
            </a:xfrm>
            <a:custGeom>
              <a:avLst/>
              <a:gdLst/>
              <a:ahLst/>
              <a:cxnLst/>
              <a:rect r="r" b="b" t="t" l="l"/>
              <a:pathLst>
                <a:path h="169189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75003"/>
                  </a:lnTo>
                  <a:cubicBezTo>
                    <a:pt x="7348982" y="1684401"/>
                    <a:pt x="7341362" y="1691894"/>
                    <a:pt x="733209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7332091" y="1658112"/>
                  </a:lnTo>
                  <a:lnTo>
                    <a:pt x="7332091" y="1675003"/>
                  </a:lnTo>
                  <a:lnTo>
                    <a:pt x="7315200" y="1675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233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435840" y="2048256"/>
            <a:ext cx="768096" cy="768096"/>
            <a:chOff x="0" y="0"/>
            <a:chExt cx="1024128" cy="1024128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350240" y="2048256"/>
            <a:ext cx="4169664" cy="804672"/>
            <a:chOff x="0" y="0"/>
            <a:chExt cx="5559552" cy="10728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559552" cy="1072896"/>
            </a:xfrm>
            <a:custGeom>
              <a:avLst/>
              <a:gdLst/>
              <a:ahLst/>
              <a:cxnLst/>
              <a:rect r="r" b="b" t="t" l="l"/>
              <a:pathLst>
                <a:path h="1072896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7" r="0" b="-5096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5559552" cy="113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 Days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2582144" y="3326511"/>
            <a:ext cx="4791456" cy="599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Write a one-page Investment Policy Statement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 portfolio rebalancing on a fixed schedule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Conduct first full pre-mortem on open positions</a:t>
            </a:r>
          </a:p>
          <a:p>
            <a:pPr algn="l" marL="506730" indent="-25336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Score all theses: what would prove you wrong?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9995"/>
            <a:chOff x="0" y="0"/>
            <a:chExt cx="24417871" cy="253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19456"/>
            </a:xfrm>
            <a:custGeom>
              <a:avLst/>
              <a:gdLst/>
              <a:ahLst/>
              <a:cxnLst/>
              <a:rect r="r" b="b" t="t" l="l"/>
              <a:pathLst>
                <a:path h="21945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53240"/>
            </a:xfrm>
            <a:custGeom>
              <a:avLst/>
              <a:gdLst/>
              <a:ahLst/>
              <a:cxnLst/>
              <a:rect r="r" b="b" t="t" l="l"/>
              <a:pathLst>
                <a:path h="25324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36347"/>
                  </a:lnTo>
                  <a:cubicBezTo>
                    <a:pt x="24417782" y="245745"/>
                    <a:pt x="24410163" y="253238"/>
                    <a:pt x="24400890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4400890" y="219456"/>
                  </a:lnTo>
                  <a:lnTo>
                    <a:pt x="24400890" y="236347"/>
                  </a:lnTo>
                  <a:lnTo>
                    <a:pt x="24384000" y="23634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51895"/>
            <a:ext cx="18313403" cy="71123"/>
            <a:chOff x="0" y="0"/>
            <a:chExt cx="24417871" cy="94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60960"/>
            </a:xfrm>
            <a:custGeom>
              <a:avLst/>
              <a:gdLst/>
              <a:ahLst/>
              <a:cxnLst/>
              <a:rect r="r" b="b" t="t" l="l"/>
              <a:pathLst>
                <a:path h="609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94744"/>
            </a:xfrm>
            <a:custGeom>
              <a:avLst/>
              <a:gdLst/>
              <a:ahLst/>
              <a:cxnLst/>
              <a:rect r="r" b="b" t="t" l="l"/>
              <a:pathLst>
                <a:path h="947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7851"/>
                  </a:lnTo>
                  <a:cubicBezTo>
                    <a:pt x="24417782" y="87249"/>
                    <a:pt x="24410163" y="94742"/>
                    <a:pt x="24400890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4400890" y="60960"/>
                  </a:lnTo>
                  <a:lnTo>
                    <a:pt x="24400890" y="77851"/>
                  </a:lnTo>
                  <a:lnTo>
                    <a:pt x="24384000" y="778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9972551"/>
            <a:ext cx="18313403" cy="327155"/>
            <a:chOff x="0" y="0"/>
            <a:chExt cx="24417871" cy="4362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02336"/>
            </a:xfrm>
            <a:custGeom>
              <a:avLst/>
              <a:gdLst/>
              <a:ahLst/>
              <a:cxnLst/>
              <a:rect r="r" b="b" t="t" l="l"/>
              <a:pathLst>
                <a:path h="4023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EF1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36120"/>
            </a:xfrm>
            <a:custGeom>
              <a:avLst/>
              <a:gdLst/>
              <a:ahLst/>
              <a:cxnLst/>
              <a:rect r="r" b="b" t="t" l="l"/>
              <a:pathLst>
                <a:path h="4361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19227"/>
                  </a:lnTo>
                  <a:cubicBezTo>
                    <a:pt x="24417782" y="428625"/>
                    <a:pt x="24410163" y="436118"/>
                    <a:pt x="24400890" y="436118"/>
                  </a:cubicBezTo>
                  <a:lnTo>
                    <a:pt x="16891" y="436118"/>
                  </a:lnTo>
                  <a:cubicBezTo>
                    <a:pt x="7620" y="436245"/>
                    <a:pt x="0" y="428625"/>
                    <a:pt x="0" y="419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9227"/>
                  </a:lnTo>
                  <a:lnTo>
                    <a:pt x="16891" y="419227"/>
                  </a:lnTo>
                  <a:lnTo>
                    <a:pt x="16891" y="402336"/>
                  </a:lnTo>
                  <a:lnTo>
                    <a:pt x="24400890" y="402336"/>
                  </a:lnTo>
                  <a:lnTo>
                    <a:pt x="24400890" y="419227"/>
                  </a:lnTo>
                  <a:lnTo>
                    <a:pt x="24384000" y="4192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65760"/>
            <a:ext cx="16642080" cy="914400"/>
            <a:chOff x="0" y="0"/>
            <a:chExt cx="221894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Recommendations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1243584"/>
            <a:ext cx="16642080" cy="475488"/>
            <a:chOff x="0" y="0"/>
            <a:chExt cx="2218944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633984"/>
            </a:xfrm>
            <a:custGeom>
              <a:avLst/>
              <a:gdLst/>
              <a:ahLst/>
              <a:cxnLst/>
              <a:rect r="r" b="b" t="t" l="l"/>
              <a:pathLst>
                <a:path h="63398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Calibrated confidence is the foundation of sound investing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823" y="1852679"/>
            <a:ext cx="16850363" cy="2183387"/>
            <a:chOff x="0" y="0"/>
            <a:chExt cx="22467151" cy="29111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433280" cy="2877312"/>
            </a:xfrm>
            <a:custGeom>
              <a:avLst/>
              <a:gdLst/>
              <a:ahLst/>
              <a:cxnLst/>
              <a:rect r="r" b="b" t="t" l="l"/>
              <a:pathLst>
                <a:path h="287731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5EDD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467063" cy="2911094"/>
            </a:xfrm>
            <a:custGeom>
              <a:avLst/>
              <a:gdLst/>
              <a:ahLst/>
              <a:cxnLst/>
              <a:rect r="r" b="b" t="t" l="l"/>
              <a:pathLst>
                <a:path h="291109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2894203"/>
                  </a:lnTo>
                  <a:cubicBezTo>
                    <a:pt x="22467063" y="2903601"/>
                    <a:pt x="22459443" y="2911094"/>
                    <a:pt x="22450171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2450171" y="2877312"/>
                  </a:lnTo>
                  <a:lnTo>
                    <a:pt x="22450171" y="2894203"/>
                  </a:lnTo>
                  <a:lnTo>
                    <a:pt x="22433280" y="289420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18823" y="1852679"/>
            <a:ext cx="171707" cy="2183387"/>
            <a:chOff x="0" y="0"/>
            <a:chExt cx="228943" cy="29111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95072" cy="2877312"/>
            </a:xfrm>
            <a:custGeom>
              <a:avLst/>
              <a:gdLst/>
              <a:ahLst/>
              <a:cxnLst/>
              <a:rect r="r" b="b" t="t" l="l"/>
              <a:pathLst>
                <a:path h="28773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854" cy="2911094"/>
            </a:xfrm>
            <a:custGeom>
              <a:avLst/>
              <a:gdLst/>
              <a:ahLst/>
              <a:cxnLst/>
              <a:rect r="r" b="b" t="t" l="l"/>
              <a:pathLst>
                <a:path h="29110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894203"/>
                  </a:lnTo>
                  <a:cubicBezTo>
                    <a:pt x="228854" y="2903601"/>
                    <a:pt x="221234" y="2911094"/>
                    <a:pt x="211963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211963" y="2877312"/>
                  </a:lnTo>
                  <a:lnTo>
                    <a:pt x="211963" y="2894203"/>
                  </a:lnTo>
                  <a:lnTo>
                    <a:pt x="195072" y="28942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33856" y="1975104"/>
            <a:ext cx="16239744" cy="1938528"/>
            <a:chOff x="0" y="0"/>
            <a:chExt cx="21652992" cy="25847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652992" cy="2584704"/>
            </a:xfrm>
            <a:custGeom>
              <a:avLst/>
              <a:gdLst/>
              <a:ahLst/>
              <a:cxnLst/>
              <a:rect r="r" b="b" t="t" l="l"/>
              <a:pathLst>
                <a:path h="2584704" w="21652992">
                  <a:moveTo>
                    <a:pt x="0" y="0"/>
                  </a:moveTo>
                  <a:lnTo>
                    <a:pt x="21652992" y="0"/>
                  </a:lnTo>
                  <a:lnTo>
                    <a:pt x="21652992" y="2584704"/>
                  </a:lnTo>
                  <a:lnTo>
                    <a:pt x="0" y="2584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233" r="0" b="-1132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1652992" cy="2641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i="true">
                  <a:solidFill>
                    <a:srgbClr val="1C2B4A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The antidote to overconfidence is calibrated confidence: knowing what you know, knowing what you don't know, and acting accordingly.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2247" y="4339847"/>
            <a:ext cx="5511803" cy="5109467"/>
            <a:chOff x="0" y="0"/>
            <a:chExt cx="7349071" cy="68126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315200" cy="6778752"/>
            </a:xfrm>
            <a:custGeom>
              <a:avLst/>
              <a:gdLst/>
              <a:ahLst/>
              <a:cxnLst/>
              <a:rect r="r" b="b" t="t" l="l"/>
              <a:pathLst>
                <a:path h="6778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778752"/>
                  </a:lnTo>
                  <a:lnTo>
                    <a:pt x="0" y="6778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8982" cy="6812535"/>
            </a:xfrm>
            <a:custGeom>
              <a:avLst/>
              <a:gdLst/>
              <a:ahLst/>
              <a:cxnLst/>
              <a:rect r="r" b="b" t="t" l="l"/>
              <a:pathLst>
                <a:path h="6812535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6795643"/>
                  </a:lnTo>
                  <a:cubicBezTo>
                    <a:pt x="7348982" y="6805041"/>
                    <a:pt x="7341362" y="6812535"/>
                    <a:pt x="7332091" y="6812535"/>
                  </a:cubicBezTo>
                  <a:lnTo>
                    <a:pt x="16891" y="6812535"/>
                  </a:lnTo>
                  <a:cubicBezTo>
                    <a:pt x="7493" y="6812535"/>
                    <a:pt x="0" y="6804914"/>
                    <a:pt x="0" y="6795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795643"/>
                  </a:lnTo>
                  <a:lnTo>
                    <a:pt x="16891" y="6795643"/>
                  </a:lnTo>
                  <a:lnTo>
                    <a:pt x="16891" y="6778752"/>
                  </a:lnTo>
                  <a:lnTo>
                    <a:pt x="7332091" y="6778752"/>
                  </a:lnTo>
                  <a:lnTo>
                    <a:pt x="7332091" y="6795643"/>
                  </a:lnTo>
                  <a:lnTo>
                    <a:pt x="7315200" y="679564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82247" y="4339847"/>
            <a:ext cx="5511803" cy="135131"/>
            <a:chOff x="0" y="0"/>
            <a:chExt cx="7349071" cy="1801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48982" cy="180088"/>
            </a:xfrm>
            <a:custGeom>
              <a:avLst/>
              <a:gdLst/>
              <a:ahLst/>
              <a:cxnLst/>
              <a:rect r="r" b="b" t="t" l="l"/>
              <a:pathLst>
                <a:path h="180088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4608576"/>
            <a:ext cx="841248" cy="841248"/>
            <a:chOff x="0" y="0"/>
            <a:chExt cx="1121664" cy="1121664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883664" y="4645152"/>
            <a:ext cx="4151376" cy="768096"/>
            <a:chOff x="0" y="0"/>
            <a:chExt cx="5535168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535168" cy="1024128"/>
            </a:xfrm>
            <a:custGeom>
              <a:avLst/>
              <a:gdLst/>
              <a:ahLst/>
              <a:cxnLst/>
              <a:rect r="r" b="b" t="t" l="l"/>
              <a:pathLst>
                <a:path h="1024128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311" r="0" b="-5531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53516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Adopt Structured Processes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5596128"/>
            <a:ext cx="5047488" cy="3621024"/>
            <a:chOff x="0" y="0"/>
            <a:chExt cx="6729984" cy="48280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29984" cy="4828032"/>
            </a:xfrm>
            <a:custGeom>
              <a:avLst/>
              <a:gdLst/>
              <a:ahLst/>
              <a:cxnLst/>
              <a:rect r="r" b="b" t="t" l="l"/>
              <a:pathLst>
                <a:path h="482803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4828032"/>
                  </a:lnTo>
                  <a:lnTo>
                    <a:pt x="0" y="4828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043" t="0" r="-4204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729984" cy="4875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Replace ad hoc decisions with checklists, Investment Policy Statements, and systematic rebalancing schedules that don't flex under market excitement.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42967" y="4339847"/>
            <a:ext cx="5511803" cy="5109467"/>
            <a:chOff x="0" y="0"/>
            <a:chExt cx="7349071" cy="681262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7315200" cy="6778752"/>
            </a:xfrm>
            <a:custGeom>
              <a:avLst/>
              <a:gdLst/>
              <a:ahLst/>
              <a:cxnLst/>
              <a:rect r="r" b="b" t="t" l="l"/>
              <a:pathLst>
                <a:path h="6778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778752"/>
                  </a:lnTo>
                  <a:lnTo>
                    <a:pt x="0" y="6778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48982" cy="6812535"/>
            </a:xfrm>
            <a:custGeom>
              <a:avLst/>
              <a:gdLst/>
              <a:ahLst/>
              <a:cxnLst/>
              <a:rect r="r" b="b" t="t" l="l"/>
              <a:pathLst>
                <a:path h="6812535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6795643"/>
                  </a:lnTo>
                  <a:cubicBezTo>
                    <a:pt x="7348982" y="6805041"/>
                    <a:pt x="7341362" y="6812535"/>
                    <a:pt x="7332091" y="6812535"/>
                  </a:cubicBezTo>
                  <a:lnTo>
                    <a:pt x="16891" y="6812535"/>
                  </a:lnTo>
                  <a:cubicBezTo>
                    <a:pt x="7493" y="6812535"/>
                    <a:pt x="0" y="6804914"/>
                    <a:pt x="0" y="6795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795643"/>
                  </a:lnTo>
                  <a:lnTo>
                    <a:pt x="16891" y="6795643"/>
                  </a:lnTo>
                  <a:lnTo>
                    <a:pt x="16891" y="6778752"/>
                  </a:lnTo>
                  <a:lnTo>
                    <a:pt x="7332091" y="6778752"/>
                  </a:lnTo>
                  <a:lnTo>
                    <a:pt x="7332091" y="6795643"/>
                  </a:lnTo>
                  <a:lnTo>
                    <a:pt x="7315200" y="679564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442967" y="4339847"/>
            <a:ext cx="5511803" cy="135131"/>
            <a:chOff x="0" y="0"/>
            <a:chExt cx="7349071" cy="1801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48982" cy="180088"/>
            </a:xfrm>
            <a:custGeom>
              <a:avLst/>
              <a:gdLst/>
              <a:ahLst/>
              <a:cxnLst/>
              <a:rect r="r" b="b" t="t" l="l"/>
              <a:pathLst>
                <a:path h="180088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675120" y="4608576"/>
            <a:ext cx="841248" cy="841248"/>
            <a:chOff x="0" y="0"/>
            <a:chExt cx="1121664" cy="1121664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644384" y="4645152"/>
            <a:ext cx="4151376" cy="768096"/>
            <a:chOff x="0" y="0"/>
            <a:chExt cx="5535168" cy="10241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535168" cy="1024128"/>
            </a:xfrm>
            <a:custGeom>
              <a:avLst/>
              <a:gdLst/>
              <a:ahLst/>
              <a:cxnLst/>
              <a:rect r="r" b="b" t="t" l="l"/>
              <a:pathLst>
                <a:path h="1024128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311" r="0" b="-5531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53516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Measure, Don't Estimate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75120" y="5596128"/>
            <a:ext cx="5047488" cy="3621024"/>
            <a:chOff x="0" y="0"/>
            <a:chExt cx="6729984" cy="482803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729984" cy="4828032"/>
            </a:xfrm>
            <a:custGeom>
              <a:avLst/>
              <a:gdLst/>
              <a:ahLst/>
              <a:cxnLst/>
              <a:rect r="r" b="b" t="t" l="l"/>
              <a:pathLst>
                <a:path h="482803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4828032"/>
                  </a:lnTo>
                  <a:lnTo>
                    <a:pt x="0" y="4828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043" t="0" r="-4204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6729984" cy="4875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 every prediction against outcomes. Real data is the only reliable antidote to inflated self-assessment and selective memory.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203687" y="4339847"/>
            <a:ext cx="5511803" cy="5109467"/>
            <a:chOff x="0" y="0"/>
            <a:chExt cx="7349071" cy="681262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7315200" cy="6778752"/>
            </a:xfrm>
            <a:custGeom>
              <a:avLst/>
              <a:gdLst/>
              <a:ahLst/>
              <a:cxnLst/>
              <a:rect r="r" b="b" t="t" l="l"/>
              <a:pathLst>
                <a:path h="6778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778752"/>
                  </a:lnTo>
                  <a:lnTo>
                    <a:pt x="0" y="6778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48982" cy="6812535"/>
            </a:xfrm>
            <a:custGeom>
              <a:avLst/>
              <a:gdLst/>
              <a:ahLst/>
              <a:cxnLst/>
              <a:rect r="r" b="b" t="t" l="l"/>
              <a:pathLst>
                <a:path h="6812535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6795643"/>
                  </a:lnTo>
                  <a:cubicBezTo>
                    <a:pt x="7348982" y="6805041"/>
                    <a:pt x="7341362" y="6812535"/>
                    <a:pt x="7332091" y="6812535"/>
                  </a:cubicBezTo>
                  <a:lnTo>
                    <a:pt x="16891" y="6812535"/>
                  </a:lnTo>
                  <a:cubicBezTo>
                    <a:pt x="7493" y="6812535"/>
                    <a:pt x="0" y="6804914"/>
                    <a:pt x="0" y="6795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795643"/>
                  </a:lnTo>
                  <a:lnTo>
                    <a:pt x="16891" y="6795643"/>
                  </a:lnTo>
                  <a:lnTo>
                    <a:pt x="16891" y="6778752"/>
                  </a:lnTo>
                  <a:lnTo>
                    <a:pt x="7332091" y="6778752"/>
                  </a:lnTo>
                  <a:lnTo>
                    <a:pt x="7332091" y="6795643"/>
                  </a:lnTo>
                  <a:lnTo>
                    <a:pt x="7315200" y="679564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1D9E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203687" y="4339847"/>
            <a:ext cx="5511803" cy="135131"/>
            <a:chOff x="0" y="0"/>
            <a:chExt cx="7349071" cy="18017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6B72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48982" cy="180088"/>
            </a:xfrm>
            <a:custGeom>
              <a:avLst/>
              <a:gdLst/>
              <a:ahLst/>
              <a:cxnLst/>
              <a:rect r="r" b="b" t="t" l="l"/>
              <a:pathLst>
                <a:path h="180088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7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435840" y="4608576"/>
            <a:ext cx="841248" cy="841248"/>
            <a:chOff x="0" y="0"/>
            <a:chExt cx="1121664" cy="1121664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405104" y="4645152"/>
            <a:ext cx="4151376" cy="768096"/>
            <a:chOff x="0" y="0"/>
            <a:chExt cx="5535168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535168" cy="1024128"/>
            </a:xfrm>
            <a:custGeom>
              <a:avLst/>
              <a:gdLst/>
              <a:ahLst/>
              <a:cxnLst/>
              <a:rect r="r" b="b" t="t" l="l"/>
              <a:pathLst>
                <a:path h="1024128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311" r="0" b="-5531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53516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C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in Accountability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435840" y="5596128"/>
            <a:ext cx="5047488" cy="3621024"/>
            <a:chOff x="0" y="0"/>
            <a:chExt cx="6729984" cy="482803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729984" cy="4828032"/>
            </a:xfrm>
            <a:custGeom>
              <a:avLst/>
              <a:gdLst/>
              <a:ahLst/>
              <a:cxnLst/>
              <a:rect r="r" b="b" t="t" l="l"/>
              <a:pathLst>
                <a:path h="4828032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4828032"/>
                  </a:lnTo>
                  <a:lnTo>
                    <a:pt x="0" y="4828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043" t="0" r="-4204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6729984" cy="4875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 decisions with peers, seek contrary views, and treat benchmark underperformance as a signal — not bad luck.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54663" y="-12697"/>
            <a:ext cx="5146043" cy="10312403"/>
            <a:chOff x="0" y="0"/>
            <a:chExt cx="68613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682752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C2B4A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61301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3732890"/>
                  </a:lnTo>
                  <a:cubicBezTo>
                    <a:pt x="6861301" y="13742290"/>
                    <a:pt x="6853682" y="13749782"/>
                    <a:pt x="684441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6844411" y="13716000"/>
                  </a:lnTo>
                  <a:lnTo>
                    <a:pt x="6844411" y="13732890"/>
                  </a:lnTo>
                  <a:lnTo>
                    <a:pt x="6827520" y="13732890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4A">
                <a:alpha val="4862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532103" y="-12697"/>
            <a:ext cx="2768603" cy="10312403"/>
            <a:chOff x="0" y="0"/>
            <a:chExt cx="369147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6576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2E4080">
                <a:alpha val="3568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913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3732890"/>
                  </a:lnTo>
                  <a:cubicBezTo>
                    <a:pt x="3691382" y="13742290"/>
                    <a:pt x="3683762" y="13749782"/>
                    <a:pt x="3674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674491" y="13716000"/>
                  </a:lnTo>
                  <a:lnTo>
                    <a:pt x="3674491" y="13732890"/>
                  </a:lnTo>
                  <a:lnTo>
                    <a:pt x="3657600" y="13732890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4080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18313403" cy="144275"/>
            <a:chOff x="0" y="0"/>
            <a:chExt cx="24417871" cy="1923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158496"/>
            </a:xfrm>
            <a:custGeom>
              <a:avLst/>
              <a:gdLst/>
              <a:ahLst/>
              <a:cxnLst/>
              <a:rect r="r" b="b" t="t" l="l"/>
              <a:pathLst>
                <a:path h="15849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8496"/>
                  </a:lnTo>
                  <a:lnTo>
                    <a:pt x="0" y="158496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192280"/>
            </a:xfrm>
            <a:custGeom>
              <a:avLst/>
              <a:gdLst/>
              <a:ahLst/>
              <a:cxnLst/>
              <a:rect r="r" b="b" t="t" l="l"/>
              <a:pathLst>
                <a:path h="19228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5387"/>
                  </a:lnTo>
                  <a:cubicBezTo>
                    <a:pt x="24417782" y="184785"/>
                    <a:pt x="24410163" y="192278"/>
                    <a:pt x="24400890" y="192278"/>
                  </a:cubicBezTo>
                  <a:lnTo>
                    <a:pt x="16891" y="192278"/>
                  </a:lnTo>
                  <a:cubicBezTo>
                    <a:pt x="7620" y="192405"/>
                    <a:pt x="0" y="184785"/>
                    <a:pt x="0" y="1753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5387"/>
                  </a:lnTo>
                  <a:lnTo>
                    <a:pt x="16891" y="175387"/>
                  </a:lnTo>
                  <a:lnTo>
                    <a:pt x="16891" y="158496"/>
                  </a:lnTo>
                  <a:lnTo>
                    <a:pt x="24400890" y="158496"/>
                  </a:lnTo>
                  <a:lnTo>
                    <a:pt x="24400890" y="175387"/>
                  </a:lnTo>
                  <a:lnTo>
                    <a:pt x="24384000" y="17538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2697" y="10155431"/>
            <a:ext cx="18313403" cy="144275"/>
            <a:chOff x="0" y="0"/>
            <a:chExt cx="24417871" cy="1923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4383999" cy="158496"/>
            </a:xfrm>
            <a:custGeom>
              <a:avLst/>
              <a:gdLst/>
              <a:ahLst/>
              <a:cxnLst/>
              <a:rect r="r" b="b" t="t" l="l"/>
              <a:pathLst>
                <a:path h="15849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8496"/>
                  </a:lnTo>
                  <a:lnTo>
                    <a:pt x="0" y="158496"/>
                  </a:lnTo>
                  <a:close/>
                </a:path>
              </a:pathLst>
            </a:custGeom>
            <a:solidFill>
              <a:srgbClr val="B8963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17782" cy="192280"/>
            </a:xfrm>
            <a:custGeom>
              <a:avLst/>
              <a:gdLst/>
              <a:ahLst/>
              <a:cxnLst/>
              <a:rect r="r" b="b" t="t" l="l"/>
              <a:pathLst>
                <a:path h="19228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5387"/>
                  </a:lnTo>
                  <a:cubicBezTo>
                    <a:pt x="24417782" y="184785"/>
                    <a:pt x="24410163" y="192278"/>
                    <a:pt x="24400890" y="192278"/>
                  </a:cubicBezTo>
                  <a:lnTo>
                    <a:pt x="16891" y="192278"/>
                  </a:lnTo>
                  <a:cubicBezTo>
                    <a:pt x="7620" y="192405"/>
                    <a:pt x="0" y="184785"/>
                    <a:pt x="0" y="1753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5387"/>
                  </a:lnTo>
                  <a:lnTo>
                    <a:pt x="16891" y="175387"/>
                  </a:lnTo>
                  <a:lnTo>
                    <a:pt x="16891" y="158496"/>
                  </a:lnTo>
                  <a:lnTo>
                    <a:pt x="24400890" y="158496"/>
                  </a:lnTo>
                  <a:lnTo>
                    <a:pt x="24400890" y="175387"/>
                  </a:lnTo>
                  <a:lnTo>
                    <a:pt x="24384000" y="17538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28800" y="1645920"/>
            <a:ext cx="10972800" cy="804672"/>
            <a:chOff x="0" y="0"/>
            <a:chExt cx="14630400" cy="10728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463040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8FA8C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most dangerous words in investing: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2596896"/>
            <a:ext cx="11521440" cy="1426464"/>
            <a:chOff x="0" y="0"/>
            <a:chExt cx="15361920" cy="19019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619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15361920" cy="2025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B896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"I know what I'm doing."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4583" y="4284983"/>
            <a:ext cx="10083803" cy="89411"/>
            <a:chOff x="0" y="0"/>
            <a:chExt cx="13445071" cy="1192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3411199" cy="85344"/>
            </a:xfrm>
            <a:custGeom>
              <a:avLst/>
              <a:gdLst/>
              <a:ahLst/>
              <a:cxnLst/>
              <a:rect r="r" b="b" t="t" l="l"/>
              <a:pathLst>
                <a:path h="85344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2E408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44982" cy="119128"/>
            </a:xfrm>
            <a:custGeom>
              <a:avLst/>
              <a:gdLst/>
              <a:ahLst/>
              <a:cxnLst/>
              <a:rect r="r" b="b" t="t" l="l"/>
              <a:pathLst>
                <a:path h="119128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102235"/>
                  </a:lnTo>
                  <a:cubicBezTo>
                    <a:pt x="13444982" y="111633"/>
                    <a:pt x="13437363" y="119126"/>
                    <a:pt x="134280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13428090" y="85344"/>
                  </a:lnTo>
                  <a:lnTo>
                    <a:pt x="13428090" y="102235"/>
                  </a:lnTo>
                  <a:lnTo>
                    <a:pt x="13411200" y="102235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408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7280" y="4572000"/>
            <a:ext cx="11521440" cy="822960"/>
            <a:chOff x="0" y="0"/>
            <a:chExt cx="1536192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61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53619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Stay humble. Stay systematic. Stay invested.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84583" y="5932303"/>
            <a:ext cx="6974843" cy="1268987"/>
            <a:chOff x="0" y="0"/>
            <a:chExt cx="9299791" cy="16919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92659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C2B4A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99701" cy="1691894"/>
            </a:xfrm>
            <a:custGeom>
              <a:avLst/>
              <a:gdLst/>
              <a:ahLst/>
              <a:cxnLst/>
              <a:rect r="r" b="b" t="t" l="l"/>
              <a:pathLst>
                <a:path h="1691894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620"/>
                    <a:pt x="9299701" y="16891"/>
                  </a:cubicBezTo>
                  <a:lnTo>
                    <a:pt x="9299701" y="1675003"/>
                  </a:lnTo>
                  <a:cubicBezTo>
                    <a:pt x="9299701" y="1684401"/>
                    <a:pt x="9292082" y="1691894"/>
                    <a:pt x="928281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9282811" y="1658112"/>
                  </a:lnTo>
                  <a:lnTo>
                    <a:pt x="9282811" y="1675003"/>
                  </a:lnTo>
                  <a:lnTo>
                    <a:pt x="9265920" y="1675003"/>
                  </a:lnTo>
                  <a:lnTo>
                    <a:pt x="9265920" y="16891"/>
                  </a:lnTo>
                  <a:lnTo>
                    <a:pt x="9282811" y="16891"/>
                  </a:lnTo>
                  <a:lnTo>
                    <a:pt x="9282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963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97280" y="5945010"/>
            <a:ext cx="6949440" cy="1243584"/>
            <a:chOff x="0" y="0"/>
            <a:chExt cx="9265920" cy="16581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2659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26592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B896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  </a:t>
              </a:r>
            </a:p>
            <a:p>
              <a:pPr algn="ctr">
                <a:lnSpc>
                  <a:spcPts val="3120"/>
                </a:lnSpc>
              </a:pP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B896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By : </a:t>
              </a:r>
              <a:r>
                <a:rPr lang="en-US" b="true" sz="2600" i="true">
                  <a:solidFill>
                    <a:srgbClr val="B8963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RAHI</a:t>
              </a:r>
              <a:r>
                <a:rPr lang="en-US" sz="2600" b="true">
                  <a:solidFill>
                    <a:srgbClr val="B896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b="true" sz="2600" i="true">
                  <a:solidFill>
                    <a:srgbClr val="B8963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BALLU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DAHGR_5c-2w</dc:identifier>
  <dcterms:modified xsi:type="dcterms:W3CDTF">2011-08-01T06:04:30Z</dcterms:modified>
  <cp:revision>1</cp:revision>
  <dc:title>Overconfidence_Bias_Formal.pptx</dc:title>
</cp:coreProperties>
</file>